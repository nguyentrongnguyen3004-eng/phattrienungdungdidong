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86" r:id="rId3"/>
    <p:sldId id="258" r:id="rId4"/>
    <p:sldId id="259" r:id="rId5"/>
    <p:sldId id="260" r:id="rId6"/>
    <p:sldId id="261" r:id="rId7"/>
    <p:sldId id="262" r:id="rId8"/>
    <p:sldId id="263" r:id="rId9"/>
    <p:sldId id="264" r:id="rId10"/>
    <p:sldId id="265" r:id="rId11"/>
    <p:sldId id="271" r:id="rId12"/>
    <p:sldId id="272" r:id="rId13"/>
    <p:sldId id="283" r:id="rId14"/>
    <p:sldId id="278" r:id="rId15"/>
    <p:sldId id="284" r:id="rId16"/>
    <p:sldId id="279" r:id="rId17"/>
    <p:sldId id="280" r:id="rId18"/>
    <p:sldId id="266" r:id="rId19"/>
    <p:sldId id="268" r:id="rId20"/>
    <p:sldId id="270" r:id="rId21"/>
    <p:sldId id="281" r:id="rId22"/>
    <p:sldId id="282" r:id="rId23"/>
    <p:sldId id="267"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24" autoAdjust="0"/>
    <p:restoredTop sz="94660"/>
  </p:normalViewPr>
  <p:slideViewPr>
    <p:cSldViewPr snapToGrid="0" snapToObjects="1">
      <p:cViewPr varScale="1">
        <p:scale>
          <a:sx n="100" d="100"/>
          <a:sy n="100" d="100"/>
        </p:scale>
        <p:origin x="125"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93DB08-3D7C-401D-9378-8C8544A55F53}" type="datetimeFigureOut">
              <a:rPr lang="en-US" smtClean="0"/>
              <a:t>9/19/2026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61AA1F-3D37-4BC9-BF51-8A85D76E59E7}" type="slidenum">
              <a:rPr lang="en-US" smtClean="0"/>
              <a:t>‹#›</a:t>
            </a:fld>
            <a:endParaRPr lang="en-US"/>
          </a:p>
        </p:txBody>
      </p:sp>
    </p:spTree>
    <p:extLst>
      <p:ext uri="{BB962C8B-B14F-4D97-AF65-F5344CB8AC3E}">
        <p14:creationId xmlns:p14="http://schemas.microsoft.com/office/powerpoint/2010/main" val="2195810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61AA1F-3D37-4BC9-BF51-8A85D76E59E7}" type="slidenum">
              <a:rPr lang="en-US" smtClean="0"/>
              <a:t>9</a:t>
            </a:fld>
            <a:endParaRPr lang="en-US"/>
          </a:p>
        </p:txBody>
      </p:sp>
    </p:spTree>
    <p:extLst>
      <p:ext uri="{BB962C8B-B14F-4D97-AF65-F5344CB8AC3E}">
        <p14:creationId xmlns:p14="http://schemas.microsoft.com/office/powerpoint/2010/main" val="871727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61AA1F-3D37-4BC9-BF51-8A85D76E59E7}" type="slidenum">
              <a:rPr lang="en-US" smtClean="0"/>
              <a:t>16</a:t>
            </a:fld>
            <a:endParaRPr lang="en-US"/>
          </a:p>
        </p:txBody>
      </p:sp>
    </p:spTree>
    <p:extLst>
      <p:ext uri="{BB962C8B-B14F-4D97-AF65-F5344CB8AC3E}">
        <p14:creationId xmlns:p14="http://schemas.microsoft.com/office/powerpoint/2010/main" val="2217669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61AA1F-3D37-4BC9-BF51-8A85D76E59E7}" type="slidenum">
              <a:rPr lang="en-US" smtClean="0"/>
              <a:t>19</a:t>
            </a:fld>
            <a:endParaRPr lang="en-US"/>
          </a:p>
        </p:txBody>
      </p:sp>
    </p:spTree>
    <p:extLst>
      <p:ext uri="{BB962C8B-B14F-4D97-AF65-F5344CB8AC3E}">
        <p14:creationId xmlns:p14="http://schemas.microsoft.com/office/powerpoint/2010/main" val="1852079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png"/><Relationship Id="rId7"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1563153" y="2726977"/>
            <a:ext cx="9065694" cy="889667"/>
          </a:xfrm>
          <a:prstGeom prst="rect">
            <a:avLst/>
          </a:prstGeom>
          <a:noFill/>
        </p:spPr>
        <p:txBody>
          <a:bodyPr wrap="square" lIns="0" tIns="0" rIns="0" bIns="0" anchor="t">
            <a:spAutoFit/>
          </a:bodyPr>
          <a:lstStyle/>
          <a:p>
            <a:pPr algn="ctr">
              <a:lnSpc>
                <a:spcPts val="6480"/>
              </a:lnSpc>
            </a:pPr>
            <a:r>
              <a:rPr sz="8800" b="1" i="0" u="none" dirty="0" err="1">
                <a:solidFill>
                  <a:srgbClr val="005088"/>
                </a:solidFill>
                <a:latin typeface="Times New Roman"/>
              </a:rPr>
              <a:t>ProGroup</a:t>
            </a:r>
            <a:r>
              <a:rPr sz="8800" b="1" i="0" u="none" dirty="0">
                <a:solidFill>
                  <a:srgbClr val="005088"/>
                </a:solidFill>
                <a:latin typeface="Times New Roman"/>
              </a:rPr>
              <a:t> AI</a:t>
            </a:r>
          </a:p>
        </p:txBody>
      </p:sp>
      <p:sp>
        <p:nvSpPr>
          <p:cNvPr id="4" name="TextBox 3"/>
          <p:cNvSpPr txBox="1"/>
          <p:nvPr/>
        </p:nvSpPr>
        <p:spPr>
          <a:xfrm>
            <a:off x="674075" y="3787973"/>
            <a:ext cx="10843848" cy="367858"/>
          </a:xfrm>
          <a:prstGeom prst="rect">
            <a:avLst/>
          </a:prstGeom>
          <a:noFill/>
        </p:spPr>
        <p:txBody>
          <a:bodyPr wrap="square" lIns="0" tIns="0" rIns="0" bIns="0" anchor="t">
            <a:spAutoFit/>
          </a:bodyPr>
          <a:lstStyle/>
          <a:p>
            <a:pPr algn="ctr">
              <a:lnSpc>
                <a:spcPts val="2700"/>
              </a:lnSpc>
            </a:pPr>
            <a:r>
              <a:rPr sz="3600" b="0" i="1" u="none" dirty="0" err="1">
                <a:solidFill>
                  <a:srgbClr val="475569"/>
                </a:solidFill>
                <a:latin typeface="Times New Roman"/>
              </a:rPr>
              <a:t>Hệ</a:t>
            </a:r>
            <a:r>
              <a:rPr sz="3600" b="0" i="1" u="none" dirty="0">
                <a:solidFill>
                  <a:srgbClr val="475569"/>
                </a:solidFill>
                <a:latin typeface="Times New Roman"/>
              </a:rPr>
              <a:t> </a:t>
            </a:r>
            <a:r>
              <a:rPr sz="3600" b="0" i="1" u="none" dirty="0" err="1">
                <a:solidFill>
                  <a:srgbClr val="475569"/>
                </a:solidFill>
                <a:latin typeface="Times New Roman"/>
              </a:rPr>
              <a:t>thống</a:t>
            </a:r>
            <a:r>
              <a:rPr sz="3600" b="0" i="1" u="none" dirty="0">
                <a:solidFill>
                  <a:srgbClr val="475569"/>
                </a:solidFill>
                <a:latin typeface="Times New Roman"/>
              </a:rPr>
              <a:t> </a:t>
            </a:r>
            <a:r>
              <a:rPr sz="3600" b="0" i="1" u="none" dirty="0" err="1">
                <a:solidFill>
                  <a:srgbClr val="475569"/>
                </a:solidFill>
                <a:latin typeface="Times New Roman"/>
              </a:rPr>
              <a:t>Hỗ</a:t>
            </a:r>
            <a:r>
              <a:rPr sz="3600" b="0" i="1" u="none" dirty="0">
                <a:solidFill>
                  <a:srgbClr val="475569"/>
                </a:solidFill>
                <a:latin typeface="Times New Roman"/>
              </a:rPr>
              <a:t> </a:t>
            </a:r>
            <a:r>
              <a:rPr sz="3600" b="0" i="1" u="none" dirty="0" err="1">
                <a:solidFill>
                  <a:srgbClr val="475569"/>
                </a:solidFill>
                <a:latin typeface="Times New Roman"/>
              </a:rPr>
              <a:t>trợ</a:t>
            </a:r>
            <a:r>
              <a:rPr sz="3600" b="0" i="1" u="none" dirty="0">
                <a:solidFill>
                  <a:srgbClr val="475569"/>
                </a:solidFill>
                <a:latin typeface="Times New Roman"/>
              </a:rPr>
              <a:t> </a:t>
            </a:r>
            <a:r>
              <a:rPr sz="3600" b="0" i="1" u="none" dirty="0" err="1">
                <a:solidFill>
                  <a:srgbClr val="475569"/>
                </a:solidFill>
                <a:latin typeface="Times New Roman"/>
              </a:rPr>
              <a:t>Đăng</a:t>
            </a:r>
            <a:r>
              <a:rPr sz="3600" b="0" i="1" u="none" dirty="0">
                <a:solidFill>
                  <a:srgbClr val="475569"/>
                </a:solidFill>
                <a:latin typeface="Times New Roman"/>
              </a:rPr>
              <a:t> </a:t>
            </a:r>
            <a:r>
              <a:rPr sz="3600" b="0" i="1" u="none" dirty="0" err="1">
                <a:solidFill>
                  <a:srgbClr val="475569"/>
                </a:solidFill>
                <a:latin typeface="Times New Roman"/>
              </a:rPr>
              <a:t>ký</a:t>
            </a:r>
            <a:r>
              <a:rPr sz="3600" b="0" i="1" u="none" dirty="0">
                <a:solidFill>
                  <a:srgbClr val="475569"/>
                </a:solidFill>
                <a:latin typeface="Times New Roman"/>
              </a:rPr>
              <a:t> </a:t>
            </a:r>
            <a:r>
              <a:rPr sz="3600" b="0" i="1" u="none" dirty="0" err="1">
                <a:solidFill>
                  <a:srgbClr val="475569"/>
                </a:solidFill>
                <a:latin typeface="Times New Roman"/>
              </a:rPr>
              <a:t>Nhóm</a:t>
            </a:r>
            <a:r>
              <a:rPr sz="3600" b="0" i="1" u="none" dirty="0">
                <a:solidFill>
                  <a:srgbClr val="475569"/>
                </a:solidFill>
                <a:latin typeface="Times New Roman"/>
              </a:rPr>
              <a:t> </a:t>
            </a:r>
            <a:r>
              <a:rPr sz="3600" b="0" i="1" u="none" dirty="0" err="1">
                <a:solidFill>
                  <a:srgbClr val="475569"/>
                </a:solidFill>
                <a:latin typeface="Times New Roman"/>
              </a:rPr>
              <a:t>và</a:t>
            </a:r>
            <a:r>
              <a:rPr sz="3600" b="0" i="1" u="none" dirty="0">
                <a:solidFill>
                  <a:srgbClr val="475569"/>
                </a:solidFill>
                <a:latin typeface="Times New Roman"/>
              </a:rPr>
              <a:t> </a:t>
            </a:r>
            <a:r>
              <a:rPr sz="3600" b="0" i="1" u="none" dirty="0" err="1">
                <a:solidFill>
                  <a:srgbClr val="475569"/>
                </a:solidFill>
                <a:latin typeface="Times New Roman"/>
              </a:rPr>
              <a:t>Đồ</a:t>
            </a:r>
            <a:r>
              <a:rPr sz="3600" b="0" i="1" u="none" dirty="0">
                <a:solidFill>
                  <a:srgbClr val="475569"/>
                </a:solidFill>
                <a:latin typeface="Times New Roman"/>
              </a:rPr>
              <a:t> </a:t>
            </a:r>
            <a:r>
              <a:rPr sz="3600" b="0" i="1" u="none" dirty="0" err="1">
                <a:solidFill>
                  <a:srgbClr val="475569"/>
                </a:solidFill>
                <a:latin typeface="Times New Roman"/>
              </a:rPr>
              <a:t>án</a:t>
            </a:r>
            <a:r>
              <a:rPr sz="3600" b="0" i="1" u="none" dirty="0">
                <a:solidFill>
                  <a:srgbClr val="475569"/>
                </a:solidFill>
                <a:latin typeface="Times New Roman"/>
              </a:rPr>
              <a:t> Môn </a:t>
            </a:r>
            <a:r>
              <a:rPr sz="3600" b="0" i="1" u="none" dirty="0" err="1">
                <a:solidFill>
                  <a:srgbClr val="475569"/>
                </a:solidFill>
                <a:latin typeface="Times New Roman"/>
              </a:rPr>
              <a:t>học</a:t>
            </a:r>
            <a:endParaRPr sz="3600" b="0" i="1" u="none" dirty="0">
              <a:solidFill>
                <a:srgbClr val="475569"/>
              </a:solidFill>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2BBF4-07F9-4DD5-F03A-1A0C61B5506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A266626-90EE-3E5C-DF47-2B6804ECAD56}"/>
              </a:ext>
            </a:extLst>
          </p:cNvPr>
          <p:cNvSpPr txBox="1"/>
          <p:nvPr/>
        </p:nvSpPr>
        <p:spPr>
          <a:xfrm>
            <a:off x="331176" y="2726977"/>
            <a:ext cx="11529648" cy="787460"/>
          </a:xfrm>
          <a:prstGeom prst="rect">
            <a:avLst/>
          </a:prstGeom>
          <a:noFill/>
        </p:spPr>
        <p:txBody>
          <a:bodyPr wrap="square" lIns="0" tIns="0" rIns="0" bIns="0" anchor="t">
            <a:spAutoFit/>
          </a:bodyPr>
          <a:lstStyle/>
          <a:p>
            <a:pPr algn="ctr">
              <a:lnSpc>
                <a:spcPts val="6480"/>
              </a:lnSpc>
            </a:pPr>
            <a:r>
              <a:rPr lang="en-US" sz="5400" b="1" i="0" u="none" dirty="0">
                <a:solidFill>
                  <a:srgbClr val="005088"/>
                </a:solidFill>
                <a:latin typeface="Times New Roman"/>
              </a:rPr>
              <a:t>KHẢO SÁT ĐỀ TÀI VÀ NGHIỆP VỤ</a:t>
            </a:r>
            <a:endParaRPr sz="5400" b="1" i="0" u="none" dirty="0">
              <a:solidFill>
                <a:srgbClr val="005088"/>
              </a:solidFill>
              <a:latin typeface="Times New Roman"/>
            </a:endParaRPr>
          </a:p>
        </p:txBody>
      </p:sp>
    </p:spTree>
    <p:extLst>
      <p:ext uri="{BB962C8B-B14F-4D97-AF65-F5344CB8AC3E}">
        <p14:creationId xmlns:p14="http://schemas.microsoft.com/office/powerpoint/2010/main" val="2761583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81750" y="2047875"/>
            <a:ext cx="5238750" cy="3810000"/>
          </a:xfrm>
          <a:prstGeom prst="rect">
            <a:avLst/>
          </a:prstGeom>
        </p:spPr>
      </p:pic>
      <p:sp>
        <p:nvSpPr>
          <p:cNvPr id="4" name="TextBox 3"/>
          <p:cNvSpPr txBox="1"/>
          <p:nvPr/>
        </p:nvSpPr>
        <p:spPr>
          <a:xfrm>
            <a:off x="571500" y="2000250"/>
            <a:ext cx="5500687" cy="323850"/>
          </a:xfrm>
          <a:prstGeom prst="rect">
            <a:avLst/>
          </a:prstGeom>
          <a:noFill/>
        </p:spPr>
        <p:txBody>
          <a:bodyPr wrap="square" lIns="0" tIns="0" rIns="0" bIns="0" anchor="t">
            <a:spAutoFit/>
          </a:bodyPr>
          <a:lstStyle/>
          <a:p>
            <a:pPr algn="l"/>
            <a:r>
              <a:rPr sz="2250" b="1" i="0" u="none">
                <a:solidFill>
                  <a:srgbClr val="1E293B"/>
                </a:solidFill>
                <a:latin typeface="Times New Roman"/>
              </a:rPr>
              <a:t>Khó khăn hiện tại</a:t>
            </a:r>
          </a:p>
        </p:txBody>
      </p:sp>
      <p:sp>
        <p:nvSpPr>
          <p:cNvPr id="5" name="TextBox 4"/>
          <p:cNvSpPr txBox="1"/>
          <p:nvPr/>
        </p:nvSpPr>
        <p:spPr>
          <a:xfrm>
            <a:off x="571500" y="4000500"/>
            <a:ext cx="5500687" cy="323850"/>
          </a:xfrm>
          <a:prstGeom prst="rect">
            <a:avLst/>
          </a:prstGeom>
          <a:noFill/>
        </p:spPr>
        <p:txBody>
          <a:bodyPr wrap="square" lIns="0" tIns="0" rIns="0" bIns="0" anchor="t">
            <a:spAutoFit/>
          </a:bodyPr>
          <a:lstStyle/>
          <a:p>
            <a:pPr algn="l"/>
            <a:r>
              <a:rPr sz="2250" b="1" i="0" u="none">
                <a:solidFill>
                  <a:srgbClr val="1E293B"/>
                </a:solidFill>
                <a:latin typeface="Times New Roman"/>
              </a:rPr>
              <a:t>Mục đích dự án</a:t>
            </a:r>
          </a:p>
        </p:txBody>
      </p:sp>
      <p:sp>
        <p:nvSpPr>
          <p:cNvPr id="6" name="TextBox 5"/>
          <p:cNvSpPr txBox="1"/>
          <p:nvPr/>
        </p:nvSpPr>
        <p:spPr>
          <a:xfrm>
            <a:off x="809625" y="2476500"/>
            <a:ext cx="5000625" cy="285750"/>
          </a:xfrm>
          <a:prstGeom prst="rect">
            <a:avLst/>
          </a:prstGeom>
          <a:noFill/>
        </p:spPr>
        <p:txBody>
          <a:bodyPr wrap="square" lIns="0" tIns="0" rIns="0" bIns="0" anchor="t">
            <a:spAutoFit/>
          </a:bodyPr>
          <a:lstStyle/>
          <a:p>
            <a:pPr algn="l">
              <a:lnSpc>
                <a:spcPts val="2250"/>
              </a:lnSpc>
            </a:pPr>
            <a:r>
              <a:rPr sz="1500" b="0" i="0" u="none">
                <a:solidFill>
                  <a:srgbClr val="334155"/>
                </a:solidFill>
                <a:latin typeface="Times New Roman"/>
              </a:rPr>
              <a:t>Quản lý quy trình thủ công rải rác trên nhiều nền tảng.</a:t>
            </a:r>
          </a:p>
        </p:txBody>
      </p:sp>
      <p:sp>
        <p:nvSpPr>
          <p:cNvPr id="7" name="TextBox 6"/>
          <p:cNvSpPr txBox="1"/>
          <p:nvPr/>
        </p:nvSpPr>
        <p:spPr>
          <a:xfrm>
            <a:off x="809625" y="2952750"/>
            <a:ext cx="5000625" cy="285750"/>
          </a:xfrm>
          <a:prstGeom prst="rect">
            <a:avLst/>
          </a:prstGeom>
          <a:noFill/>
        </p:spPr>
        <p:txBody>
          <a:bodyPr wrap="square" lIns="0" tIns="0" rIns="0" bIns="0" anchor="t">
            <a:spAutoFit/>
          </a:bodyPr>
          <a:lstStyle/>
          <a:p>
            <a:pPr algn="l">
              <a:lnSpc>
                <a:spcPts val="2250"/>
              </a:lnSpc>
            </a:pPr>
            <a:r>
              <a:rPr sz="1500" b="0" i="0" u="none">
                <a:solidFill>
                  <a:srgbClr val="334155"/>
                </a:solidFill>
                <a:latin typeface="Times New Roman"/>
              </a:rPr>
              <a:t>Sinh viên khó tìm kiếm đồng đội phù hợp năng lực.</a:t>
            </a:r>
          </a:p>
        </p:txBody>
      </p:sp>
      <p:sp>
        <p:nvSpPr>
          <p:cNvPr id="8" name="TextBox 7"/>
          <p:cNvSpPr txBox="1"/>
          <p:nvPr/>
        </p:nvSpPr>
        <p:spPr>
          <a:xfrm>
            <a:off x="809625" y="3429000"/>
            <a:ext cx="5000625" cy="285750"/>
          </a:xfrm>
          <a:prstGeom prst="rect">
            <a:avLst/>
          </a:prstGeom>
          <a:noFill/>
        </p:spPr>
        <p:txBody>
          <a:bodyPr wrap="square" lIns="0" tIns="0" rIns="0" bIns="0" anchor="t">
            <a:spAutoFit/>
          </a:bodyPr>
          <a:lstStyle/>
          <a:p>
            <a:pPr algn="l">
              <a:lnSpc>
                <a:spcPts val="2250"/>
              </a:lnSpc>
            </a:pPr>
            <a:r>
              <a:rPr sz="1500" b="0" i="0" u="none">
                <a:solidFill>
                  <a:srgbClr val="334155"/>
                </a:solidFill>
                <a:latin typeface="Times New Roman"/>
              </a:rPr>
              <a:t>Sinh viên thiếu định hướng và ý tưởng làm đề tài.</a:t>
            </a:r>
          </a:p>
        </p:txBody>
      </p:sp>
      <p:sp>
        <p:nvSpPr>
          <p:cNvPr id="9" name="TextBox 8"/>
          <p:cNvSpPr txBox="1"/>
          <p:nvPr/>
        </p:nvSpPr>
        <p:spPr>
          <a:xfrm>
            <a:off x="809625" y="4476750"/>
            <a:ext cx="5000625" cy="285750"/>
          </a:xfrm>
          <a:prstGeom prst="rect">
            <a:avLst/>
          </a:prstGeom>
          <a:noFill/>
        </p:spPr>
        <p:txBody>
          <a:bodyPr wrap="square" lIns="0" tIns="0" rIns="0" bIns="0" anchor="t">
            <a:spAutoFit/>
          </a:bodyPr>
          <a:lstStyle/>
          <a:p>
            <a:pPr algn="l">
              <a:lnSpc>
                <a:spcPts val="2250"/>
              </a:lnSpc>
            </a:pPr>
            <a:r>
              <a:rPr sz="1500" b="0" i="0" u="none">
                <a:solidFill>
                  <a:srgbClr val="334155"/>
                </a:solidFill>
                <a:latin typeface="Times New Roman"/>
              </a:rPr>
              <a:t>Tự động hóa quản lý đồ án và quy trình đăng ký nhóm.</a:t>
            </a:r>
          </a:p>
        </p:txBody>
      </p:sp>
      <p:sp>
        <p:nvSpPr>
          <p:cNvPr id="10" name="TextBox 9"/>
          <p:cNvSpPr txBox="1"/>
          <p:nvPr/>
        </p:nvSpPr>
        <p:spPr>
          <a:xfrm>
            <a:off x="809625" y="4953000"/>
            <a:ext cx="5000625" cy="285750"/>
          </a:xfrm>
          <a:prstGeom prst="rect">
            <a:avLst/>
          </a:prstGeom>
          <a:noFill/>
        </p:spPr>
        <p:txBody>
          <a:bodyPr wrap="square" lIns="0" tIns="0" rIns="0" bIns="0" anchor="t">
            <a:spAutoFit/>
          </a:bodyPr>
          <a:lstStyle/>
          <a:p>
            <a:pPr algn="l">
              <a:lnSpc>
                <a:spcPts val="2250"/>
              </a:lnSpc>
            </a:pPr>
            <a:r>
              <a:rPr sz="1500" b="0" i="0" u="none">
                <a:solidFill>
                  <a:srgbClr val="334155"/>
                </a:solidFill>
                <a:latin typeface="Times New Roman"/>
              </a:rPr>
              <a:t>Nâng cao chất lượng tương tác giữa Sinh viên và Giảng viên.</a:t>
            </a:r>
          </a:p>
        </p:txBody>
      </p:sp>
      <p:sp>
        <p:nvSpPr>
          <p:cNvPr id="11" name="TextBox 10"/>
          <p:cNvSpPr txBox="1"/>
          <p:nvPr/>
        </p:nvSpPr>
        <p:spPr>
          <a:xfrm>
            <a:off x="809625" y="5429250"/>
            <a:ext cx="5000625" cy="266291"/>
          </a:xfrm>
          <a:prstGeom prst="rect">
            <a:avLst/>
          </a:prstGeom>
          <a:noFill/>
        </p:spPr>
        <p:txBody>
          <a:bodyPr wrap="square" lIns="0" tIns="0" rIns="0" bIns="0" anchor="t">
            <a:spAutoFit/>
          </a:bodyPr>
          <a:lstStyle/>
          <a:p>
            <a:pPr algn="l">
              <a:lnSpc>
                <a:spcPts val="2250"/>
              </a:lnSpc>
            </a:pPr>
            <a:r>
              <a:rPr sz="1500" b="0" i="0" u="none" dirty="0" err="1">
                <a:solidFill>
                  <a:srgbClr val="334155"/>
                </a:solidFill>
                <a:latin typeface="Times New Roman"/>
              </a:rPr>
              <a:t>Tích</a:t>
            </a:r>
            <a:r>
              <a:rPr sz="1500" b="0" i="0" u="none" dirty="0">
                <a:solidFill>
                  <a:srgbClr val="334155"/>
                </a:solidFill>
                <a:latin typeface="Times New Roman"/>
              </a:rPr>
              <a:t> </a:t>
            </a:r>
            <a:r>
              <a:rPr sz="1500" b="0" i="0" u="none" dirty="0" err="1">
                <a:solidFill>
                  <a:srgbClr val="334155"/>
                </a:solidFill>
                <a:latin typeface="Times New Roman"/>
              </a:rPr>
              <a:t>hợp</a:t>
            </a:r>
            <a:r>
              <a:rPr sz="1500" b="0" i="0" u="none" dirty="0">
                <a:solidFill>
                  <a:srgbClr val="334155"/>
                </a:solidFill>
                <a:latin typeface="Times New Roman"/>
              </a:rPr>
              <a:t> AI </a:t>
            </a:r>
            <a:r>
              <a:rPr sz="1500" b="0" i="0" u="none" dirty="0" err="1">
                <a:solidFill>
                  <a:srgbClr val="334155"/>
                </a:solidFill>
                <a:latin typeface="Times New Roman"/>
              </a:rPr>
              <a:t>để</a:t>
            </a:r>
            <a:r>
              <a:rPr sz="1500" b="0" i="0" u="none" dirty="0">
                <a:solidFill>
                  <a:srgbClr val="334155"/>
                </a:solidFill>
                <a:latin typeface="Times New Roman"/>
              </a:rPr>
              <a:t> </a:t>
            </a:r>
            <a:r>
              <a:rPr sz="1500" b="0" i="0" u="none" dirty="0" err="1">
                <a:solidFill>
                  <a:srgbClr val="334155"/>
                </a:solidFill>
                <a:latin typeface="Times New Roman"/>
              </a:rPr>
              <a:t>tối</a:t>
            </a:r>
            <a:r>
              <a:rPr sz="1500" b="0" i="0" u="none" dirty="0">
                <a:solidFill>
                  <a:srgbClr val="334155"/>
                </a:solidFill>
                <a:latin typeface="Times New Roman"/>
              </a:rPr>
              <a:t> </a:t>
            </a:r>
            <a:r>
              <a:rPr sz="1500" b="0" i="0" u="none" dirty="0" err="1">
                <a:solidFill>
                  <a:srgbClr val="334155"/>
                </a:solidFill>
                <a:latin typeface="Times New Roman"/>
              </a:rPr>
              <a:t>ưu</a:t>
            </a:r>
            <a:r>
              <a:rPr sz="1500" b="0" i="0" u="none" dirty="0">
                <a:solidFill>
                  <a:srgbClr val="334155"/>
                </a:solidFill>
                <a:latin typeface="Times New Roman"/>
              </a:rPr>
              <a:t> </a:t>
            </a:r>
            <a:r>
              <a:rPr sz="1500" b="0" i="0" u="none" dirty="0" err="1">
                <a:solidFill>
                  <a:srgbClr val="334155"/>
                </a:solidFill>
                <a:latin typeface="Times New Roman"/>
              </a:rPr>
              <a:t>hóa</a:t>
            </a:r>
            <a:r>
              <a:rPr sz="1500" b="0" i="0" u="none" dirty="0">
                <a:solidFill>
                  <a:srgbClr val="334155"/>
                </a:solidFill>
                <a:latin typeface="Times New Roman"/>
              </a:rPr>
              <a:t> </a:t>
            </a:r>
            <a:r>
              <a:rPr sz="1500" b="0" i="0" u="none" dirty="0" err="1">
                <a:solidFill>
                  <a:srgbClr val="334155"/>
                </a:solidFill>
                <a:latin typeface="Times New Roman"/>
              </a:rPr>
              <a:t>việc</a:t>
            </a:r>
            <a:r>
              <a:rPr sz="1500" b="0" i="0" u="none" dirty="0">
                <a:solidFill>
                  <a:srgbClr val="334155"/>
                </a:solidFill>
                <a:latin typeface="Times New Roman"/>
              </a:rPr>
              <a:t> </a:t>
            </a:r>
            <a:r>
              <a:rPr sz="1500" b="0" i="0" u="none" dirty="0" err="1">
                <a:solidFill>
                  <a:srgbClr val="334155"/>
                </a:solidFill>
                <a:latin typeface="Times New Roman"/>
              </a:rPr>
              <a:t>hỗ</a:t>
            </a:r>
            <a:r>
              <a:rPr sz="1500" b="0" i="0" u="none" dirty="0">
                <a:solidFill>
                  <a:srgbClr val="334155"/>
                </a:solidFill>
                <a:latin typeface="Times New Roman"/>
              </a:rPr>
              <a:t> </a:t>
            </a:r>
            <a:r>
              <a:rPr sz="1500" b="0" i="0" u="none" dirty="0" err="1">
                <a:solidFill>
                  <a:srgbClr val="334155"/>
                </a:solidFill>
                <a:latin typeface="Times New Roman"/>
              </a:rPr>
              <a:t>trợ</a:t>
            </a:r>
            <a:r>
              <a:rPr sz="1500" b="0" i="0" u="none" dirty="0">
                <a:solidFill>
                  <a:srgbClr val="334155"/>
                </a:solidFill>
                <a:latin typeface="Times New Roman"/>
              </a:rPr>
              <a:t> </a:t>
            </a:r>
            <a:r>
              <a:rPr sz="1500" b="0" i="0" u="none" dirty="0" err="1">
                <a:solidFill>
                  <a:srgbClr val="334155"/>
                </a:solidFill>
                <a:latin typeface="Times New Roman"/>
              </a:rPr>
              <a:t>đề</a:t>
            </a:r>
            <a:r>
              <a:rPr sz="1500" b="0" i="0" u="none" dirty="0">
                <a:solidFill>
                  <a:srgbClr val="334155"/>
                </a:solidFill>
                <a:latin typeface="Times New Roman"/>
              </a:rPr>
              <a:t> </a:t>
            </a:r>
            <a:r>
              <a:rPr sz="1500" b="0" i="0" u="none" dirty="0" err="1">
                <a:solidFill>
                  <a:srgbClr val="334155"/>
                </a:solidFill>
                <a:latin typeface="Times New Roman"/>
              </a:rPr>
              <a:t>tài</a:t>
            </a:r>
            <a:r>
              <a:rPr sz="1500" b="0" i="0" u="none" dirty="0">
                <a:solidFill>
                  <a:srgbClr val="334155"/>
                </a:solidFill>
                <a:latin typeface="Times New Roman"/>
              </a:rPr>
              <a:t>.</a:t>
            </a:r>
          </a:p>
        </p:txBody>
      </p:sp>
      <p:pic>
        <p:nvPicPr>
          <p:cNvPr id="12" name="Picture 11" descr="image.png"/>
          <p:cNvPicPr>
            <a:picLocks noChangeAspect="1"/>
          </p:cNvPicPr>
          <p:nvPr/>
        </p:nvPicPr>
        <p:blipFill>
          <a:blip r:embed="rId4"/>
          <a:stretch>
            <a:fillRect/>
          </a:stretch>
        </p:blipFill>
        <p:spPr>
          <a:xfrm>
            <a:off x="6391275" y="2057400"/>
            <a:ext cx="5219700" cy="3790950"/>
          </a:xfrm>
          <a:prstGeom prst="rect">
            <a:avLst/>
          </a:prstGeom>
        </p:spPr>
      </p:pic>
      <p:sp>
        <p:nvSpPr>
          <p:cNvPr id="13" name="TextBox 12"/>
          <p:cNvSpPr txBox="1"/>
          <p:nvPr/>
        </p:nvSpPr>
        <p:spPr>
          <a:xfrm>
            <a:off x="571500" y="2457450"/>
            <a:ext cx="66675" cy="314325"/>
          </a:xfrm>
          <a:prstGeom prst="rect">
            <a:avLst/>
          </a:prstGeom>
          <a:noFill/>
        </p:spPr>
        <p:txBody>
          <a:bodyPr wrap="square" lIns="0" tIns="0" rIns="0" bIns="0" anchor="t">
            <a:spAutoFit/>
          </a:bodyPr>
          <a:lstStyle/>
          <a:p>
            <a:pPr algn="l">
              <a:lnSpc>
                <a:spcPts val="2475"/>
              </a:lnSpc>
            </a:pPr>
            <a:r>
              <a:rPr sz="1650" b="1" i="0" u="none">
                <a:solidFill>
                  <a:srgbClr val="005088"/>
                </a:solidFill>
                <a:latin typeface="Times New Roman"/>
              </a:rPr>
              <a:t>-</a:t>
            </a:r>
          </a:p>
        </p:txBody>
      </p:sp>
      <p:sp>
        <p:nvSpPr>
          <p:cNvPr id="14" name="TextBox 13"/>
          <p:cNvSpPr txBox="1"/>
          <p:nvPr/>
        </p:nvSpPr>
        <p:spPr>
          <a:xfrm>
            <a:off x="571500" y="2933700"/>
            <a:ext cx="66675" cy="314325"/>
          </a:xfrm>
          <a:prstGeom prst="rect">
            <a:avLst/>
          </a:prstGeom>
          <a:noFill/>
        </p:spPr>
        <p:txBody>
          <a:bodyPr wrap="square" lIns="0" tIns="0" rIns="0" bIns="0" anchor="t">
            <a:spAutoFit/>
          </a:bodyPr>
          <a:lstStyle/>
          <a:p>
            <a:pPr algn="l">
              <a:lnSpc>
                <a:spcPts val="2475"/>
              </a:lnSpc>
            </a:pPr>
            <a:r>
              <a:rPr sz="1650" b="1" i="0" u="none">
                <a:solidFill>
                  <a:srgbClr val="005088"/>
                </a:solidFill>
                <a:latin typeface="Times New Roman"/>
              </a:rPr>
              <a:t>-</a:t>
            </a:r>
          </a:p>
        </p:txBody>
      </p:sp>
      <p:sp>
        <p:nvSpPr>
          <p:cNvPr id="15" name="TextBox 14"/>
          <p:cNvSpPr txBox="1"/>
          <p:nvPr/>
        </p:nvSpPr>
        <p:spPr>
          <a:xfrm>
            <a:off x="571500" y="3409950"/>
            <a:ext cx="66675" cy="314325"/>
          </a:xfrm>
          <a:prstGeom prst="rect">
            <a:avLst/>
          </a:prstGeom>
          <a:noFill/>
        </p:spPr>
        <p:txBody>
          <a:bodyPr wrap="square" lIns="0" tIns="0" rIns="0" bIns="0" anchor="t">
            <a:spAutoFit/>
          </a:bodyPr>
          <a:lstStyle/>
          <a:p>
            <a:pPr algn="l">
              <a:lnSpc>
                <a:spcPts val="2475"/>
              </a:lnSpc>
            </a:pPr>
            <a:r>
              <a:rPr sz="1650" b="1" i="0" u="none">
                <a:solidFill>
                  <a:srgbClr val="005088"/>
                </a:solidFill>
                <a:latin typeface="Times New Roman"/>
              </a:rPr>
              <a:t>-</a:t>
            </a:r>
          </a:p>
        </p:txBody>
      </p:sp>
      <p:sp>
        <p:nvSpPr>
          <p:cNvPr id="16" name="TextBox 15"/>
          <p:cNvSpPr txBox="1"/>
          <p:nvPr/>
        </p:nvSpPr>
        <p:spPr>
          <a:xfrm>
            <a:off x="571500" y="4457700"/>
            <a:ext cx="66675" cy="314325"/>
          </a:xfrm>
          <a:prstGeom prst="rect">
            <a:avLst/>
          </a:prstGeom>
          <a:noFill/>
        </p:spPr>
        <p:txBody>
          <a:bodyPr wrap="square" lIns="0" tIns="0" rIns="0" bIns="0" anchor="t">
            <a:spAutoFit/>
          </a:bodyPr>
          <a:lstStyle/>
          <a:p>
            <a:pPr algn="l">
              <a:lnSpc>
                <a:spcPts val="2475"/>
              </a:lnSpc>
            </a:pPr>
            <a:r>
              <a:rPr sz="1650" b="1" i="0" u="none">
                <a:solidFill>
                  <a:srgbClr val="005088"/>
                </a:solidFill>
                <a:latin typeface="Times New Roman"/>
              </a:rPr>
              <a:t>-</a:t>
            </a:r>
          </a:p>
        </p:txBody>
      </p:sp>
      <p:sp>
        <p:nvSpPr>
          <p:cNvPr id="17" name="TextBox 16"/>
          <p:cNvSpPr txBox="1"/>
          <p:nvPr/>
        </p:nvSpPr>
        <p:spPr>
          <a:xfrm>
            <a:off x="571500" y="4933950"/>
            <a:ext cx="66675" cy="314325"/>
          </a:xfrm>
          <a:prstGeom prst="rect">
            <a:avLst/>
          </a:prstGeom>
          <a:noFill/>
        </p:spPr>
        <p:txBody>
          <a:bodyPr wrap="square" lIns="0" tIns="0" rIns="0" bIns="0" anchor="t">
            <a:spAutoFit/>
          </a:bodyPr>
          <a:lstStyle/>
          <a:p>
            <a:pPr algn="l">
              <a:lnSpc>
                <a:spcPts val="2475"/>
              </a:lnSpc>
            </a:pPr>
            <a:r>
              <a:rPr sz="1650" b="1" i="0" u="none">
                <a:solidFill>
                  <a:srgbClr val="005088"/>
                </a:solidFill>
                <a:latin typeface="Times New Roman"/>
              </a:rPr>
              <a:t>-</a:t>
            </a:r>
          </a:p>
        </p:txBody>
      </p:sp>
      <p:sp>
        <p:nvSpPr>
          <p:cNvPr id="18" name="TextBox 17"/>
          <p:cNvSpPr txBox="1"/>
          <p:nvPr/>
        </p:nvSpPr>
        <p:spPr>
          <a:xfrm>
            <a:off x="571500" y="5410200"/>
            <a:ext cx="66675" cy="314325"/>
          </a:xfrm>
          <a:prstGeom prst="rect">
            <a:avLst/>
          </a:prstGeom>
          <a:noFill/>
        </p:spPr>
        <p:txBody>
          <a:bodyPr wrap="square" lIns="0" tIns="0" rIns="0" bIns="0" anchor="t">
            <a:spAutoFit/>
          </a:bodyPr>
          <a:lstStyle/>
          <a:p>
            <a:pPr algn="l">
              <a:lnSpc>
                <a:spcPts val="2475"/>
              </a:lnSpc>
            </a:pPr>
            <a:r>
              <a:rPr sz="1650" b="1" i="0" u="none">
                <a:solidFill>
                  <a:srgbClr val="005088"/>
                </a:solidFill>
                <a:latin typeface="Times New Roman"/>
              </a:rPr>
              <a:t>-</a:t>
            </a:r>
          </a:p>
        </p:txBody>
      </p:sp>
      <p:sp>
        <p:nvSpPr>
          <p:cNvPr id="19" name="TextBox 18"/>
          <p:cNvSpPr txBox="1"/>
          <p:nvPr/>
        </p:nvSpPr>
        <p:spPr>
          <a:xfrm>
            <a:off x="571500" y="571500"/>
            <a:ext cx="11601450" cy="523875"/>
          </a:xfrm>
          <a:prstGeom prst="rect">
            <a:avLst/>
          </a:prstGeom>
          <a:noFill/>
        </p:spPr>
        <p:txBody>
          <a:bodyPr wrap="square" lIns="0" tIns="0" rIns="0" bIns="0" anchor="t">
            <a:spAutoFit/>
          </a:bodyPr>
          <a:lstStyle/>
          <a:p>
            <a:pPr algn="l"/>
            <a:r>
              <a:rPr sz="3450" b="1" i="0" u="none">
                <a:solidFill>
                  <a:srgbClr val="1E293B"/>
                </a:solidFill>
                <a:latin typeface="Times New Roman"/>
              </a:rPr>
              <a:t>Mục đích &amp; Lợi ích</a:t>
            </a:r>
          </a:p>
        </p:txBody>
      </p:sp>
      <p:sp>
        <p:nvSpPr>
          <p:cNvPr id="20" name="Rectangle 19"/>
          <p:cNvSpPr/>
          <p:nvPr/>
        </p:nvSpPr>
        <p:spPr>
          <a:xfrm>
            <a:off x="571500" y="1219200"/>
            <a:ext cx="11049000" cy="19050"/>
          </a:xfrm>
          <a:prstGeom prst="rect">
            <a:avLst/>
          </a:prstGeom>
          <a:solidFill>
            <a:srgbClr val="005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490787"/>
            <a:ext cx="5334000" cy="2924175"/>
          </a:xfrm>
          <a:prstGeom prst="rect">
            <a:avLst/>
          </a:prstGeom>
        </p:spPr>
      </p:pic>
      <p:pic>
        <p:nvPicPr>
          <p:cNvPr id="4" name="Picture 3" descr="image.png"/>
          <p:cNvPicPr>
            <a:picLocks noChangeAspect="1"/>
          </p:cNvPicPr>
          <p:nvPr/>
        </p:nvPicPr>
        <p:blipFill>
          <a:blip r:embed="rId4"/>
          <a:stretch>
            <a:fillRect/>
          </a:stretch>
        </p:blipFill>
        <p:spPr>
          <a:xfrm>
            <a:off x="6286500" y="2490787"/>
            <a:ext cx="5334000" cy="2924175"/>
          </a:xfrm>
          <a:prstGeom prst="rect">
            <a:avLst/>
          </a:prstGeom>
        </p:spPr>
      </p:pic>
      <p:sp>
        <p:nvSpPr>
          <p:cNvPr id="5" name="TextBox 4"/>
          <p:cNvSpPr txBox="1"/>
          <p:nvPr/>
        </p:nvSpPr>
        <p:spPr>
          <a:xfrm>
            <a:off x="962025" y="2881312"/>
            <a:ext cx="4780597" cy="333375"/>
          </a:xfrm>
          <a:prstGeom prst="rect">
            <a:avLst/>
          </a:prstGeom>
          <a:noFill/>
        </p:spPr>
        <p:txBody>
          <a:bodyPr wrap="square" lIns="314325" tIns="0" rIns="0" bIns="0" anchor="t">
            <a:spAutoFit/>
          </a:bodyPr>
          <a:lstStyle/>
          <a:p>
            <a:pPr algn="l"/>
            <a:r>
              <a:rPr sz="2250" b="1" i="0" u="none">
                <a:solidFill>
                  <a:srgbClr val="005088"/>
                </a:solidFill>
                <a:latin typeface="Times New Roman"/>
              </a:rPr>
              <a:t>Nền tảng Ứng dụng</a:t>
            </a:r>
          </a:p>
        </p:txBody>
      </p:sp>
      <p:sp>
        <p:nvSpPr>
          <p:cNvPr id="6" name="Rectangle 5"/>
          <p:cNvSpPr/>
          <p:nvPr/>
        </p:nvSpPr>
        <p:spPr>
          <a:xfrm>
            <a:off x="962025" y="3348037"/>
            <a:ext cx="455295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2025" y="3595687"/>
            <a:ext cx="4552950" cy="571500"/>
          </a:xfrm>
          <a:prstGeom prst="rect">
            <a:avLst/>
          </a:prstGeom>
          <a:noFill/>
        </p:spPr>
        <p:txBody>
          <a:bodyPr wrap="square" lIns="0" tIns="0" rIns="0" bIns="0" anchor="t">
            <a:spAutoFit/>
          </a:bodyPr>
          <a:lstStyle/>
          <a:p>
            <a:pPr algn="l">
              <a:lnSpc>
                <a:spcPts val="2250"/>
              </a:lnSpc>
            </a:pPr>
            <a:r>
              <a:rPr sz="1500" b="0" i="0" u="none">
                <a:solidFill>
                  <a:srgbClr val="334155"/>
                </a:solidFill>
                <a:latin typeface="Times New Roman"/>
              </a:rPr>
              <a:t>Phát triển giao diện Client đa nền tảng bằng ngôn ngữ </a:t>
            </a:r>
            <a:r>
              <a:rPr sz="1500" b="1" i="0" u="none">
                <a:solidFill>
                  <a:srgbClr val="334155"/>
                </a:solidFill>
                <a:latin typeface="Times New Roman"/>
              </a:rPr>
              <a:t>Dart</a:t>
            </a:r>
            <a:r>
              <a:rPr sz="1500" b="0" i="0" u="none">
                <a:solidFill>
                  <a:srgbClr val="334155"/>
                </a:solidFill>
                <a:latin typeface="Times New Roman"/>
              </a:rPr>
              <a:t> kết hợp cùng framework </a:t>
            </a:r>
            <a:r>
              <a:rPr sz="1500" b="1" i="0" u="none">
                <a:solidFill>
                  <a:srgbClr val="334155"/>
                </a:solidFill>
                <a:latin typeface="Times New Roman"/>
              </a:rPr>
              <a:t>Flutter (Mobile Frontend)</a:t>
            </a:r>
            <a:r>
              <a:rPr sz="1500" b="0" i="0" u="none">
                <a:solidFill>
                  <a:srgbClr val="334155"/>
                </a:solidFill>
                <a:latin typeface="Times New Roman"/>
              </a:rPr>
              <a:t>.</a:t>
            </a:r>
          </a:p>
        </p:txBody>
      </p:sp>
      <p:sp>
        <p:nvSpPr>
          <p:cNvPr id="8" name="TextBox 7"/>
          <p:cNvSpPr txBox="1"/>
          <p:nvPr/>
        </p:nvSpPr>
        <p:spPr>
          <a:xfrm>
            <a:off x="962025" y="4310062"/>
            <a:ext cx="4552950" cy="571500"/>
          </a:xfrm>
          <a:prstGeom prst="rect">
            <a:avLst/>
          </a:prstGeom>
          <a:noFill/>
        </p:spPr>
        <p:txBody>
          <a:bodyPr wrap="square" lIns="0" tIns="0" rIns="0" bIns="0" anchor="t">
            <a:spAutoFit/>
          </a:bodyPr>
          <a:lstStyle/>
          <a:p>
            <a:pPr algn="l">
              <a:lnSpc>
                <a:spcPts val="2250"/>
              </a:lnSpc>
            </a:pPr>
            <a:r>
              <a:rPr sz="1500" b="0" i="0" u="none">
                <a:solidFill>
                  <a:srgbClr val="334155"/>
                </a:solidFill>
                <a:latin typeface="Times New Roman"/>
              </a:rPr>
              <a:t>Tương tác với hệ thống qua các giao thức </a:t>
            </a:r>
            <a:r>
              <a:rPr sz="1500" b="1" i="0" u="none">
                <a:solidFill>
                  <a:srgbClr val="334155"/>
                </a:solidFill>
                <a:latin typeface="Times New Roman"/>
              </a:rPr>
              <a:t>RESTful API</a:t>
            </a:r>
            <a:r>
              <a:rPr sz="1500" b="0" i="0" u="none">
                <a:solidFill>
                  <a:srgbClr val="334155"/>
                </a:solidFill>
                <a:latin typeface="Times New Roman"/>
              </a:rPr>
              <a:t> và </a:t>
            </a:r>
            <a:r>
              <a:rPr sz="1500" b="1" i="0" u="none">
                <a:solidFill>
                  <a:srgbClr val="334155"/>
                </a:solidFill>
                <a:latin typeface="Times New Roman"/>
              </a:rPr>
              <a:t>JSON</a:t>
            </a:r>
            <a:r>
              <a:rPr sz="1500" b="0" i="0" u="none">
                <a:solidFill>
                  <a:srgbClr val="334155"/>
                </a:solidFill>
                <a:latin typeface="Times New Roman"/>
              </a:rPr>
              <a:t>.</a:t>
            </a:r>
          </a:p>
        </p:txBody>
      </p:sp>
      <p:sp>
        <p:nvSpPr>
          <p:cNvPr id="9" name="TextBox 8"/>
          <p:cNvSpPr txBox="1"/>
          <p:nvPr/>
        </p:nvSpPr>
        <p:spPr>
          <a:xfrm>
            <a:off x="6677025" y="2881312"/>
            <a:ext cx="4780597" cy="333375"/>
          </a:xfrm>
          <a:prstGeom prst="rect">
            <a:avLst/>
          </a:prstGeom>
          <a:noFill/>
        </p:spPr>
        <p:txBody>
          <a:bodyPr wrap="square" lIns="381000" tIns="0" rIns="0" bIns="0" anchor="t">
            <a:spAutoFit/>
          </a:bodyPr>
          <a:lstStyle/>
          <a:p>
            <a:pPr algn="l"/>
            <a:r>
              <a:rPr sz="2250" b="1" i="0" u="none">
                <a:solidFill>
                  <a:srgbClr val="005088"/>
                </a:solidFill>
                <a:latin typeface="Times New Roman"/>
              </a:rPr>
              <a:t>Nền tảng Backend</a:t>
            </a:r>
          </a:p>
        </p:txBody>
      </p:sp>
      <p:sp>
        <p:nvSpPr>
          <p:cNvPr id="10" name="Rectangle 9"/>
          <p:cNvSpPr/>
          <p:nvPr/>
        </p:nvSpPr>
        <p:spPr>
          <a:xfrm>
            <a:off x="6677025" y="3348037"/>
            <a:ext cx="455295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7025" y="3595687"/>
            <a:ext cx="4552950" cy="571500"/>
          </a:xfrm>
          <a:prstGeom prst="rect">
            <a:avLst/>
          </a:prstGeom>
          <a:noFill/>
        </p:spPr>
        <p:txBody>
          <a:bodyPr wrap="square" lIns="0" tIns="0" rIns="0" bIns="0" anchor="t">
            <a:spAutoFit/>
          </a:bodyPr>
          <a:lstStyle/>
          <a:p>
            <a:pPr algn="l">
              <a:lnSpc>
                <a:spcPts val="2250"/>
              </a:lnSpc>
            </a:pPr>
            <a:r>
              <a:rPr sz="1500" b="0" i="0" u="none" dirty="0" err="1">
                <a:solidFill>
                  <a:srgbClr val="334155"/>
                </a:solidFill>
                <a:latin typeface="Times New Roman"/>
              </a:rPr>
              <a:t>Xây</a:t>
            </a:r>
            <a:r>
              <a:rPr sz="1500" b="0" i="0" u="none" dirty="0">
                <a:solidFill>
                  <a:srgbClr val="334155"/>
                </a:solidFill>
                <a:latin typeface="Times New Roman"/>
              </a:rPr>
              <a:t> </a:t>
            </a:r>
            <a:r>
              <a:rPr sz="1500" b="0" i="0" u="none" dirty="0" err="1">
                <a:solidFill>
                  <a:srgbClr val="334155"/>
                </a:solidFill>
                <a:latin typeface="Times New Roman"/>
              </a:rPr>
              <a:t>dựng</a:t>
            </a:r>
            <a:r>
              <a:rPr sz="1500" b="0" i="0" u="none" dirty="0">
                <a:solidFill>
                  <a:srgbClr val="334155"/>
                </a:solidFill>
                <a:latin typeface="Times New Roman"/>
              </a:rPr>
              <a:t> </a:t>
            </a:r>
            <a:r>
              <a:rPr sz="1500" b="0" i="0" u="none" dirty="0" err="1">
                <a:solidFill>
                  <a:srgbClr val="334155"/>
                </a:solidFill>
                <a:latin typeface="Times New Roman"/>
              </a:rPr>
              <a:t>các</a:t>
            </a:r>
            <a:r>
              <a:rPr sz="1500" b="0" i="0" u="none" dirty="0">
                <a:solidFill>
                  <a:srgbClr val="334155"/>
                </a:solidFill>
                <a:latin typeface="Times New Roman"/>
              </a:rPr>
              <a:t> </a:t>
            </a:r>
            <a:r>
              <a:rPr sz="1500" b="0" i="0" u="none" dirty="0" err="1">
                <a:solidFill>
                  <a:srgbClr val="334155"/>
                </a:solidFill>
                <a:latin typeface="Times New Roman"/>
              </a:rPr>
              <a:t>dịch</a:t>
            </a:r>
            <a:r>
              <a:rPr sz="1500" b="0" i="0" u="none" dirty="0">
                <a:solidFill>
                  <a:srgbClr val="334155"/>
                </a:solidFill>
                <a:latin typeface="Times New Roman"/>
              </a:rPr>
              <a:t> </a:t>
            </a:r>
            <a:r>
              <a:rPr sz="1500" b="0" i="0" u="none" dirty="0" err="1">
                <a:solidFill>
                  <a:srgbClr val="334155"/>
                </a:solidFill>
                <a:latin typeface="Times New Roman"/>
              </a:rPr>
              <a:t>vụ</a:t>
            </a:r>
            <a:r>
              <a:rPr sz="1500" b="0" i="0" u="none" dirty="0">
                <a:solidFill>
                  <a:srgbClr val="334155"/>
                </a:solidFill>
                <a:latin typeface="Times New Roman"/>
              </a:rPr>
              <a:t> </a:t>
            </a:r>
            <a:r>
              <a:rPr sz="1500" b="0" i="0" u="none" dirty="0" err="1">
                <a:solidFill>
                  <a:srgbClr val="334155"/>
                </a:solidFill>
                <a:latin typeface="Times New Roman"/>
              </a:rPr>
              <a:t>phía</a:t>
            </a:r>
            <a:r>
              <a:rPr sz="1500" b="0" i="0" u="none" dirty="0">
                <a:solidFill>
                  <a:srgbClr val="334155"/>
                </a:solidFill>
                <a:latin typeface="Times New Roman"/>
              </a:rPr>
              <a:t> </a:t>
            </a:r>
            <a:r>
              <a:rPr sz="1500" b="0" i="0" u="none" dirty="0" err="1">
                <a:solidFill>
                  <a:srgbClr val="334155"/>
                </a:solidFill>
                <a:latin typeface="Times New Roman"/>
              </a:rPr>
              <a:t>máy</a:t>
            </a:r>
            <a:r>
              <a:rPr sz="1500" b="0" i="0" u="none" dirty="0">
                <a:solidFill>
                  <a:srgbClr val="334155"/>
                </a:solidFill>
                <a:latin typeface="Times New Roman"/>
              </a:rPr>
              <a:t> </a:t>
            </a:r>
            <a:r>
              <a:rPr sz="1500" b="0" i="0" u="none" dirty="0" err="1">
                <a:solidFill>
                  <a:srgbClr val="334155"/>
                </a:solidFill>
                <a:latin typeface="Times New Roman"/>
              </a:rPr>
              <a:t>chủ</a:t>
            </a:r>
            <a:r>
              <a:rPr sz="1500" b="0" i="0" u="none" dirty="0">
                <a:solidFill>
                  <a:srgbClr val="334155"/>
                </a:solidFill>
                <a:latin typeface="Times New Roman"/>
              </a:rPr>
              <a:t> </a:t>
            </a:r>
            <a:r>
              <a:rPr sz="1500" b="0" i="0" u="none" dirty="0" err="1">
                <a:solidFill>
                  <a:srgbClr val="334155"/>
                </a:solidFill>
                <a:latin typeface="Times New Roman"/>
              </a:rPr>
              <a:t>bằng</a:t>
            </a:r>
            <a:r>
              <a:rPr sz="1500" b="0" i="0" u="none" dirty="0">
                <a:solidFill>
                  <a:srgbClr val="334155"/>
                </a:solidFill>
                <a:latin typeface="Times New Roman"/>
              </a:rPr>
              <a:t> </a:t>
            </a:r>
            <a:r>
              <a:rPr sz="1500" b="1" i="0" u="none" dirty="0">
                <a:solidFill>
                  <a:srgbClr val="334155"/>
                </a:solidFill>
                <a:latin typeface="Times New Roman"/>
              </a:rPr>
              <a:t>ASP.NET Core Web API (Backend)</a:t>
            </a:r>
            <a:r>
              <a:rPr sz="1500" b="0" i="0" u="none" dirty="0">
                <a:solidFill>
                  <a:srgbClr val="334155"/>
                </a:solidFill>
                <a:latin typeface="Times New Roman"/>
              </a:rPr>
              <a:t>.</a:t>
            </a:r>
          </a:p>
        </p:txBody>
      </p:sp>
      <p:sp>
        <p:nvSpPr>
          <p:cNvPr id="12" name="TextBox 11"/>
          <p:cNvSpPr txBox="1"/>
          <p:nvPr/>
        </p:nvSpPr>
        <p:spPr>
          <a:xfrm>
            <a:off x="6677025" y="4310062"/>
            <a:ext cx="4552950" cy="571500"/>
          </a:xfrm>
          <a:prstGeom prst="rect">
            <a:avLst/>
          </a:prstGeom>
          <a:noFill/>
        </p:spPr>
        <p:txBody>
          <a:bodyPr wrap="square" lIns="0" tIns="0" rIns="0" bIns="0" anchor="t">
            <a:spAutoFit/>
          </a:bodyPr>
          <a:lstStyle/>
          <a:p>
            <a:pPr algn="l">
              <a:lnSpc>
                <a:spcPts val="2250"/>
              </a:lnSpc>
            </a:pPr>
            <a:r>
              <a:rPr sz="1500" b="0" i="0" u="none">
                <a:solidFill>
                  <a:srgbClr val="334155"/>
                </a:solidFill>
                <a:latin typeface="Times New Roman"/>
              </a:rPr>
              <a:t>Áp dụng kiến trúc </a:t>
            </a:r>
            <a:r>
              <a:rPr sz="1500" b="1" i="0" u="none">
                <a:solidFill>
                  <a:srgbClr val="334155"/>
                </a:solidFill>
                <a:latin typeface="Times New Roman"/>
              </a:rPr>
              <a:t>MVC</a:t>
            </a:r>
            <a:r>
              <a:rPr sz="1500" b="0" i="0" u="none">
                <a:solidFill>
                  <a:srgbClr val="334155"/>
                </a:solidFill>
                <a:latin typeface="Times New Roman"/>
              </a:rPr>
              <a:t> để tổ chức mã nguồn và xử lý nghiệp vụ chặt chẽ, tối ưu hiệu suất.</a:t>
            </a:r>
          </a:p>
        </p:txBody>
      </p:sp>
      <p:pic>
        <p:nvPicPr>
          <p:cNvPr id="13" name="Picture 12" descr="image.png"/>
          <p:cNvPicPr>
            <a:picLocks noChangeAspect="1"/>
          </p:cNvPicPr>
          <p:nvPr/>
        </p:nvPicPr>
        <p:blipFill>
          <a:blip r:embed="rId5"/>
          <a:stretch>
            <a:fillRect/>
          </a:stretch>
        </p:blipFill>
        <p:spPr>
          <a:xfrm>
            <a:off x="962025" y="2890837"/>
            <a:ext cx="219075" cy="285750"/>
          </a:xfrm>
          <a:prstGeom prst="rect">
            <a:avLst/>
          </a:prstGeom>
        </p:spPr>
      </p:pic>
      <p:pic>
        <p:nvPicPr>
          <p:cNvPr id="14" name="Picture 13" descr="image.png"/>
          <p:cNvPicPr>
            <a:picLocks noChangeAspect="1"/>
          </p:cNvPicPr>
          <p:nvPr/>
        </p:nvPicPr>
        <p:blipFill>
          <a:blip r:embed="rId6"/>
          <a:stretch>
            <a:fillRect/>
          </a:stretch>
        </p:blipFill>
        <p:spPr>
          <a:xfrm>
            <a:off x="6677025" y="2890837"/>
            <a:ext cx="285750" cy="285750"/>
          </a:xfrm>
          <a:prstGeom prst="rect">
            <a:avLst/>
          </a:prstGeom>
        </p:spPr>
      </p:pic>
      <p:sp>
        <p:nvSpPr>
          <p:cNvPr id="15" name="TextBox 14"/>
          <p:cNvSpPr txBox="1"/>
          <p:nvPr/>
        </p:nvSpPr>
        <p:spPr>
          <a:xfrm>
            <a:off x="571500" y="571500"/>
            <a:ext cx="11601450" cy="523875"/>
          </a:xfrm>
          <a:prstGeom prst="rect">
            <a:avLst/>
          </a:prstGeom>
          <a:noFill/>
        </p:spPr>
        <p:txBody>
          <a:bodyPr wrap="square" lIns="0" tIns="0" rIns="0" bIns="0" anchor="t">
            <a:spAutoFit/>
          </a:bodyPr>
          <a:lstStyle/>
          <a:p>
            <a:pPr algn="l"/>
            <a:r>
              <a:rPr sz="3450" b="1" i="0" u="none">
                <a:solidFill>
                  <a:srgbClr val="1E293B"/>
                </a:solidFill>
                <a:latin typeface="Times New Roman"/>
              </a:rPr>
              <a:t>Nền tảng Ứng dụng &amp; Backend</a:t>
            </a:r>
          </a:p>
        </p:txBody>
      </p:sp>
      <p:sp>
        <p:nvSpPr>
          <p:cNvPr id="16" name="Rectangle 15"/>
          <p:cNvSpPr/>
          <p:nvPr/>
        </p:nvSpPr>
        <p:spPr>
          <a:xfrm>
            <a:off x="571500" y="1219200"/>
            <a:ext cx="11049000" cy="19050"/>
          </a:xfrm>
          <a:prstGeom prst="rect">
            <a:avLst/>
          </a:prstGeom>
          <a:solidFill>
            <a:srgbClr val="005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276475"/>
            <a:ext cx="5334000" cy="3352800"/>
          </a:xfrm>
          <a:prstGeom prst="rect">
            <a:avLst/>
          </a:prstGeom>
        </p:spPr>
      </p:pic>
      <p:pic>
        <p:nvPicPr>
          <p:cNvPr id="4" name="Picture 3" descr="image.png"/>
          <p:cNvPicPr>
            <a:picLocks noChangeAspect="1"/>
          </p:cNvPicPr>
          <p:nvPr/>
        </p:nvPicPr>
        <p:blipFill>
          <a:blip r:embed="rId4"/>
          <a:stretch>
            <a:fillRect/>
          </a:stretch>
        </p:blipFill>
        <p:spPr>
          <a:xfrm>
            <a:off x="6286500" y="2276475"/>
            <a:ext cx="5334000" cy="3352800"/>
          </a:xfrm>
          <a:prstGeom prst="rect">
            <a:avLst/>
          </a:prstGeom>
        </p:spPr>
      </p:pic>
      <p:sp>
        <p:nvSpPr>
          <p:cNvPr id="5" name="TextBox 4"/>
          <p:cNvSpPr txBox="1"/>
          <p:nvPr/>
        </p:nvSpPr>
        <p:spPr>
          <a:xfrm>
            <a:off x="962025" y="2667000"/>
            <a:ext cx="4780597" cy="333375"/>
          </a:xfrm>
          <a:prstGeom prst="rect">
            <a:avLst/>
          </a:prstGeom>
          <a:noFill/>
        </p:spPr>
        <p:txBody>
          <a:bodyPr wrap="square" lIns="342900" tIns="0" rIns="0" bIns="0" anchor="t">
            <a:spAutoFit/>
          </a:bodyPr>
          <a:lstStyle/>
          <a:p>
            <a:pPr algn="l"/>
            <a:r>
              <a:rPr sz="2250" b="1" i="0" u="none">
                <a:solidFill>
                  <a:srgbClr val="005088"/>
                </a:solidFill>
                <a:latin typeface="Times New Roman"/>
              </a:rPr>
              <a:t>Cơ sở dữ liệu</a:t>
            </a:r>
          </a:p>
        </p:txBody>
      </p:sp>
      <p:sp>
        <p:nvSpPr>
          <p:cNvPr id="6" name="Rectangle 5"/>
          <p:cNvSpPr/>
          <p:nvPr/>
        </p:nvSpPr>
        <p:spPr>
          <a:xfrm>
            <a:off x="962025" y="3133725"/>
            <a:ext cx="455295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2025" y="3381375"/>
            <a:ext cx="4552950" cy="285750"/>
          </a:xfrm>
          <a:prstGeom prst="rect">
            <a:avLst/>
          </a:prstGeom>
          <a:noFill/>
        </p:spPr>
        <p:txBody>
          <a:bodyPr wrap="square" lIns="0" tIns="0" rIns="0" bIns="0" anchor="t">
            <a:spAutoFit/>
          </a:bodyPr>
          <a:lstStyle/>
          <a:p>
            <a:pPr algn="l">
              <a:lnSpc>
                <a:spcPts val="2250"/>
              </a:lnSpc>
            </a:pPr>
            <a:r>
              <a:rPr sz="1500" b="0" i="0" u="none">
                <a:solidFill>
                  <a:srgbClr val="334155"/>
                </a:solidFill>
                <a:latin typeface="Times New Roman"/>
              </a:rPr>
              <a:t>Hệ quản trị CSDL quan hệ: </a:t>
            </a:r>
            <a:r>
              <a:rPr sz="1500" b="1" i="0" u="none">
                <a:solidFill>
                  <a:srgbClr val="334155"/>
                </a:solidFill>
                <a:latin typeface="Times New Roman"/>
              </a:rPr>
              <a:t>Microsoft SQL Server</a:t>
            </a:r>
            <a:r>
              <a:rPr sz="1500" b="0" i="0" u="none">
                <a:solidFill>
                  <a:srgbClr val="334155"/>
                </a:solidFill>
                <a:latin typeface="Times New Roman"/>
              </a:rPr>
              <a:t>.</a:t>
            </a:r>
          </a:p>
        </p:txBody>
      </p:sp>
      <p:sp>
        <p:nvSpPr>
          <p:cNvPr id="8" name="TextBox 7"/>
          <p:cNvSpPr txBox="1"/>
          <p:nvPr/>
        </p:nvSpPr>
        <p:spPr>
          <a:xfrm>
            <a:off x="962025" y="3810000"/>
            <a:ext cx="4552950" cy="571500"/>
          </a:xfrm>
          <a:prstGeom prst="rect">
            <a:avLst/>
          </a:prstGeom>
          <a:noFill/>
        </p:spPr>
        <p:txBody>
          <a:bodyPr wrap="square" lIns="0" tIns="0" rIns="0" bIns="0" anchor="t">
            <a:spAutoFit/>
          </a:bodyPr>
          <a:lstStyle/>
          <a:p>
            <a:pPr algn="l">
              <a:lnSpc>
                <a:spcPts val="2250"/>
              </a:lnSpc>
            </a:pPr>
            <a:r>
              <a:rPr sz="1500" b="0" i="0" u="none">
                <a:solidFill>
                  <a:srgbClr val="334155"/>
                </a:solidFill>
                <a:latin typeface="Times New Roman"/>
              </a:rPr>
              <a:t>Sử dụng </a:t>
            </a:r>
            <a:r>
              <a:rPr sz="1500" b="1" i="0" u="none">
                <a:solidFill>
                  <a:srgbClr val="334155"/>
                </a:solidFill>
                <a:latin typeface="Times New Roman"/>
              </a:rPr>
              <a:t>Entity Framework Core (ORM)</a:t>
            </a:r>
            <a:r>
              <a:rPr sz="1500" b="0" i="0" u="none">
                <a:solidFill>
                  <a:srgbClr val="334155"/>
                </a:solidFill>
                <a:latin typeface="Times New Roman"/>
              </a:rPr>
              <a:t> để truy vấn dữ liệu hiệu quả.</a:t>
            </a:r>
          </a:p>
        </p:txBody>
      </p:sp>
      <p:sp>
        <p:nvSpPr>
          <p:cNvPr id="9" name="TextBox 8"/>
          <p:cNvSpPr txBox="1"/>
          <p:nvPr/>
        </p:nvSpPr>
        <p:spPr>
          <a:xfrm>
            <a:off x="962025" y="4524375"/>
            <a:ext cx="4552950" cy="571500"/>
          </a:xfrm>
          <a:prstGeom prst="rect">
            <a:avLst/>
          </a:prstGeom>
          <a:noFill/>
        </p:spPr>
        <p:txBody>
          <a:bodyPr wrap="square" lIns="0" tIns="0" rIns="0" bIns="0" anchor="t">
            <a:spAutoFit/>
          </a:bodyPr>
          <a:lstStyle/>
          <a:p>
            <a:pPr algn="l">
              <a:lnSpc>
                <a:spcPts val="2250"/>
              </a:lnSpc>
            </a:pPr>
            <a:r>
              <a:rPr sz="1500" b="0" i="0" u="none" dirty="0">
                <a:solidFill>
                  <a:srgbClr val="334155"/>
                </a:solidFill>
                <a:latin typeface="Times New Roman"/>
              </a:rPr>
              <a:t>Bảo </a:t>
            </a:r>
            <a:r>
              <a:rPr sz="1500" b="0" i="0" u="none" dirty="0" err="1">
                <a:solidFill>
                  <a:srgbClr val="334155"/>
                </a:solidFill>
                <a:latin typeface="Times New Roman"/>
              </a:rPr>
              <a:t>mật</a:t>
            </a:r>
            <a:r>
              <a:rPr sz="1500" b="0" i="0" u="none" dirty="0">
                <a:solidFill>
                  <a:srgbClr val="334155"/>
                </a:solidFill>
                <a:latin typeface="Times New Roman"/>
              </a:rPr>
              <a:t> </a:t>
            </a:r>
            <a:r>
              <a:rPr sz="1500" b="0" i="0" u="none" dirty="0" err="1">
                <a:solidFill>
                  <a:srgbClr val="334155"/>
                </a:solidFill>
                <a:latin typeface="Times New Roman"/>
              </a:rPr>
              <a:t>xác</a:t>
            </a:r>
            <a:r>
              <a:rPr sz="1500" b="0" i="0" u="none" dirty="0">
                <a:solidFill>
                  <a:srgbClr val="334155"/>
                </a:solidFill>
                <a:latin typeface="Times New Roman"/>
              </a:rPr>
              <a:t> </a:t>
            </a:r>
            <a:r>
              <a:rPr sz="1500" b="0" i="0" u="none" dirty="0" err="1">
                <a:solidFill>
                  <a:srgbClr val="334155"/>
                </a:solidFill>
                <a:latin typeface="Times New Roman"/>
              </a:rPr>
              <a:t>thực</a:t>
            </a:r>
            <a:r>
              <a:rPr sz="1500" b="0" i="0" u="none" dirty="0">
                <a:solidFill>
                  <a:srgbClr val="334155"/>
                </a:solidFill>
                <a:latin typeface="Times New Roman"/>
              </a:rPr>
              <a:t> </a:t>
            </a:r>
            <a:r>
              <a:rPr sz="1500" b="0" i="0" u="none" dirty="0" err="1">
                <a:solidFill>
                  <a:srgbClr val="334155"/>
                </a:solidFill>
                <a:latin typeface="Times New Roman"/>
              </a:rPr>
              <a:t>người</a:t>
            </a:r>
            <a:r>
              <a:rPr sz="1500" b="0" i="0" u="none" dirty="0">
                <a:solidFill>
                  <a:srgbClr val="334155"/>
                </a:solidFill>
                <a:latin typeface="Times New Roman"/>
              </a:rPr>
              <a:t> </a:t>
            </a:r>
            <a:r>
              <a:rPr sz="1500" b="0" i="0" u="none" dirty="0" err="1">
                <a:solidFill>
                  <a:srgbClr val="334155"/>
                </a:solidFill>
                <a:latin typeface="Times New Roman"/>
              </a:rPr>
              <a:t>dùng</a:t>
            </a:r>
            <a:r>
              <a:rPr sz="1500" b="0" i="0" u="none" dirty="0">
                <a:solidFill>
                  <a:srgbClr val="334155"/>
                </a:solidFill>
                <a:latin typeface="Times New Roman"/>
              </a:rPr>
              <a:t> an </a:t>
            </a:r>
            <a:r>
              <a:rPr sz="1500" b="0" i="0" u="none" dirty="0" err="1">
                <a:solidFill>
                  <a:srgbClr val="334155"/>
                </a:solidFill>
                <a:latin typeface="Times New Roman"/>
              </a:rPr>
              <a:t>toàn</a:t>
            </a:r>
            <a:r>
              <a:rPr sz="1500" b="0" i="0" u="none" dirty="0">
                <a:solidFill>
                  <a:srgbClr val="334155"/>
                </a:solidFill>
                <a:latin typeface="Times New Roman"/>
              </a:rPr>
              <a:t> </a:t>
            </a:r>
            <a:r>
              <a:rPr sz="1500" b="0" i="0" u="none" dirty="0" err="1">
                <a:solidFill>
                  <a:srgbClr val="334155"/>
                </a:solidFill>
                <a:latin typeface="Times New Roman"/>
              </a:rPr>
              <a:t>bằng</a:t>
            </a:r>
            <a:r>
              <a:rPr sz="1500" b="0" i="0" u="none" dirty="0">
                <a:solidFill>
                  <a:srgbClr val="334155"/>
                </a:solidFill>
                <a:latin typeface="Times New Roman"/>
              </a:rPr>
              <a:t> </a:t>
            </a:r>
            <a:r>
              <a:rPr sz="1500" b="1" i="0" u="none" dirty="0">
                <a:solidFill>
                  <a:srgbClr val="334155"/>
                </a:solidFill>
                <a:latin typeface="Times New Roman"/>
              </a:rPr>
              <a:t>JSON Web Token (JWT)</a:t>
            </a:r>
            <a:r>
              <a:rPr sz="1500" b="0" i="0" u="none" dirty="0">
                <a:solidFill>
                  <a:srgbClr val="334155"/>
                </a:solidFill>
                <a:latin typeface="Times New Roman"/>
              </a:rPr>
              <a:t>.</a:t>
            </a:r>
          </a:p>
        </p:txBody>
      </p:sp>
      <p:sp>
        <p:nvSpPr>
          <p:cNvPr id="10" name="TextBox 9"/>
          <p:cNvSpPr txBox="1"/>
          <p:nvPr/>
        </p:nvSpPr>
        <p:spPr>
          <a:xfrm>
            <a:off x="6677025" y="2667000"/>
            <a:ext cx="4780597" cy="333375"/>
          </a:xfrm>
          <a:prstGeom prst="rect">
            <a:avLst/>
          </a:prstGeom>
          <a:noFill/>
        </p:spPr>
        <p:txBody>
          <a:bodyPr wrap="square" lIns="457200" tIns="0" rIns="0" bIns="0" anchor="t">
            <a:spAutoFit/>
          </a:bodyPr>
          <a:lstStyle/>
          <a:p>
            <a:pPr algn="l"/>
            <a:r>
              <a:rPr sz="2250" b="1" i="0" u="none">
                <a:solidFill>
                  <a:srgbClr val="005088"/>
                </a:solidFill>
                <a:latin typeface="Times New Roman"/>
              </a:rPr>
              <a:t>Tương tác &amp; Realtime</a:t>
            </a:r>
          </a:p>
        </p:txBody>
      </p:sp>
      <p:sp>
        <p:nvSpPr>
          <p:cNvPr id="11" name="Rectangle 10"/>
          <p:cNvSpPr/>
          <p:nvPr/>
        </p:nvSpPr>
        <p:spPr>
          <a:xfrm>
            <a:off x="6677025" y="3133725"/>
            <a:ext cx="455295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7025" y="3381375"/>
            <a:ext cx="4552950" cy="230832"/>
          </a:xfrm>
          <a:prstGeom prst="rect">
            <a:avLst/>
          </a:prstGeom>
          <a:noFill/>
        </p:spPr>
        <p:txBody>
          <a:bodyPr wrap="square" lIns="0" tIns="0" rIns="0" bIns="0" anchor="t">
            <a:spAutoFit/>
          </a:bodyPr>
          <a:lstStyle/>
          <a:p>
            <a:pPr>
              <a:lnSpc>
                <a:spcPct val="100000"/>
              </a:lnSpc>
            </a:pPr>
            <a:r>
              <a:rPr lang="en-US" sz="1500" dirty="0" err="1">
                <a:solidFill>
                  <a:srgbClr val="334155"/>
                </a:solidFill>
                <a:latin typeface="Times New Roman"/>
              </a:rPr>
              <a:t>Tích</a:t>
            </a:r>
            <a:r>
              <a:rPr lang="en-US" sz="1500" dirty="0">
                <a:solidFill>
                  <a:srgbClr val="334155"/>
                </a:solidFill>
                <a:latin typeface="Times New Roman"/>
              </a:rPr>
              <a:t> </a:t>
            </a:r>
            <a:r>
              <a:rPr lang="en-US" sz="1500" dirty="0" err="1">
                <a:solidFill>
                  <a:srgbClr val="334155"/>
                </a:solidFill>
                <a:latin typeface="Times New Roman"/>
              </a:rPr>
              <a:t>hợp</a:t>
            </a:r>
            <a:r>
              <a:rPr lang="en-US" sz="1500" dirty="0">
                <a:solidFill>
                  <a:srgbClr val="334155"/>
                </a:solidFill>
                <a:latin typeface="Times New Roman"/>
              </a:rPr>
              <a:t> </a:t>
            </a:r>
            <a:r>
              <a:rPr lang="en-US" sz="1500" dirty="0" err="1">
                <a:solidFill>
                  <a:srgbClr val="334155"/>
                </a:solidFill>
                <a:latin typeface="Times New Roman"/>
              </a:rPr>
              <a:t>tính</a:t>
            </a:r>
            <a:r>
              <a:rPr lang="en-US" sz="1500" dirty="0">
                <a:solidFill>
                  <a:srgbClr val="334155"/>
                </a:solidFill>
                <a:latin typeface="Times New Roman"/>
              </a:rPr>
              <a:t> </a:t>
            </a:r>
            <a:r>
              <a:rPr lang="en-US" sz="1500" dirty="0" err="1">
                <a:solidFill>
                  <a:srgbClr val="334155"/>
                </a:solidFill>
                <a:latin typeface="Times New Roman"/>
              </a:rPr>
              <a:t>năng</a:t>
            </a:r>
            <a:r>
              <a:rPr lang="en-US" sz="1500" dirty="0">
                <a:solidFill>
                  <a:srgbClr val="334155"/>
                </a:solidFill>
                <a:latin typeface="Times New Roman"/>
              </a:rPr>
              <a:t> </a:t>
            </a:r>
            <a:r>
              <a:rPr lang="en-US" sz="1500" b="1" dirty="0">
                <a:solidFill>
                  <a:srgbClr val="334155"/>
                </a:solidFill>
                <a:latin typeface="Times New Roman"/>
              </a:rPr>
              <a:t>chat </a:t>
            </a:r>
            <a:r>
              <a:rPr lang="en-US" sz="1500" b="1" dirty="0" err="1">
                <a:solidFill>
                  <a:srgbClr val="334155"/>
                </a:solidFill>
                <a:latin typeface="Times New Roman"/>
              </a:rPr>
              <a:t>realtime</a:t>
            </a:r>
            <a:r>
              <a:rPr lang="en-US" sz="1500" b="1" dirty="0">
                <a:solidFill>
                  <a:srgbClr val="334155"/>
                </a:solidFill>
                <a:latin typeface="Times New Roman"/>
              </a:rPr>
              <a:t> </a:t>
            </a:r>
            <a:r>
              <a:rPr lang="en-US" sz="1500" dirty="0" err="1">
                <a:solidFill>
                  <a:srgbClr val="334155"/>
                </a:solidFill>
                <a:latin typeface="Times New Roman"/>
              </a:rPr>
              <a:t>với</a:t>
            </a:r>
            <a:r>
              <a:rPr lang="en-US" sz="1500" dirty="0">
                <a:solidFill>
                  <a:srgbClr val="334155"/>
                </a:solidFill>
                <a:latin typeface="Times New Roman"/>
              </a:rPr>
              <a:t> Firebase </a:t>
            </a:r>
            <a:r>
              <a:rPr lang="en-US" sz="1500" dirty="0" err="1">
                <a:solidFill>
                  <a:srgbClr val="334155"/>
                </a:solidFill>
                <a:latin typeface="Times New Roman"/>
              </a:rPr>
              <a:t>Firestore</a:t>
            </a:r>
            <a:endParaRPr lang="en-US" sz="1500" dirty="0">
              <a:solidFill>
                <a:srgbClr val="334155"/>
              </a:solidFill>
              <a:latin typeface="Times New Roman"/>
            </a:endParaRPr>
          </a:p>
        </p:txBody>
      </p:sp>
      <p:sp>
        <p:nvSpPr>
          <p:cNvPr id="13" name="TextBox 12"/>
          <p:cNvSpPr txBox="1"/>
          <p:nvPr/>
        </p:nvSpPr>
        <p:spPr>
          <a:xfrm>
            <a:off x="6677025" y="3810000"/>
            <a:ext cx="4552950" cy="571500"/>
          </a:xfrm>
          <a:prstGeom prst="rect">
            <a:avLst/>
          </a:prstGeom>
          <a:noFill/>
        </p:spPr>
        <p:txBody>
          <a:bodyPr wrap="square" lIns="0" tIns="0" rIns="0" bIns="0" anchor="t">
            <a:spAutoFit/>
          </a:bodyPr>
          <a:lstStyle/>
          <a:p>
            <a:pPr algn="l">
              <a:lnSpc>
                <a:spcPts val="2250"/>
              </a:lnSpc>
            </a:pPr>
            <a:r>
              <a:rPr sz="1500" b="0" i="0" u="none" dirty="0" err="1">
                <a:solidFill>
                  <a:srgbClr val="334155"/>
                </a:solidFill>
                <a:latin typeface="Times New Roman"/>
              </a:rPr>
              <a:t>Tích</a:t>
            </a:r>
            <a:r>
              <a:rPr sz="1500" b="0" i="0" u="none" dirty="0">
                <a:solidFill>
                  <a:srgbClr val="334155"/>
                </a:solidFill>
                <a:latin typeface="Times New Roman"/>
              </a:rPr>
              <a:t> </a:t>
            </a:r>
            <a:r>
              <a:rPr sz="1500" b="0" i="0" u="none" dirty="0" err="1">
                <a:solidFill>
                  <a:srgbClr val="334155"/>
                </a:solidFill>
                <a:latin typeface="Times New Roman"/>
              </a:rPr>
              <a:t>hợp</a:t>
            </a:r>
            <a:r>
              <a:rPr sz="1500" b="0" i="0" u="none" dirty="0">
                <a:solidFill>
                  <a:srgbClr val="334155"/>
                </a:solidFill>
                <a:latin typeface="Times New Roman"/>
              </a:rPr>
              <a:t> </a:t>
            </a:r>
            <a:r>
              <a:rPr sz="1500" b="0" i="0" u="none" dirty="0" err="1">
                <a:solidFill>
                  <a:srgbClr val="334155"/>
                </a:solidFill>
                <a:latin typeface="Times New Roman"/>
              </a:rPr>
              <a:t>tính</a:t>
            </a:r>
            <a:r>
              <a:rPr sz="1500" b="0" i="0" u="none" dirty="0">
                <a:solidFill>
                  <a:srgbClr val="334155"/>
                </a:solidFill>
                <a:latin typeface="Times New Roman"/>
              </a:rPr>
              <a:t> </a:t>
            </a:r>
            <a:r>
              <a:rPr sz="1500" b="0" i="0" u="none" dirty="0" err="1">
                <a:solidFill>
                  <a:srgbClr val="334155"/>
                </a:solidFill>
                <a:latin typeface="Times New Roman"/>
              </a:rPr>
              <a:t>năng</a:t>
            </a:r>
            <a:r>
              <a:rPr lang="en-US" sz="1500" b="0" i="0" u="none" dirty="0">
                <a:solidFill>
                  <a:srgbClr val="334155"/>
                </a:solidFill>
                <a:latin typeface="Times New Roman"/>
              </a:rPr>
              <a:t> </a:t>
            </a:r>
            <a:r>
              <a:rPr sz="1500" b="1" i="0" u="none" dirty="0">
                <a:solidFill>
                  <a:srgbClr val="334155"/>
                </a:solidFill>
                <a:latin typeface="Times New Roman"/>
              </a:rPr>
              <a:t>Push Notifications</a:t>
            </a:r>
            <a:r>
              <a:rPr sz="1500" b="0" i="0" u="none" dirty="0">
                <a:solidFill>
                  <a:srgbClr val="334155"/>
                </a:solidFill>
                <a:latin typeface="Times New Roman"/>
              </a:rPr>
              <a:t> </a:t>
            </a:r>
            <a:r>
              <a:rPr sz="1500" b="0" i="0" u="none" dirty="0" err="1">
                <a:solidFill>
                  <a:srgbClr val="334155"/>
                </a:solidFill>
                <a:latin typeface="Times New Roman"/>
              </a:rPr>
              <a:t>với</a:t>
            </a:r>
            <a:r>
              <a:rPr sz="1500" b="0" i="0" u="none" dirty="0">
                <a:solidFill>
                  <a:srgbClr val="334155"/>
                </a:solidFill>
                <a:latin typeface="Times New Roman"/>
              </a:rPr>
              <a:t> Firebase Cloud Messaging.</a:t>
            </a:r>
          </a:p>
        </p:txBody>
      </p:sp>
      <p:pic>
        <p:nvPicPr>
          <p:cNvPr id="14" name="Picture 13" descr="image.png"/>
          <p:cNvPicPr>
            <a:picLocks noChangeAspect="1"/>
          </p:cNvPicPr>
          <p:nvPr/>
        </p:nvPicPr>
        <p:blipFill>
          <a:blip r:embed="rId5"/>
          <a:stretch>
            <a:fillRect/>
          </a:stretch>
        </p:blipFill>
        <p:spPr>
          <a:xfrm>
            <a:off x="962025" y="2676525"/>
            <a:ext cx="247650" cy="285750"/>
          </a:xfrm>
          <a:prstGeom prst="rect">
            <a:avLst/>
          </a:prstGeom>
        </p:spPr>
      </p:pic>
      <p:pic>
        <p:nvPicPr>
          <p:cNvPr id="15" name="Picture 14" descr="image.png"/>
          <p:cNvPicPr>
            <a:picLocks noChangeAspect="1"/>
          </p:cNvPicPr>
          <p:nvPr/>
        </p:nvPicPr>
        <p:blipFill>
          <a:blip r:embed="rId6"/>
          <a:stretch>
            <a:fillRect/>
          </a:stretch>
        </p:blipFill>
        <p:spPr>
          <a:xfrm>
            <a:off x="6677025" y="2676525"/>
            <a:ext cx="361950" cy="285750"/>
          </a:xfrm>
          <a:prstGeom prst="rect">
            <a:avLst/>
          </a:prstGeom>
        </p:spPr>
      </p:pic>
      <p:sp>
        <p:nvSpPr>
          <p:cNvPr id="16" name="TextBox 15"/>
          <p:cNvSpPr txBox="1"/>
          <p:nvPr/>
        </p:nvSpPr>
        <p:spPr>
          <a:xfrm>
            <a:off x="571500" y="571500"/>
            <a:ext cx="11601450" cy="523875"/>
          </a:xfrm>
          <a:prstGeom prst="rect">
            <a:avLst/>
          </a:prstGeom>
          <a:noFill/>
        </p:spPr>
        <p:txBody>
          <a:bodyPr wrap="square" lIns="0" tIns="0" rIns="0" bIns="0" anchor="t">
            <a:spAutoFit/>
          </a:bodyPr>
          <a:lstStyle/>
          <a:p>
            <a:pPr algn="l"/>
            <a:r>
              <a:rPr sz="3450" b="1" i="0" u="none">
                <a:solidFill>
                  <a:srgbClr val="1E293B"/>
                </a:solidFill>
                <a:latin typeface="Times New Roman"/>
              </a:rPr>
              <a:t>Cơ sở Dữ liệu &amp; Tương tác</a:t>
            </a:r>
          </a:p>
        </p:txBody>
      </p:sp>
      <p:sp>
        <p:nvSpPr>
          <p:cNvPr id="17" name="Rectangle 16"/>
          <p:cNvSpPr/>
          <p:nvPr/>
        </p:nvSpPr>
        <p:spPr>
          <a:xfrm>
            <a:off x="571500" y="1219200"/>
            <a:ext cx="11049000" cy="19050"/>
          </a:xfrm>
          <a:prstGeom prst="rect">
            <a:avLst/>
          </a:prstGeom>
          <a:solidFill>
            <a:srgbClr val="005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7342337E-B3B0-8735-9F89-34EFA16191C4}"/>
              </a:ext>
            </a:extLst>
          </p:cNvPr>
          <p:cNvSpPr txBox="1"/>
          <p:nvPr/>
        </p:nvSpPr>
        <p:spPr>
          <a:xfrm>
            <a:off x="6677025" y="4579293"/>
            <a:ext cx="4552950" cy="230832"/>
          </a:xfrm>
          <a:prstGeom prst="rect">
            <a:avLst/>
          </a:prstGeom>
          <a:noFill/>
        </p:spPr>
        <p:txBody>
          <a:bodyPr wrap="square" lIns="0" tIns="0" rIns="0" bIns="0" anchor="t">
            <a:spAutoFit/>
          </a:bodyPr>
          <a:lstStyle/>
          <a:p>
            <a:pPr>
              <a:lnSpc>
                <a:spcPct val="100000"/>
              </a:lnSpc>
            </a:pPr>
            <a:r>
              <a:rPr lang="en-US" sz="1500" dirty="0" err="1">
                <a:solidFill>
                  <a:srgbClr val="334155"/>
                </a:solidFill>
                <a:latin typeface="Times New Roman"/>
              </a:rPr>
              <a:t>Tích</a:t>
            </a:r>
            <a:r>
              <a:rPr lang="en-US" sz="1500" dirty="0">
                <a:solidFill>
                  <a:srgbClr val="334155"/>
                </a:solidFill>
                <a:latin typeface="Times New Roman"/>
              </a:rPr>
              <a:t> </a:t>
            </a:r>
            <a:r>
              <a:rPr lang="en-US" sz="1500" dirty="0" err="1">
                <a:solidFill>
                  <a:srgbClr val="334155"/>
                </a:solidFill>
                <a:latin typeface="Times New Roman"/>
              </a:rPr>
              <a:t>hợp</a:t>
            </a:r>
            <a:r>
              <a:rPr lang="en-US" sz="1500" dirty="0">
                <a:solidFill>
                  <a:srgbClr val="334155"/>
                </a:solidFill>
                <a:latin typeface="Times New Roman"/>
              </a:rPr>
              <a:t> </a:t>
            </a:r>
            <a:r>
              <a:rPr lang="en-US" sz="1500" dirty="0" err="1">
                <a:solidFill>
                  <a:srgbClr val="334155"/>
                </a:solidFill>
                <a:latin typeface="Times New Roman"/>
              </a:rPr>
              <a:t>tính</a:t>
            </a:r>
            <a:r>
              <a:rPr lang="en-US" sz="1500" dirty="0">
                <a:solidFill>
                  <a:srgbClr val="334155"/>
                </a:solidFill>
                <a:latin typeface="Times New Roman"/>
              </a:rPr>
              <a:t> </a:t>
            </a:r>
            <a:r>
              <a:rPr lang="en-US" sz="1500" dirty="0" err="1">
                <a:solidFill>
                  <a:srgbClr val="334155"/>
                </a:solidFill>
                <a:latin typeface="Times New Roman"/>
              </a:rPr>
              <a:t>năng</a:t>
            </a:r>
            <a:r>
              <a:rPr lang="en-US" sz="1500" dirty="0">
                <a:solidFill>
                  <a:srgbClr val="334155"/>
                </a:solidFill>
                <a:latin typeface="Times New Roman"/>
              </a:rPr>
              <a:t> </a:t>
            </a:r>
            <a:r>
              <a:rPr lang="en-US" sz="1500" b="1" dirty="0" err="1">
                <a:solidFill>
                  <a:srgbClr val="334155"/>
                </a:solidFill>
                <a:latin typeface="Times New Roman"/>
              </a:rPr>
              <a:t>lưu</a:t>
            </a:r>
            <a:r>
              <a:rPr lang="en-US" sz="1500" b="1" dirty="0">
                <a:solidFill>
                  <a:srgbClr val="334155"/>
                </a:solidFill>
                <a:latin typeface="Times New Roman"/>
              </a:rPr>
              <a:t> </a:t>
            </a:r>
            <a:r>
              <a:rPr lang="en-US" sz="1500" b="1" dirty="0" err="1">
                <a:solidFill>
                  <a:srgbClr val="334155"/>
                </a:solidFill>
                <a:latin typeface="Times New Roman"/>
              </a:rPr>
              <a:t>trữ</a:t>
            </a:r>
            <a:r>
              <a:rPr lang="en-US" sz="1500" b="1" dirty="0">
                <a:solidFill>
                  <a:srgbClr val="334155"/>
                </a:solidFill>
                <a:latin typeface="Times New Roman"/>
              </a:rPr>
              <a:t> </a:t>
            </a:r>
            <a:r>
              <a:rPr lang="en-US" sz="1500" b="1" dirty="0" err="1">
                <a:solidFill>
                  <a:srgbClr val="334155"/>
                </a:solidFill>
                <a:latin typeface="Times New Roman"/>
              </a:rPr>
              <a:t>tệp</a:t>
            </a:r>
            <a:r>
              <a:rPr lang="en-US" sz="1500" b="1" dirty="0">
                <a:solidFill>
                  <a:srgbClr val="334155"/>
                </a:solidFill>
                <a:latin typeface="Times New Roman"/>
              </a:rPr>
              <a:t> </a:t>
            </a:r>
            <a:r>
              <a:rPr lang="en-US" sz="1500" dirty="0" err="1">
                <a:solidFill>
                  <a:srgbClr val="334155"/>
                </a:solidFill>
                <a:latin typeface="Times New Roman"/>
              </a:rPr>
              <a:t>với</a:t>
            </a:r>
            <a:r>
              <a:rPr lang="en-US" sz="1500" dirty="0">
                <a:solidFill>
                  <a:srgbClr val="334155"/>
                </a:solidFill>
                <a:latin typeface="Times New Roman"/>
              </a:rPr>
              <a:t> Firebase Storage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762000"/>
            <a:ext cx="5200650" cy="1028700"/>
          </a:xfrm>
          <a:prstGeom prst="rect">
            <a:avLst/>
          </a:prstGeom>
          <a:noFill/>
        </p:spPr>
        <p:txBody>
          <a:bodyPr wrap="square" lIns="0" tIns="0" rIns="0" bIns="0" anchor="t">
            <a:spAutoFit/>
          </a:bodyPr>
          <a:lstStyle/>
          <a:p>
            <a:pPr algn="l"/>
            <a:r>
              <a:rPr sz="3450" b="1" i="0" u="none">
                <a:solidFill>
                  <a:srgbClr val="1E293B"/>
                </a:solidFill>
                <a:latin typeface="Times New Roman"/>
              </a:rPr>
              <a:t>Tích hợp Trí tuệ Nhân tạo (AI)</a:t>
            </a:r>
          </a:p>
        </p:txBody>
      </p:sp>
      <p:sp>
        <p:nvSpPr>
          <p:cNvPr id="4" name="Rectangle 3"/>
          <p:cNvSpPr/>
          <p:nvPr/>
        </p:nvSpPr>
        <p:spPr>
          <a:xfrm>
            <a:off x="571500" y="1914525"/>
            <a:ext cx="4953000" cy="19050"/>
          </a:xfrm>
          <a:prstGeom prst="rect">
            <a:avLst/>
          </a:prstGeom>
          <a:solidFill>
            <a:srgbClr val="005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6096000" y="0"/>
            <a:ext cx="6096000" cy="6858000"/>
          </a:xfrm>
          <a:prstGeom prst="rect">
            <a:avLst/>
          </a:prstGeom>
        </p:spPr>
      </p:pic>
      <p:sp>
        <p:nvSpPr>
          <p:cNvPr id="6" name="TextBox 5"/>
          <p:cNvSpPr txBox="1"/>
          <p:nvPr/>
        </p:nvSpPr>
        <p:spPr>
          <a:xfrm>
            <a:off x="571500" y="3090862"/>
            <a:ext cx="5200650" cy="323850"/>
          </a:xfrm>
          <a:prstGeom prst="rect">
            <a:avLst/>
          </a:prstGeom>
          <a:noFill/>
        </p:spPr>
        <p:txBody>
          <a:bodyPr wrap="square" lIns="0" tIns="0" rIns="0" bIns="0" anchor="t">
            <a:spAutoFit/>
          </a:bodyPr>
          <a:lstStyle/>
          <a:p>
            <a:pPr algn="l"/>
            <a:r>
              <a:rPr sz="2250" b="1" i="0" u="none">
                <a:solidFill>
                  <a:srgbClr val="005088"/>
                </a:solidFill>
                <a:latin typeface="Times New Roman"/>
              </a:rPr>
              <a:t>Trợ lý AI thông minh</a:t>
            </a:r>
          </a:p>
        </p:txBody>
      </p:sp>
      <p:sp>
        <p:nvSpPr>
          <p:cNvPr id="7" name="TextBox 6"/>
          <p:cNvSpPr txBox="1"/>
          <p:nvPr/>
        </p:nvSpPr>
        <p:spPr>
          <a:xfrm>
            <a:off x="571500" y="3557587"/>
            <a:ext cx="4953000" cy="285750"/>
          </a:xfrm>
          <a:prstGeom prst="rect">
            <a:avLst/>
          </a:prstGeom>
          <a:noFill/>
        </p:spPr>
        <p:txBody>
          <a:bodyPr wrap="square" lIns="0" tIns="0" rIns="0" bIns="0" anchor="t">
            <a:spAutoFit/>
          </a:bodyPr>
          <a:lstStyle/>
          <a:p>
            <a:pPr algn="l">
              <a:lnSpc>
                <a:spcPts val="2250"/>
              </a:lnSpc>
            </a:pPr>
            <a:r>
              <a:rPr sz="1500" b="0" i="0" u="none">
                <a:solidFill>
                  <a:srgbClr val="334155"/>
                </a:solidFill>
                <a:latin typeface="Times New Roman"/>
              </a:rPr>
              <a:t>Kết nối và giao tiếp với </a:t>
            </a:r>
            <a:r>
              <a:rPr sz="1500" b="1" i="0" u="none">
                <a:solidFill>
                  <a:srgbClr val="334155"/>
                </a:solidFill>
                <a:latin typeface="Times New Roman"/>
              </a:rPr>
              <a:t>Mô hình ngôn ngữ lớn (LLM API)</a:t>
            </a:r>
            <a:r>
              <a:rPr sz="1500" b="0" i="0" u="none">
                <a:solidFill>
                  <a:srgbClr val="334155"/>
                </a:solidFill>
                <a:latin typeface="Times New Roman"/>
              </a:rPr>
              <a:t>.</a:t>
            </a:r>
          </a:p>
        </p:txBody>
      </p:sp>
      <p:sp>
        <p:nvSpPr>
          <p:cNvPr id="8" name="TextBox 7"/>
          <p:cNvSpPr txBox="1"/>
          <p:nvPr/>
        </p:nvSpPr>
        <p:spPr>
          <a:xfrm>
            <a:off x="571500" y="3986212"/>
            <a:ext cx="4953000" cy="857250"/>
          </a:xfrm>
          <a:prstGeom prst="rect">
            <a:avLst/>
          </a:prstGeom>
          <a:noFill/>
        </p:spPr>
        <p:txBody>
          <a:bodyPr wrap="square" lIns="0" tIns="0" rIns="0" bIns="0" anchor="t">
            <a:spAutoFit/>
          </a:bodyPr>
          <a:lstStyle/>
          <a:p>
            <a:pPr algn="l">
              <a:lnSpc>
                <a:spcPts val="2250"/>
              </a:lnSpc>
            </a:pPr>
            <a:r>
              <a:rPr sz="1500" b="0" i="0" u="none">
                <a:solidFill>
                  <a:srgbClr val="334155"/>
                </a:solidFill>
                <a:latin typeface="Times New Roman"/>
              </a:rPr>
              <a:t>Hệ thống AI xử lý ngôn ngữ tự nhiên từ dữ liệu đầu vào của sinh viên, từ đó </a:t>
            </a:r>
            <a:r>
              <a:rPr sz="1500" b="1" i="0" u="none">
                <a:solidFill>
                  <a:srgbClr val="334155"/>
                </a:solidFill>
                <a:latin typeface="Times New Roman"/>
              </a:rPr>
              <a:t>gợi ý ý tưởng đề tài</a:t>
            </a:r>
            <a:r>
              <a:rPr sz="1500" b="0" i="0" u="none">
                <a:solidFill>
                  <a:srgbClr val="334155"/>
                </a:solidFill>
                <a:latin typeface="Times New Roman"/>
              </a:rPr>
              <a:t> bám sát với định hướng chuyên môn.</a:t>
            </a:r>
          </a:p>
        </p:txBody>
      </p:sp>
      <p:sp>
        <p:nvSpPr>
          <p:cNvPr id="9" name="TextBox 8"/>
          <p:cNvSpPr txBox="1"/>
          <p:nvPr/>
        </p:nvSpPr>
        <p:spPr>
          <a:xfrm>
            <a:off x="571500" y="4986337"/>
            <a:ext cx="4953000" cy="571500"/>
          </a:xfrm>
          <a:prstGeom prst="rect">
            <a:avLst/>
          </a:prstGeom>
          <a:noFill/>
        </p:spPr>
        <p:txBody>
          <a:bodyPr wrap="square" lIns="0" tIns="0" rIns="0" bIns="0" anchor="t">
            <a:spAutoFit/>
          </a:bodyPr>
          <a:lstStyle/>
          <a:p>
            <a:pPr algn="l">
              <a:lnSpc>
                <a:spcPts val="2250"/>
              </a:lnSpc>
            </a:pPr>
            <a:r>
              <a:rPr sz="1500" b="0" i="0" u="none">
                <a:solidFill>
                  <a:srgbClr val="334155"/>
                </a:solidFill>
                <a:latin typeface="Times New Roman"/>
              </a:rPr>
              <a:t>Hỗ trợ </a:t>
            </a:r>
            <a:r>
              <a:rPr sz="1500" b="1" i="0" u="none">
                <a:solidFill>
                  <a:srgbClr val="334155"/>
                </a:solidFill>
                <a:latin typeface="Times New Roman"/>
              </a:rPr>
              <a:t>chuẩn hóa văn bản đề xuất</a:t>
            </a:r>
            <a:r>
              <a:rPr sz="1500" b="0" i="0" u="none">
                <a:solidFill>
                  <a:srgbClr val="334155"/>
                </a:solidFill>
                <a:latin typeface="Times New Roman"/>
              </a:rPr>
              <a:t> (chuẩn format) trước khi trình lên Giảng viên xét duyệt.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762125" y="2809875"/>
            <a:ext cx="9096375" cy="314325"/>
          </a:xfrm>
          <a:prstGeom prst="rect">
            <a:avLst/>
          </a:prstGeom>
          <a:noFill/>
        </p:spPr>
        <p:txBody>
          <a:bodyPr wrap="square" lIns="0" tIns="0" rIns="0" bIns="0" anchor="t">
            <a:spAutoFit/>
          </a:bodyPr>
          <a:lstStyle/>
          <a:p>
            <a:pPr algn="l">
              <a:lnSpc>
                <a:spcPts val="2475"/>
              </a:lnSpc>
            </a:pPr>
            <a:r>
              <a:rPr sz="1650" b="1" i="0" u="none">
                <a:solidFill>
                  <a:srgbClr val="1E293B"/>
                </a:solidFill>
                <a:latin typeface="Times New Roman"/>
              </a:rPr>
              <a:t>Thiết lập đợt đăng ký đồ án:</a:t>
            </a:r>
            <a:r>
              <a:rPr sz="1650" b="0" i="0" u="none">
                <a:solidFill>
                  <a:srgbClr val="334155"/>
                </a:solidFill>
                <a:latin typeface="Times New Roman"/>
              </a:rPr>
              <a:t> Cấu hình linh hoạt thời gian mở/đóng đợt đăng ký cho từng học kỳ.</a:t>
            </a:r>
          </a:p>
        </p:txBody>
      </p:sp>
      <p:sp>
        <p:nvSpPr>
          <p:cNvPr id="4" name="TextBox 3"/>
          <p:cNvSpPr txBox="1"/>
          <p:nvPr/>
        </p:nvSpPr>
        <p:spPr>
          <a:xfrm>
            <a:off x="1762125" y="3362325"/>
            <a:ext cx="9096375" cy="628650"/>
          </a:xfrm>
          <a:prstGeom prst="rect">
            <a:avLst/>
          </a:prstGeom>
          <a:noFill/>
        </p:spPr>
        <p:txBody>
          <a:bodyPr wrap="square" lIns="0" tIns="0" rIns="0" bIns="0" anchor="t">
            <a:spAutoFit/>
          </a:bodyPr>
          <a:lstStyle/>
          <a:p>
            <a:pPr algn="l">
              <a:lnSpc>
                <a:spcPts val="2475"/>
              </a:lnSpc>
            </a:pPr>
            <a:r>
              <a:rPr sz="1650" b="1" i="0" u="none">
                <a:solidFill>
                  <a:srgbClr val="1E293B"/>
                </a:solidFill>
                <a:latin typeface="Times New Roman"/>
              </a:rPr>
              <a:t>Ràng buộc thành viên linh hoạt:</a:t>
            </a:r>
            <a:r>
              <a:rPr sz="1650" b="0" i="0" u="none">
                <a:solidFill>
                  <a:srgbClr val="334155"/>
                </a:solidFill>
                <a:latin typeface="Times New Roman"/>
              </a:rPr>
              <a:t> Hệ thống tự động kiểm soát số lượng thành viên tối thiểu và tối đa (Min/Max).</a:t>
            </a:r>
          </a:p>
        </p:txBody>
      </p:sp>
      <p:sp>
        <p:nvSpPr>
          <p:cNvPr id="5" name="TextBox 4"/>
          <p:cNvSpPr txBox="1"/>
          <p:nvPr/>
        </p:nvSpPr>
        <p:spPr>
          <a:xfrm>
            <a:off x="1762125" y="4229100"/>
            <a:ext cx="9096375" cy="628650"/>
          </a:xfrm>
          <a:prstGeom prst="rect">
            <a:avLst/>
          </a:prstGeom>
          <a:noFill/>
        </p:spPr>
        <p:txBody>
          <a:bodyPr wrap="square" lIns="0" tIns="0" rIns="0" bIns="0" anchor="t">
            <a:spAutoFit/>
          </a:bodyPr>
          <a:lstStyle/>
          <a:p>
            <a:pPr algn="l">
              <a:lnSpc>
                <a:spcPts val="2475"/>
              </a:lnSpc>
            </a:pPr>
            <a:r>
              <a:rPr sz="1650" b="1" i="0" u="none">
                <a:solidFill>
                  <a:srgbClr val="1E293B"/>
                </a:solidFill>
                <a:latin typeface="Times New Roman"/>
              </a:rPr>
              <a:t>Xét duyệt đề tài đồ án:</a:t>
            </a:r>
            <a:r>
              <a:rPr sz="1650" b="0" i="0" u="none">
                <a:solidFill>
                  <a:srgbClr val="334155"/>
                </a:solidFill>
                <a:latin typeface="Times New Roman"/>
              </a:rPr>
              <a:t> Quy trình số hóa cho phép sinh viên nộp bản đề xuất trực tuyến và chờ Giảng viên đánh giá, phê duyệt.</a:t>
            </a:r>
          </a:p>
        </p:txBody>
      </p:sp>
      <p:pic>
        <p:nvPicPr>
          <p:cNvPr id="6" name="Picture 5" descr="image.png"/>
          <p:cNvPicPr>
            <a:picLocks noChangeAspect="1"/>
          </p:cNvPicPr>
          <p:nvPr/>
        </p:nvPicPr>
        <p:blipFill>
          <a:blip r:embed="rId3"/>
          <a:stretch>
            <a:fillRect/>
          </a:stretch>
        </p:blipFill>
        <p:spPr>
          <a:xfrm>
            <a:off x="1333500" y="2838450"/>
            <a:ext cx="200025" cy="247650"/>
          </a:xfrm>
          <a:prstGeom prst="rect">
            <a:avLst/>
          </a:prstGeom>
        </p:spPr>
      </p:pic>
      <p:pic>
        <p:nvPicPr>
          <p:cNvPr id="7" name="Picture 6" descr="image.png"/>
          <p:cNvPicPr>
            <a:picLocks noChangeAspect="1"/>
          </p:cNvPicPr>
          <p:nvPr/>
        </p:nvPicPr>
        <p:blipFill>
          <a:blip r:embed="rId4"/>
          <a:stretch>
            <a:fillRect/>
          </a:stretch>
        </p:blipFill>
        <p:spPr>
          <a:xfrm>
            <a:off x="1333500" y="3390900"/>
            <a:ext cx="285750" cy="247650"/>
          </a:xfrm>
          <a:prstGeom prst="rect">
            <a:avLst/>
          </a:prstGeom>
        </p:spPr>
      </p:pic>
      <p:pic>
        <p:nvPicPr>
          <p:cNvPr id="8" name="Picture 7" descr="image.png"/>
          <p:cNvPicPr>
            <a:picLocks noChangeAspect="1"/>
          </p:cNvPicPr>
          <p:nvPr/>
        </p:nvPicPr>
        <p:blipFill>
          <a:blip r:embed="rId5"/>
          <a:stretch>
            <a:fillRect/>
          </a:stretch>
        </p:blipFill>
        <p:spPr>
          <a:xfrm>
            <a:off x="1333500" y="4257675"/>
            <a:ext cx="257175" cy="247650"/>
          </a:xfrm>
          <a:prstGeom prst="rect">
            <a:avLst/>
          </a:prstGeom>
        </p:spPr>
      </p:pic>
      <p:sp>
        <p:nvSpPr>
          <p:cNvPr id="9" name="TextBox 8"/>
          <p:cNvSpPr txBox="1"/>
          <p:nvPr/>
        </p:nvSpPr>
        <p:spPr>
          <a:xfrm>
            <a:off x="571500" y="571500"/>
            <a:ext cx="11601450" cy="523875"/>
          </a:xfrm>
          <a:prstGeom prst="rect">
            <a:avLst/>
          </a:prstGeom>
          <a:noFill/>
        </p:spPr>
        <p:txBody>
          <a:bodyPr wrap="square" lIns="0" tIns="0" rIns="0" bIns="0" anchor="t">
            <a:spAutoFit/>
          </a:bodyPr>
          <a:lstStyle/>
          <a:p>
            <a:pPr algn="l"/>
            <a:r>
              <a:rPr sz="3450" b="1" i="0" u="none">
                <a:solidFill>
                  <a:srgbClr val="1E293B"/>
                </a:solidFill>
                <a:latin typeface="Times New Roman"/>
              </a:rPr>
              <a:t>Chức năng Cốt lõi: Đăng ký Nhóm &amp; Đồ án</a:t>
            </a:r>
          </a:p>
        </p:txBody>
      </p:sp>
      <p:sp>
        <p:nvSpPr>
          <p:cNvPr id="10" name="Rectangle 9"/>
          <p:cNvSpPr/>
          <p:nvPr/>
        </p:nvSpPr>
        <p:spPr>
          <a:xfrm>
            <a:off x="571500" y="1219200"/>
            <a:ext cx="11049000" cy="19050"/>
          </a:xfrm>
          <a:prstGeom prst="rect">
            <a:avLst/>
          </a:prstGeom>
          <a:solidFill>
            <a:srgbClr val="005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81750" y="2047875"/>
            <a:ext cx="5238750" cy="3810000"/>
          </a:xfrm>
          <a:prstGeom prst="rect">
            <a:avLst/>
          </a:prstGeom>
        </p:spPr>
      </p:pic>
      <p:sp>
        <p:nvSpPr>
          <p:cNvPr id="4" name="TextBox 3"/>
          <p:cNvSpPr txBox="1"/>
          <p:nvPr/>
        </p:nvSpPr>
        <p:spPr>
          <a:xfrm>
            <a:off x="571500" y="2190750"/>
            <a:ext cx="5500687" cy="323850"/>
          </a:xfrm>
          <a:prstGeom prst="rect">
            <a:avLst/>
          </a:prstGeom>
          <a:noFill/>
        </p:spPr>
        <p:txBody>
          <a:bodyPr wrap="square" lIns="0" tIns="0" rIns="0" bIns="0" anchor="t">
            <a:spAutoFit/>
          </a:bodyPr>
          <a:lstStyle/>
          <a:p>
            <a:pPr algn="l"/>
            <a:r>
              <a:rPr sz="2250" b="1" i="0" u="none">
                <a:solidFill>
                  <a:srgbClr val="1E293B"/>
                </a:solidFill>
                <a:latin typeface="Times New Roman"/>
              </a:rPr>
              <a:t>Tương tác nội bộ</a:t>
            </a:r>
          </a:p>
        </p:txBody>
      </p:sp>
      <p:sp>
        <p:nvSpPr>
          <p:cNvPr id="5" name="TextBox 4"/>
          <p:cNvSpPr txBox="1"/>
          <p:nvPr/>
        </p:nvSpPr>
        <p:spPr>
          <a:xfrm>
            <a:off x="571500" y="4286250"/>
            <a:ext cx="5500687" cy="323850"/>
          </a:xfrm>
          <a:prstGeom prst="rect">
            <a:avLst/>
          </a:prstGeom>
          <a:noFill/>
        </p:spPr>
        <p:txBody>
          <a:bodyPr wrap="square" lIns="0" tIns="0" rIns="0" bIns="0" anchor="t">
            <a:spAutoFit/>
          </a:bodyPr>
          <a:lstStyle/>
          <a:p>
            <a:pPr algn="l"/>
            <a:r>
              <a:rPr sz="2250" b="1" i="0" u="none">
                <a:solidFill>
                  <a:srgbClr val="1E293B"/>
                </a:solidFill>
                <a:latin typeface="Times New Roman"/>
              </a:rPr>
              <a:t>Quản lý dữ liệu</a:t>
            </a:r>
          </a:p>
        </p:txBody>
      </p:sp>
      <p:sp>
        <p:nvSpPr>
          <p:cNvPr id="6" name="TextBox 5"/>
          <p:cNvSpPr txBox="1"/>
          <p:nvPr/>
        </p:nvSpPr>
        <p:spPr>
          <a:xfrm>
            <a:off x="809625" y="2667000"/>
            <a:ext cx="5000625" cy="571500"/>
          </a:xfrm>
          <a:prstGeom prst="rect">
            <a:avLst/>
          </a:prstGeom>
          <a:noFill/>
        </p:spPr>
        <p:txBody>
          <a:bodyPr wrap="square" lIns="0" tIns="0" rIns="0" bIns="0" anchor="t">
            <a:spAutoFit/>
          </a:bodyPr>
          <a:lstStyle/>
          <a:p>
            <a:pPr algn="l">
              <a:lnSpc>
                <a:spcPts val="2250"/>
              </a:lnSpc>
            </a:pPr>
            <a:r>
              <a:rPr sz="1500" b="1" i="0" u="none">
                <a:solidFill>
                  <a:srgbClr val="334155"/>
                </a:solidFill>
                <a:latin typeface="Times New Roman"/>
              </a:rPr>
              <a:t>Mini Chat:</a:t>
            </a:r>
            <a:r>
              <a:rPr sz="1500" b="0" i="0" u="none">
                <a:solidFill>
                  <a:srgbClr val="334155"/>
                </a:solidFill>
                <a:latin typeface="Times New Roman"/>
              </a:rPr>
              <a:t> Không gian trao đổi, thảo luận trực tiếp giữa các thành viên trong nhóm làm đồ án.</a:t>
            </a:r>
          </a:p>
        </p:txBody>
      </p:sp>
      <p:sp>
        <p:nvSpPr>
          <p:cNvPr id="7" name="TextBox 6"/>
          <p:cNvSpPr txBox="1"/>
          <p:nvPr/>
        </p:nvSpPr>
        <p:spPr>
          <a:xfrm>
            <a:off x="809625" y="3429000"/>
            <a:ext cx="5000625" cy="571500"/>
          </a:xfrm>
          <a:prstGeom prst="rect">
            <a:avLst/>
          </a:prstGeom>
          <a:noFill/>
        </p:spPr>
        <p:txBody>
          <a:bodyPr wrap="square" lIns="0" tIns="0" rIns="0" bIns="0" anchor="t">
            <a:spAutoFit/>
          </a:bodyPr>
          <a:lstStyle/>
          <a:p>
            <a:pPr algn="l">
              <a:lnSpc>
                <a:spcPts val="2250"/>
              </a:lnSpc>
            </a:pPr>
            <a:r>
              <a:rPr sz="1500" b="1" i="0" u="none">
                <a:solidFill>
                  <a:srgbClr val="334155"/>
                </a:solidFill>
                <a:latin typeface="Times New Roman"/>
              </a:rPr>
              <a:t>Thông báo hệ thống:</a:t>
            </a:r>
            <a:r>
              <a:rPr sz="1500" b="0" i="0" u="none">
                <a:solidFill>
                  <a:srgbClr val="334155"/>
                </a:solidFill>
                <a:latin typeface="Times New Roman"/>
              </a:rPr>
              <a:t> Cập nhật trạng thái duyệt đề tài và tin nhắn nội bộ theo thời gian thực (Realtime).</a:t>
            </a:r>
          </a:p>
        </p:txBody>
      </p:sp>
      <p:sp>
        <p:nvSpPr>
          <p:cNvPr id="8" name="TextBox 7"/>
          <p:cNvSpPr txBox="1"/>
          <p:nvPr/>
        </p:nvSpPr>
        <p:spPr>
          <a:xfrm>
            <a:off x="809625" y="4762500"/>
            <a:ext cx="5000625" cy="285750"/>
          </a:xfrm>
          <a:prstGeom prst="rect">
            <a:avLst/>
          </a:prstGeom>
          <a:noFill/>
        </p:spPr>
        <p:txBody>
          <a:bodyPr wrap="square" lIns="0" tIns="0" rIns="0" bIns="0" anchor="t">
            <a:spAutoFit/>
          </a:bodyPr>
          <a:lstStyle/>
          <a:p>
            <a:pPr algn="l">
              <a:lnSpc>
                <a:spcPts val="2250"/>
              </a:lnSpc>
            </a:pPr>
            <a:r>
              <a:rPr sz="1500" b="0" i="0" u="none">
                <a:solidFill>
                  <a:srgbClr val="334155"/>
                </a:solidFill>
                <a:latin typeface="Times New Roman"/>
              </a:rPr>
              <a:t>Hỗ trợ tính năng </a:t>
            </a:r>
            <a:r>
              <a:rPr sz="1500" b="1" i="0" u="none">
                <a:solidFill>
                  <a:srgbClr val="334155"/>
                </a:solidFill>
                <a:latin typeface="Times New Roman"/>
              </a:rPr>
              <a:t>Import danh sách Excel</a:t>
            </a:r>
            <a:r>
              <a:rPr sz="1500" b="0" i="0" u="none">
                <a:solidFill>
                  <a:srgbClr val="334155"/>
                </a:solidFill>
                <a:latin typeface="Times New Roman"/>
              </a:rPr>
              <a:t>.</a:t>
            </a:r>
          </a:p>
        </p:txBody>
      </p:sp>
      <p:sp>
        <p:nvSpPr>
          <p:cNvPr id="9" name="TextBox 8"/>
          <p:cNvSpPr txBox="1"/>
          <p:nvPr/>
        </p:nvSpPr>
        <p:spPr>
          <a:xfrm>
            <a:off x="809625" y="5238750"/>
            <a:ext cx="5000625" cy="285750"/>
          </a:xfrm>
          <a:prstGeom prst="rect">
            <a:avLst/>
          </a:prstGeom>
          <a:noFill/>
        </p:spPr>
        <p:txBody>
          <a:bodyPr wrap="square" lIns="0" tIns="0" rIns="0" bIns="0" anchor="t">
            <a:spAutoFit/>
          </a:bodyPr>
          <a:lstStyle/>
          <a:p>
            <a:pPr algn="l">
              <a:lnSpc>
                <a:spcPts val="2250"/>
              </a:lnSpc>
            </a:pPr>
            <a:r>
              <a:rPr sz="1500" b="0" i="0" u="none">
                <a:solidFill>
                  <a:srgbClr val="334155"/>
                </a:solidFill>
                <a:latin typeface="Times New Roman"/>
              </a:rPr>
              <a:t>Phân quyền và quản lý danh mục hệ thống chặt chẽ.</a:t>
            </a:r>
          </a:p>
        </p:txBody>
      </p:sp>
      <p:pic>
        <p:nvPicPr>
          <p:cNvPr id="10" name="Picture 9" descr="image.png"/>
          <p:cNvPicPr>
            <a:picLocks noChangeAspect="1"/>
          </p:cNvPicPr>
          <p:nvPr/>
        </p:nvPicPr>
        <p:blipFill>
          <a:blip r:embed="rId4"/>
          <a:stretch>
            <a:fillRect/>
          </a:stretch>
        </p:blipFill>
        <p:spPr>
          <a:xfrm>
            <a:off x="6391275" y="2057400"/>
            <a:ext cx="5219700" cy="3790950"/>
          </a:xfrm>
          <a:prstGeom prst="rect">
            <a:avLst/>
          </a:prstGeom>
        </p:spPr>
      </p:pic>
      <p:sp>
        <p:nvSpPr>
          <p:cNvPr id="11" name="TextBox 10"/>
          <p:cNvSpPr txBox="1"/>
          <p:nvPr/>
        </p:nvSpPr>
        <p:spPr>
          <a:xfrm>
            <a:off x="571500" y="2647950"/>
            <a:ext cx="66675" cy="314325"/>
          </a:xfrm>
          <a:prstGeom prst="rect">
            <a:avLst/>
          </a:prstGeom>
          <a:noFill/>
        </p:spPr>
        <p:txBody>
          <a:bodyPr wrap="square" lIns="0" tIns="0" rIns="0" bIns="0" anchor="t">
            <a:spAutoFit/>
          </a:bodyPr>
          <a:lstStyle/>
          <a:p>
            <a:pPr algn="l">
              <a:lnSpc>
                <a:spcPts val="2475"/>
              </a:lnSpc>
            </a:pPr>
            <a:r>
              <a:rPr sz="1650" b="1" i="0" u="none">
                <a:solidFill>
                  <a:srgbClr val="005088"/>
                </a:solidFill>
                <a:latin typeface="Times New Roman"/>
              </a:rPr>
              <a:t>-</a:t>
            </a:r>
          </a:p>
        </p:txBody>
      </p:sp>
      <p:sp>
        <p:nvSpPr>
          <p:cNvPr id="12" name="TextBox 11"/>
          <p:cNvSpPr txBox="1"/>
          <p:nvPr/>
        </p:nvSpPr>
        <p:spPr>
          <a:xfrm>
            <a:off x="571500" y="3409950"/>
            <a:ext cx="66675" cy="314325"/>
          </a:xfrm>
          <a:prstGeom prst="rect">
            <a:avLst/>
          </a:prstGeom>
          <a:noFill/>
        </p:spPr>
        <p:txBody>
          <a:bodyPr wrap="square" lIns="0" tIns="0" rIns="0" bIns="0" anchor="t">
            <a:spAutoFit/>
          </a:bodyPr>
          <a:lstStyle/>
          <a:p>
            <a:pPr algn="l">
              <a:lnSpc>
                <a:spcPts val="2475"/>
              </a:lnSpc>
            </a:pPr>
            <a:r>
              <a:rPr sz="1650" b="1" i="0" u="none">
                <a:solidFill>
                  <a:srgbClr val="005088"/>
                </a:solidFill>
                <a:latin typeface="Times New Roman"/>
              </a:rPr>
              <a:t>-</a:t>
            </a:r>
          </a:p>
        </p:txBody>
      </p:sp>
      <p:sp>
        <p:nvSpPr>
          <p:cNvPr id="13" name="TextBox 12"/>
          <p:cNvSpPr txBox="1"/>
          <p:nvPr/>
        </p:nvSpPr>
        <p:spPr>
          <a:xfrm>
            <a:off x="571500" y="4743450"/>
            <a:ext cx="66675" cy="314325"/>
          </a:xfrm>
          <a:prstGeom prst="rect">
            <a:avLst/>
          </a:prstGeom>
          <a:noFill/>
        </p:spPr>
        <p:txBody>
          <a:bodyPr wrap="square" lIns="0" tIns="0" rIns="0" bIns="0" anchor="t">
            <a:spAutoFit/>
          </a:bodyPr>
          <a:lstStyle/>
          <a:p>
            <a:pPr algn="l">
              <a:lnSpc>
                <a:spcPts val="2475"/>
              </a:lnSpc>
            </a:pPr>
            <a:r>
              <a:rPr sz="1650" b="1" i="0" u="none">
                <a:solidFill>
                  <a:srgbClr val="005088"/>
                </a:solidFill>
                <a:latin typeface="Times New Roman"/>
              </a:rPr>
              <a:t>-</a:t>
            </a:r>
          </a:p>
        </p:txBody>
      </p:sp>
      <p:sp>
        <p:nvSpPr>
          <p:cNvPr id="14" name="TextBox 13"/>
          <p:cNvSpPr txBox="1"/>
          <p:nvPr/>
        </p:nvSpPr>
        <p:spPr>
          <a:xfrm>
            <a:off x="571500" y="5219700"/>
            <a:ext cx="66675" cy="314325"/>
          </a:xfrm>
          <a:prstGeom prst="rect">
            <a:avLst/>
          </a:prstGeom>
          <a:noFill/>
        </p:spPr>
        <p:txBody>
          <a:bodyPr wrap="square" lIns="0" tIns="0" rIns="0" bIns="0" anchor="t">
            <a:spAutoFit/>
          </a:bodyPr>
          <a:lstStyle/>
          <a:p>
            <a:pPr algn="l">
              <a:lnSpc>
                <a:spcPts val="2475"/>
              </a:lnSpc>
            </a:pPr>
            <a:r>
              <a:rPr sz="1650" b="1" i="0" u="none">
                <a:solidFill>
                  <a:srgbClr val="005088"/>
                </a:solidFill>
                <a:latin typeface="Times New Roman"/>
              </a:rPr>
              <a:t>-</a:t>
            </a:r>
          </a:p>
        </p:txBody>
      </p:sp>
      <p:sp>
        <p:nvSpPr>
          <p:cNvPr id="15" name="TextBox 14"/>
          <p:cNvSpPr txBox="1"/>
          <p:nvPr/>
        </p:nvSpPr>
        <p:spPr>
          <a:xfrm>
            <a:off x="571500" y="571500"/>
            <a:ext cx="11601450" cy="523875"/>
          </a:xfrm>
          <a:prstGeom prst="rect">
            <a:avLst/>
          </a:prstGeom>
          <a:noFill/>
        </p:spPr>
        <p:txBody>
          <a:bodyPr wrap="square" lIns="0" tIns="0" rIns="0" bIns="0" anchor="t">
            <a:spAutoFit/>
          </a:bodyPr>
          <a:lstStyle/>
          <a:p>
            <a:pPr algn="l"/>
            <a:r>
              <a:rPr sz="3450" b="1" i="0" u="none">
                <a:solidFill>
                  <a:srgbClr val="1E293B"/>
                </a:solidFill>
                <a:latin typeface="Times New Roman"/>
              </a:rPr>
              <a:t>Chức năng Cốt lõi: Tương tác &amp; Dữ liệu</a:t>
            </a:r>
          </a:p>
        </p:txBody>
      </p:sp>
      <p:sp>
        <p:nvSpPr>
          <p:cNvPr id="16" name="Rectangle 15"/>
          <p:cNvSpPr/>
          <p:nvPr/>
        </p:nvSpPr>
        <p:spPr>
          <a:xfrm>
            <a:off x="571500" y="1219200"/>
            <a:ext cx="11049000" cy="19050"/>
          </a:xfrm>
          <a:prstGeom prst="rect">
            <a:avLst/>
          </a:prstGeom>
          <a:solidFill>
            <a:srgbClr val="005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571500" y="2314575"/>
            <a:ext cx="3492549" cy="3276600"/>
          </a:xfrm>
          <a:prstGeom prst="rect">
            <a:avLst/>
          </a:prstGeom>
        </p:spPr>
      </p:pic>
      <p:pic>
        <p:nvPicPr>
          <p:cNvPr id="4" name="Picture 3" descr="image.png"/>
          <p:cNvPicPr>
            <a:picLocks noChangeAspect="1"/>
          </p:cNvPicPr>
          <p:nvPr/>
        </p:nvPicPr>
        <p:blipFill>
          <a:blip r:embed="rId5"/>
          <a:stretch>
            <a:fillRect/>
          </a:stretch>
        </p:blipFill>
        <p:spPr>
          <a:xfrm>
            <a:off x="4349799" y="2314575"/>
            <a:ext cx="3492549" cy="3276600"/>
          </a:xfrm>
          <a:prstGeom prst="rect">
            <a:avLst/>
          </a:prstGeom>
        </p:spPr>
      </p:pic>
      <p:pic>
        <p:nvPicPr>
          <p:cNvPr id="5" name="Picture 4" descr="image.png"/>
          <p:cNvPicPr>
            <a:picLocks noChangeAspect="1"/>
          </p:cNvPicPr>
          <p:nvPr/>
        </p:nvPicPr>
        <p:blipFill>
          <a:blip r:embed="rId6"/>
          <a:stretch>
            <a:fillRect/>
          </a:stretch>
        </p:blipFill>
        <p:spPr>
          <a:xfrm>
            <a:off x="8128099" y="2314575"/>
            <a:ext cx="3492549" cy="3276600"/>
          </a:xfrm>
          <a:prstGeom prst="rect">
            <a:avLst/>
          </a:prstGeom>
        </p:spPr>
      </p:pic>
      <p:sp>
        <p:nvSpPr>
          <p:cNvPr id="6" name="TextBox 5"/>
          <p:cNvSpPr txBox="1"/>
          <p:nvPr/>
        </p:nvSpPr>
        <p:spPr>
          <a:xfrm>
            <a:off x="1171463" y="3448050"/>
            <a:ext cx="2292474" cy="323850"/>
          </a:xfrm>
          <a:prstGeom prst="rect">
            <a:avLst/>
          </a:prstGeom>
          <a:noFill/>
        </p:spPr>
        <p:txBody>
          <a:bodyPr wrap="square" lIns="0" tIns="0" rIns="0" bIns="0" anchor="t">
            <a:spAutoFit/>
          </a:bodyPr>
          <a:lstStyle/>
          <a:p>
            <a:pPr algn="ctr"/>
            <a:r>
              <a:rPr sz="2250" b="1" i="0" u="none">
                <a:solidFill>
                  <a:srgbClr val="1E293B"/>
                </a:solidFill>
                <a:latin typeface="Times New Roman"/>
              </a:rPr>
              <a:t>Quản trị hệ thống</a:t>
            </a:r>
          </a:p>
        </p:txBody>
      </p:sp>
      <p:sp>
        <p:nvSpPr>
          <p:cNvPr id="7" name="TextBox 6"/>
          <p:cNvSpPr txBox="1"/>
          <p:nvPr/>
        </p:nvSpPr>
        <p:spPr>
          <a:xfrm>
            <a:off x="866775" y="3914775"/>
            <a:ext cx="2901999" cy="1143000"/>
          </a:xfrm>
          <a:prstGeom prst="rect">
            <a:avLst/>
          </a:prstGeom>
          <a:noFill/>
        </p:spPr>
        <p:txBody>
          <a:bodyPr wrap="square" lIns="0" tIns="0" rIns="0" bIns="0" anchor="t">
            <a:spAutoFit/>
          </a:bodyPr>
          <a:lstStyle/>
          <a:p>
            <a:pPr algn="ctr">
              <a:lnSpc>
                <a:spcPts val="2250"/>
              </a:lnSpc>
            </a:pPr>
            <a:r>
              <a:rPr sz="1500" b="0" i="0" u="none">
                <a:solidFill>
                  <a:srgbClr val="334155"/>
                </a:solidFill>
                <a:latin typeface="Times New Roman"/>
              </a:rPr>
              <a:t>Bao gồm </a:t>
            </a:r>
            <a:r>
              <a:rPr sz="1500" b="1" i="0" u="none">
                <a:solidFill>
                  <a:srgbClr val="334155"/>
                </a:solidFill>
                <a:latin typeface="Times New Roman"/>
              </a:rPr>
              <a:t>Admin Hệ thống</a:t>
            </a:r>
            <a:r>
              <a:rPr sz="1500" b="0" i="0" u="none">
                <a:solidFill>
                  <a:srgbClr val="334155"/>
                </a:solidFill>
                <a:latin typeface="Times New Roman"/>
              </a:rPr>
              <a:t>, </a:t>
            </a:r>
            <a:r>
              <a:rPr sz="1500" b="1" i="0" u="none">
                <a:solidFill>
                  <a:srgbClr val="334155"/>
                </a:solidFill>
                <a:latin typeface="Times New Roman"/>
              </a:rPr>
              <a:t>Phòng Đào tạo</a:t>
            </a:r>
            <a:r>
              <a:rPr sz="1500" b="0" i="0" u="none">
                <a:solidFill>
                  <a:srgbClr val="334155"/>
                </a:solidFill>
                <a:latin typeface="Times New Roman"/>
              </a:rPr>
              <a:t>, và </a:t>
            </a:r>
            <a:r>
              <a:rPr sz="1500" b="1" i="0" u="none">
                <a:solidFill>
                  <a:srgbClr val="334155"/>
                </a:solidFill>
                <a:latin typeface="Times New Roman"/>
              </a:rPr>
              <a:t>Giáo vụ Khoa</a:t>
            </a:r>
            <a:r>
              <a:rPr sz="1500" b="0" i="0" u="none">
                <a:solidFill>
                  <a:srgbClr val="334155"/>
                </a:solidFill>
                <a:latin typeface="Times New Roman"/>
              </a:rPr>
              <a:t>. Chịu trách nhiệm quản lý danh mục, thiết lập đợt đăng ký và xuất dữ liệu.</a:t>
            </a:r>
          </a:p>
        </p:txBody>
      </p:sp>
      <p:sp>
        <p:nvSpPr>
          <p:cNvPr id="8" name="TextBox 7"/>
          <p:cNvSpPr txBox="1"/>
          <p:nvPr/>
        </p:nvSpPr>
        <p:spPr>
          <a:xfrm>
            <a:off x="5399971" y="3448050"/>
            <a:ext cx="1392205" cy="323850"/>
          </a:xfrm>
          <a:prstGeom prst="rect">
            <a:avLst/>
          </a:prstGeom>
          <a:noFill/>
        </p:spPr>
        <p:txBody>
          <a:bodyPr wrap="square" lIns="0" tIns="0" rIns="0" bIns="0" anchor="t">
            <a:spAutoFit/>
          </a:bodyPr>
          <a:lstStyle/>
          <a:p>
            <a:pPr algn="ctr"/>
            <a:r>
              <a:rPr sz="2250" b="1" i="0" u="none">
                <a:solidFill>
                  <a:srgbClr val="1E293B"/>
                </a:solidFill>
                <a:latin typeface="Times New Roman"/>
              </a:rPr>
              <a:t>Giảng viên</a:t>
            </a:r>
          </a:p>
        </p:txBody>
      </p:sp>
      <p:sp>
        <p:nvSpPr>
          <p:cNvPr id="9" name="TextBox 8"/>
          <p:cNvSpPr txBox="1"/>
          <p:nvPr/>
        </p:nvSpPr>
        <p:spPr>
          <a:xfrm>
            <a:off x="4645074" y="3914775"/>
            <a:ext cx="2901999" cy="857250"/>
          </a:xfrm>
          <a:prstGeom prst="rect">
            <a:avLst/>
          </a:prstGeom>
          <a:noFill/>
        </p:spPr>
        <p:txBody>
          <a:bodyPr wrap="square" lIns="0" tIns="0" rIns="0" bIns="0" anchor="t">
            <a:spAutoFit/>
          </a:bodyPr>
          <a:lstStyle/>
          <a:p>
            <a:pPr algn="ctr">
              <a:lnSpc>
                <a:spcPts val="2250"/>
              </a:lnSpc>
            </a:pPr>
            <a:r>
              <a:rPr sz="1500" b="0" i="0" u="none">
                <a:solidFill>
                  <a:srgbClr val="334155"/>
                </a:solidFill>
                <a:latin typeface="Times New Roman"/>
              </a:rPr>
              <a:t>Theo dõi danh sách sinh viên, trực tiếp xét duyệt các bản đề xuất đề tài đồ án và theo dõi tiến độ chung.</a:t>
            </a:r>
          </a:p>
        </p:txBody>
      </p:sp>
      <p:sp>
        <p:nvSpPr>
          <p:cNvPr id="10" name="TextBox 9"/>
          <p:cNvSpPr txBox="1"/>
          <p:nvPr/>
        </p:nvSpPr>
        <p:spPr>
          <a:xfrm>
            <a:off x="9278127" y="3448050"/>
            <a:ext cx="1192492" cy="323850"/>
          </a:xfrm>
          <a:prstGeom prst="rect">
            <a:avLst/>
          </a:prstGeom>
          <a:noFill/>
        </p:spPr>
        <p:txBody>
          <a:bodyPr wrap="square" lIns="0" tIns="0" rIns="0" bIns="0" anchor="t">
            <a:spAutoFit/>
          </a:bodyPr>
          <a:lstStyle/>
          <a:p>
            <a:pPr algn="ctr"/>
            <a:r>
              <a:rPr sz="2250" b="1" i="0" u="none">
                <a:solidFill>
                  <a:srgbClr val="1E293B"/>
                </a:solidFill>
                <a:latin typeface="Times New Roman"/>
              </a:rPr>
              <a:t>Sinh viên</a:t>
            </a:r>
          </a:p>
        </p:txBody>
      </p:sp>
      <p:sp>
        <p:nvSpPr>
          <p:cNvPr id="11" name="TextBox 10"/>
          <p:cNvSpPr txBox="1"/>
          <p:nvPr/>
        </p:nvSpPr>
        <p:spPr>
          <a:xfrm>
            <a:off x="8423374" y="3914775"/>
            <a:ext cx="2901999" cy="1143000"/>
          </a:xfrm>
          <a:prstGeom prst="rect">
            <a:avLst/>
          </a:prstGeom>
          <a:noFill/>
        </p:spPr>
        <p:txBody>
          <a:bodyPr wrap="square" lIns="0" tIns="0" rIns="0" bIns="0" anchor="t">
            <a:spAutoFit/>
          </a:bodyPr>
          <a:lstStyle/>
          <a:p>
            <a:pPr algn="ctr">
              <a:lnSpc>
                <a:spcPts val="2250"/>
              </a:lnSpc>
            </a:pPr>
            <a:r>
              <a:rPr sz="1500" b="0" i="0" u="none" dirty="0">
                <a:solidFill>
                  <a:srgbClr val="334155"/>
                </a:solidFill>
                <a:latin typeface="Times New Roman"/>
              </a:rPr>
              <a:t>Bao </a:t>
            </a:r>
            <a:r>
              <a:rPr sz="1500" b="0" i="0" u="none" dirty="0" err="1">
                <a:solidFill>
                  <a:srgbClr val="334155"/>
                </a:solidFill>
                <a:latin typeface="Times New Roman"/>
              </a:rPr>
              <a:t>gồm</a:t>
            </a:r>
            <a:r>
              <a:rPr sz="1500" b="0" i="0" u="none" dirty="0">
                <a:solidFill>
                  <a:srgbClr val="334155"/>
                </a:solidFill>
                <a:latin typeface="Times New Roman"/>
              </a:rPr>
              <a:t> </a:t>
            </a:r>
            <a:r>
              <a:rPr sz="1500" b="1" i="0" u="none" dirty="0">
                <a:solidFill>
                  <a:srgbClr val="334155"/>
                </a:solidFill>
                <a:latin typeface="Times New Roman"/>
              </a:rPr>
              <a:t>Sinh </a:t>
            </a:r>
            <a:r>
              <a:rPr sz="1500" b="1" i="0" u="none" dirty="0" err="1">
                <a:solidFill>
                  <a:srgbClr val="334155"/>
                </a:solidFill>
                <a:latin typeface="Times New Roman"/>
              </a:rPr>
              <a:t>viên</a:t>
            </a:r>
            <a:r>
              <a:rPr sz="1500" b="0" i="0" u="none" dirty="0">
                <a:solidFill>
                  <a:srgbClr val="334155"/>
                </a:solidFill>
                <a:latin typeface="Times New Roman"/>
              </a:rPr>
              <a:t> </a:t>
            </a:r>
            <a:r>
              <a:rPr sz="1500" b="0" i="0" u="none" dirty="0" err="1">
                <a:solidFill>
                  <a:srgbClr val="334155"/>
                </a:solidFill>
                <a:latin typeface="Times New Roman"/>
              </a:rPr>
              <a:t>và</a:t>
            </a:r>
            <a:r>
              <a:rPr sz="1500" b="0" i="0" u="none" dirty="0">
                <a:solidFill>
                  <a:srgbClr val="334155"/>
                </a:solidFill>
                <a:latin typeface="Times New Roman"/>
              </a:rPr>
              <a:t> </a:t>
            </a:r>
            <a:r>
              <a:rPr sz="1500" b="1" i="0" u="none" dirty="0" err="1">
                <a:solidFill>
                  <a:srgbClr val="334155"/>
                </a:solidFill>
                <a:latin typeface="Times New Roman"/>
              </a:rPr>
              <a:t>Trưởng</a:t>
            </a:r>
            <a:r>
              <a:rPr sz="1500" b="1" i="0" u="none" dirty="0">
                <a:solidFill>
                  <a:srgbClr val="334155"/>
                </a:solidFill>
                <a:latin typeface="Times New Roman"/>
              </a:rPr>
              <a:t> </a:t>
            </a:r>
            <a:r>
              <a:rPr sz="1500" b="1" i="0" u="none" dirty="0" err="1">
                <a:solidFill>
                  <a:srgbClr val="334155"/>
                </a:solidFill>
                <a:latin typeface="Times New Roman"/>
              </a:rPr>
              <a:t>nhóm</a:t>
            </a:r>
            <a:r>
              <a:rPr sz="1500" b="0" i="0" u="none" dirty="0">
                <a:solidFill>
                  <a:srgbClr val="334155"/>
                </a:solidFill>
                <a:latin typeface="Times New Roman"/>
              </a:rPr>
              <a:t>. </a:t>
            </a:r>
            <a:r>
              <a:rPr sz="1500" b="0" i="0" u="none" dirty="0" err="1">
                <a:solidFill>
                  <a:srgbClr val="334155"/>
                </a:solidFill>
                <a:latin typeface="Times New Roman"/>
              </a:rPr>
              <a:t>Tạo</a:t>
            </a:r>
            <a:r>
              <a:rPr sz="1500" b="0" i="0" u="none" dirty="0">
                <a:solidFill>
                  <a:srgbClr val="334155"/>
                </a:solidFill>
                <a:latin typeface="Times New Roman"/>
              </a:rPr>
              <a:t>/</a:t>
            </a:r>
            <a:r>
              <a:rPr sz="1500" b="0" i="0" u="none" dirty="0" err="1">
                <a:solidFill>
                  <a:srgbClr val="334155"/>
                </a:solidFill>
                <a:latin typeface="Times New Roman"/>
              </a:rPr>
              <a:t>tìm</a:t>
            </a:r>
            <a:r>
              <a:rPr sz="1500" b="0" i="0" u="none" dirty="0">
                <a:solidFill>
                  <a:srgbClr val="334155"/>
                </a:solidFill>
                <a:latin typeface="Times New Roman"/>
              </a:rPr>
              <a:t> </a:t>
            </a:r>
            <a:r>
              <a:rPr sz="1500" b="0" i="0" u="none" dirty="0" err="1">
                <a:solidFill>
                  <a:srgbClr val="334155"/>
                </a:solidFill>
                <a:latin typeface="Times New Roman"/>
              </a:rPr>
              <a:t>nhóm</a:t>
            </a:r>
            <a:r>
              <a:rPr sz="1500" b="0" i="0" u="none" dirty="0">
                <a:solidFill>
                  <a:srgbClr val="334155"/>
                </a:solidFill>
                <a:latin typeface="Times New Roman"/>
              </a:rPr>
              <a:t>, </a:t>
            </a:r>
            <a:r>
              <a:rPr sz="1500" b="0" i="0" u="none" dirty="0" err="1">
                <a:solidFill>
                  <a:srgbClr val="334155"/>
                </a:solidFill>
                <a:latin typeface="Times New Roman"/>
              </a:rPr>
              <a:t>nộp</a:t>
            </a:r>
            <a:r>
              <a:rPr sz="1500" b="0" i="0" u="none" dirty="0">
                <a:solidFill>
                  <a:srgbClr val="334155"/>
                </a:solidFill>
                <a:latin typeface="Times New Roman"/>
              </a:rPr>
              <a:t> </a:t>
            </a:r>
            <a:r>
              <a:rPr sz="1500" b="0" i="0" u="none" dirty="0" err="1">
                <a:solidFill>
                  <a:srgbClr val="334155"/>
                </a:solidFill>
                <a:latin typeface="Times New Roman"/>
              </a:rPr>
              <a:t>đề</a:t>
            </a:r>
            <a:r>
              <a:rPr sz="1500" b="0" i="0" u="none" dirty="0">
                <a:solidFill>
                  <a:srgbClr val="334155"/>
                </a:solidFill>
                <a:latin typeface="Times New Roman"/>
              </a:rPr>
              <a:t> </a:t>
            </a:r>
            <a:r>
              <a:rPr sz="1500" b="0" i="0" u="none" dirty="0" err="1">
                <a:solidFill>
                  <a:srgbClr val="334155"/>
                </a:solidFill>
                <a:latin typeface="Times New Roman"/>
              </a:rPr>
              <a:t>xuất</a:t>
            </a:r>
            <a:r>
              <a:rPr sz="1500" b="0" i="0" u="none" dirty="0">
                <a:solidFill>
                  <a:srgbClr val="334155"/>
                </a:solidFill>
                <a:latin typeface="Times New Roman"/>
              </a:rPr>
              <a:t>, </a:t>
            </a:r>
            <a:r>
              <a:rPr sz="1500" b="0" i="0" u="none" dirty="0" err="1">
                <a:solidFill>
                  <a:srgbClr val="334155"/>
                </a:solidFill>
                <a:latin typeface="Times New Roman"/>
              </a:rPr>
              <a:t>sử</a:t>
            </a:r>
            <a:r>
              <a:rPr sz="1500" b="0" i="0" u="none" dirty="0">
                <a:solidFill>
                  <a:srgbClr val="334155"/>
                </a:solidFill>
                <a:latin typeface="Times New Roman"/>
              </a:rPr>
              <a:t> </a:t>
            </a:r>
            <a:r>
              <a:rPr sz="1500" b="0" i="0" u="none" dirty="0" err="1">
                <a:solidFill>
                  <a:srgbClr val="334155"/>
                </a:solidFill>
                <a:latin typeface="Times New Roman"/>
              </a:rPr>
              <a:t>dụng</a:t>
            </a:r>
            <a:r>
              <a:rPr sz="1500" b="0" i="0" u="none" dirty="0">
                <a:solidFill>
                  <a:srgbClr val="334155"/>
                </a:solidFill>
                <a:latin typeface="Times New Roman"/>
              </a:rPr>
              <a:t> AI </a:t>
            </a:r>
            <a:r>
              <a:rPr sz="1500" b="0" i="0" u="none" dirty="0" err="1">
                <a:solidFill>
                  <a:srgbClr val="334155"/>
                </a:solidFill>
                <a:latin typeface="Times New Roman"/>
              </a:rPr>
              <a:t>gợi</a:t>
            </a:r>
            <a:r>
              <a:rPr sz="1500" b="0" i="0" u="none" dirty="0">
                <a:solidFill>
                  <a:srgbClr val="334155"/>
                </a:solidFill>
                <a:latin typeface="Times New Roman"/>
              </a:rPr>
              <a:t> ý </a:t>
            </a:r>
            <a:r>
              <a:rPr sz="1500" b="0" i="0" u="none" dirty="0" err="1">
                <a:solidFill>
                  <a:srgbClr val="334155"/>
                </a:solidFill>
                <a:latin typeface="Times New Roman"/>
              </a:rPr>
              <a:t>đề</a:t>
            </a:r>
            <a:r>
              <a:rPr sz="1500" b="0" i="0" u="none" dirty="0">
                <a:solidFill>
                  <a:srgbClr val="334155"/>
                </a:solidFill>
                <a:latin typeface="Times New Roman"/>
              </a:rPr>
              <a:t> </a:t>
            </a:r>
            <a:r>
              <a:rPr sz="1500" b="0" i="0" u="none" dirty="0" err="1">
                <a:solidFill>
                  <a:srgbClr val="334155"/>
                </a:solidFill>
                <a:latin typeface="Times New Roman"/>
              </a:rPr>
              <a:t>tài</a:t>
            </a:r>
            <a:r>
              <a:rPr sz="1500" b="0" i="0" u="none" dirty="0">
                <a:solidFill>
                  <a:srgbClr val="334155"/>
                </a:solidFill>
                <a:latin typeface="Times New Roman"/>
              </a:rPr>
              <a:t> </a:t>
            </a:r>
            <a:r>
              <a:rPr sz="1500" b="0" i="0" u="none" dirty="0" err="1">
                <a:solidFill>
                  <a:srgbClr val="334155"/>
                </a:solidFill>
                <a:latin typeface="Times New Roman"/>
              </a:rPr>
              <a:t>và</a:t>
            </a:r>
            <a:r>
              <a:rPr sz="1500" b="0" i="0" u="none" dirty="0">
                <a:solidFill>
                  <a:srgbClr val="334155"/>
                </a:solidFill>
                <a:latin typeface="Times New Roman"/>
              </a:rPr>
              <a:t> </a:t>
            </a:r>
            <a:r>
              <a:rPr sz="1500" b="0" i="0" u="none" dirty="0" err="1">
                <a:solidFill>
                  <a:srgbClr val="334155"/>
                </a:solidFill>
                <a:latin typeface="Times New Roman"/>
              </a:rPr>
              <a:t>trao</a:t>
            </a:r>
            <a:r>
              <a:rPr sz="1500" b="0" i="0" u="none" dirty="0">
                <a:solidFill>
                  <a:srgbClr val="334155"/>
                </a:solidFill>
                <a:latin typeface="Times New Roman"/>
              </a:rPr>
              <a:t> </a:t>
            </a:r>
            <a:r>
              <a:rPr sz="1500" b="0" i="0" u="none" dirty="0" err="1">
                <a:solidFill>
                  <a:srgbClr val="334155"/>
                </a:solidFill>
                <a:latin typeface="Times New Roman"/>
              </a:rPr>
              <a:t>đổi</a:t>
            </a:r>
            <a:r>
              <a:rPr sz="1500" b="0" i="0" u="none" dirty="0">
                <a:solidFill>
                  <a:srgbClr val="334155"/>
                </a:solidFill>
                <a:latin typeface="Times New Roman"/>
              </a:rPr>
              <a:t> qua chat.</a:t>
            </a:r>
          </a:p>
        </p:txBody>
      </p:sp>
      <p:pic>
        <p:nvPicPr>
          <p:cNvPr id="12" name="Picture 11" descr="image.png"/>
          <p:cNvPicPr>
            <a:picLocks noChangeAspect="1"/>
          </p:cNvPicPr>
          <p:nvPr/>
        </p:nvPicPr>
        <p:blipFill>
          <a:blip r:embed="rId7"/>
          <a:stretch>
            <a:fillRect/>
          </a:stretch>
        </p:blipFill>
        <p:spPr>
          <a:xfrm>
            <a:off x="2079575" y="2724150"/>
            <a:ext cx="476250" cy="476250"/>
          </a:xfrm>
          <a:prstGeom prst="rect">
            <a:avLst/>
          </a:prstGeom>
        </p:spPr>
      </p:pic>
      <p:pic>
        <p:nvPicPr>
          <p:cNvPr id="13" name="Picture 12" descr="image.png"/>
          <p:cNvPicPr>
            <a:picLocks noChangeAspect="1"/>
          </p:cNvPicPr>
          <p:nvPr/>
        </p:nvPicPr>
        <p:blipFill>
          <a:blip r:embed="rId8"/>
          <a:stretch>
            <a:fillRect/>
          </a:stretch>
        </p:blipFill>
        <p:spPr>
          <a:xfrm>
            <a:off x="5795962" y="2724150"/>
            <a:ext cx="600075" cy="476250"/>
          </a:xfrm>
          <a:prstGeom prst="rect">
            <a:avLst/>
          </a:prstGeom>
        </p:spPr>
      </p:pic>
      <p:pic>
        <p:nvPicPr>
          <p:cNvPr id="14" name="Picture 13" descr="image.png"/>
          <p:cNvPicPr>
            <a:picLocks noChangeAspect="1"/>
          </p:cNvPicPr>
          <p:nvPr/>
        </p:nvPicPr>
        <p:blipFill>
          <a:blip r:embed="rId9"/>
          <a:stretch>
            <a:fillRect/>
          </a:stretch>
        </p:blipFill>
        <p:spPr>
          <a:xfrm>
            <a:off x="9574262" y="2724150"/>
            <a:ext cx="600075" cy="476250"/>
          </a:xfrm>
          <a:prstGeom prst="rect">
            <a:avLst/>
          </a:prstGeom>
        </p:spPr>
      </p:pic>
      <p:sp>
        <p:nvSpPr>
          <p:cNvPr id="15" name="TextBox 14"/>
          <p:cNvSpPr txBox="1"/>
          <p:nvPr/>
        </p:nvSpPr>
        <p:spPr>
          <a:xfrm>
            <a:off x="571500" y="571500"/>
            <a:ext cx="11601450" cy="523875"/>
          </a:xfrm>
          <a:prstGeom prst="rect">
            <a:avLst/>
          </a:prstGeom>
          <a:noFill/>
        </p:spPr>
        <p:txBody>
          <a:bodyPr wrap="square" lIns="0" tIns="0" rIns="0" bIns="0" anchor="t">
            <a:spAutoFit/>
          </a:bodyPr>
          <a:lstStyle/>
          <a:p>
            <a:pPr algn="l"/>
            <a:r>
              <a:rPr sz="3450" b="1" i="0" u="none">
                <a:solidFill>
                  <a:srgbClr val="1E293B"/>
                </a:solidFill>
                <a:latin typeface="Times New Roman"/>
              </a:rPr>
              <a:t>Phân quyền Người dùng</a:t>
            </a:r>
          </a:p>
        </p:txBody>
      </p:sp>
      <p:sp>
        <p:nvSpPr>
          <p:cNvPr id="16" name="Rectangle 15"/>
          <p:cNvSpPr/>
          <p:nvPr/>
        </p:nvSpPr>
        <p:spPr>
          <a:xfrm>
            <a:off x="571500" y="1219200"/>
            <a:ext cx="11049000" cy="19050"/>
          </a:xfrm>
          <a:prstGeom prst="rect">
            <a:avLst/>
          </a:prstGeom>
          <a:solidFill>
            <a:srgbClr val="005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951035" y="2633493"/>
            <a:ext cx="2864827" cy="1591013"/>
          </a:xfrm>
          <a:prstGeom prst="rect">
            <a:avLst/>
          </a:prstGeom>
          <a:noFill/>
        </p:spPr>
        <p:txBody>
          <a:bodyPr wrap="square" lIns="0" tIns="0" rIns="0" bIns="0" anchor="t">
            <a:spAutoFit/>
          </a:bodyPr>
          <a:lstStyle/>
          <a:p>
            <a:pPr algn="ctr">
              <a:lnSpc>
                <a:spcPts val="6480"/>
              </a:lnSpc>
            </a:pPr>
            <a:r>
              <a:rPr lang="en-US" sz="4400" b="1" dirty="0">
                <a:solidFill>
                  <a:srgbClr val="005088"/>
                </a:solidFill>
                <a:latin typeface="Times New Roman"/>
              </a:rPr>
              <a:t>SƠ DỒ USE CASE</a:t>
            </a:r>
            <a:endParaRPr sz="4400" b="1" dirty="0">
              <a:solidFill>
                <a:srgbClr val="005088"/>
              </a:solidFill>
              <a:latin typeface="Times New Roman"/>
            </a:endParaRPr>
          </a:p>
        </p:txBody>
      </p:sp>
      <p:pic>
        <p:nvPicPr>
          <p:cNvPr id="7" name="Picture 6">
            <a:extLst>
              <a:ext uri="{FF2B5EF4-FFF2-40B4-BE49-F238E27FC236}">
                <a16:creationId xmlns:a16="http://schemas.microsoft.com/office/drawing/2014/main" id="{F9F0DB04-444D-1480-9F57-CB88233AD4BA}"/>
              </a:ext>
            </a:extLst>
          </p:cNvPr>
          <p:cNvPicPr>
            <a:picLocks noChangeAspect="1"/>
          </p:cNvPicPr>
          <p:nvPr/>
        </p:nvPicPr>
        <p:blipFill>
          <a:blip r:embed="rId3"/>
          <a:stretch>
            <a:fillRect/>
          </a:stretch>
        </p:blipFill>
        <p:spPr>
          <a:xfrm>
            <a:off x="4714142" y="0"/>
            <a:ext cx="600075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ED336D-874D-3321-2C15-E25CE742B74C}"/>
              </a:ext>
            </a:extLst>
          </p:cNvPr>
          <p:cNvSpPr txBox="1"/>
          <p:nvPr/>
        </p:nvSpPr>
        <p:spPr>
          <a:xfrm>
            <a:off x="3628660" y="2726977"/>
            <a:ext cx="4934679" cy="787460"/>
          </a:xfrm>
          <a:prstGeom prst="rect">
            <a:avLst/>
          </a:prstGeom>
          <a:noFill/>
        </p:spPr>
        <p:txBody>
          <a:bodyPr wrap="square" lIns="0" tIns="0" rIns="0" bIns="0" anchor="t">
            <a:spAutoFit/>
          </a:bodyPr>
          <a:lstStyle/>
          <a:p>
            <a:pPr algn="ctr">
              <a:lnSpc>
                <a:spcPts val="6480"/>
              </a:lnSpc>
            </a:pPr>
            <a:r>
              <a:rPr lang="en-US" sz="5400" b="1" i="0" u="none" dirty="0">
                <a:solidFill>
                  <a:srgbClr val="005088"/>
                </a:solidFill>
                <a:latin typeface="Times New Roman"/>
              </a:rPr>
              <a:t>SCREENS</a:t>
            </a:r>
            <a:endParaRPr sz="5400" b="1" i="0" u="none" dirty="0">
              <a:solidFill>
                <a:srgbClr val="005088"/>
              </a:solidFill>
              <a:latin typeface="Times New Roman"/>
            </a:endParaRPr>
          </a:p>
        </p:txBody>
      </p:sp>
    </p:spTree>
    <p:extLst>
      <p:ext uri="{BB962C8B-B14F-4D97-AF65-F5344CB8AC3E}">
        <p14:creationId xmlns:p14="http://schemas.microsoft.com/office/powerpoint/2010/main" val="3549020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ACBC3A-7F8E-B430-BEAB-C21E33F370A5}"/>
              </a:ext>
            </a:extLst>
          </p:cNvPr>
          <p:cNvPicPr>
            <a:picLocks noChangeAspect="1"/>
          </p:cNvPicPr>
          <p:nvPr/>
        </p:nvPicPr>
        <p:blipFill>
          <a:blip r:embed="rId2"/>
          <a:stretch>
            <a:fillRect/>
          </a:stretch>
        </p:blipFill>
        <p:spPr>
          <a:xfrm>
            <a:off x="4077772" y="193040"/>
            <a:ext cx="3795089" cy="6096528"/>
          </a:xfrm>
          <a:prstGeom prst="rect">
            <a:avLst/>
          </a:prstGeom>
        </p:spPr>
      </p:pic>
      <p:sp>
        <p:nvSpPr>
          <p:cNvPr id="5" name="TextBox 4">
            <a:extLst>
              <a:ext uri="{FF2B5EF4-FFF2-40B4-BE49-F238E27FC236}">
                <a16:creationId xmlns:a16="http://schemas.microsoft.com/office/drawing/2014/main" id="{9206BD78-2BE5-CDAE-F636-58985C8866E7}"/>
              </a:ext>
            </a:extLst>
          </p:cNvPr>
          <p:cNvSpPr txBox="1"/>
          <p:nvPr/>
        </p:nvSpPr>
        <p:spPr>
          <a:xfrm>
            <a:off x="4694569" y="5984291"/>
            <a:ext cx="2561494" cy="685252"/>
          </a:xfrm>
          <a:prstGeom prst="rect">
            <a:avLst/>
          </a:prstGeom>
          <a:noFill/>
        </p:spPr>
        <p:txBody>
          <a:bodyPr wrap="square" lIns="0" tIns="0" rIns="0" bIns="0" anchor="t">
            <a:spAutoFit/>
          </a:bodyPr>
          <a:lstStyle/>
          <a:p>
            <a:pPr algn="ctr">
              <a:lnSpc>
                <a:spcPts val="6480"/>
              </a:lnSpc>
            </a:pPr>
            <a:r>
              <a:rPr lang="en-US" sz="2000" b="1" dirty="0">
                <a:solidFill>
                  <a:srgbClr val="005088"/>
                </a:solidFill>
                <a:latin typeface="Times New Roman"/>
              </a:rPr>
              <a:t>ĐĂNG NHẬP</a:t>
            </a:r>
            <a:endParaRPr sz="2000" b="1" i="0" u="none" dirty="0">
              <a:solidFill>
                <a:srgbClr val="005088"/>
              </a:solidFill>
              <a:latin typeface="Times New Roman"/>
            </a:endParaRPr>
          </a:p>
        </p:txBody>
      </p:sp>
    </p:spTree>
    <p:extLst>
      <p:ext uri="{BB962C8B-B14F-4D97-AF65-F5344CB8AC3E}">
        <p14:creationId xmlns:p14="http://schemas.microsoft.com/office/powerpoint/2010/main" val="4031914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DD9373-84B6-8D43-EF0D-7028D24B427D}"/>
              </a:ext>
            </a:extLst>
          </p:cNvPr>
          <p:cNvPicPr>
            <a:picLocks noChangeAspect="1"/>
          </p:cNvPicPr>
          <p:nvPr/>
        </p:nvPicPr>
        <p:blipFill>
          <a:blip r:embed="rId2"/>
          <a:stretch>
            <a:fillRect/>
          </a:stretch>
        </p:blipFill>
        <p:spPr>
          <a:xfrm>
            <a:off x="8072030" y="128841"/>
            <a:ext cx="3825572" cy="6073666"/>
          </a:xfrm>
          <a:prstGeom prst="rect">
            <a:avLst/>
          </a:prstGeom>
        </p:spPr>
      </p:pic>
      <p:sp>
        <p:nvSpPr>
          <p:cNvPr id="5" name="TextBox 4">
            <a:extLst>
              <a:ext uri="{FF2B5EF4-FFF2-40B4-BE49-F238E27FC236}">
                <a16:creationId xmlns:a16="http://schemas.microsoft.com/office/drawing/2014/main" id="{7FE45575-BB9B-18FB-3F6D-1C7418C7C164}"/>
              </a:ext>
            </a:extLst>
          </p:cNvPr>
          <p:cNvSpPr txBox="1"/>
          <p:nvPr/>
        </p:nvSpPr>
        <p:spPr>
          <a:xfrm>
            <a:off x="8829259" y="5884848"/>
            <a:ext cx="2561494" cy="685252"/>
          </a:xfrm>
          <a:prstGeom prst="rect">
            <a:avLst/>
          </a:prstGeom>
          <a:noFill/>
        </p:spPr>
        <p:txBody>
          <a:bodyPr wrap="square" lIns="0" tIns="0" rIns="0" bIns="0" anchor="t">
            <a:spAutoFit/>
          </a:bodyPr>
          <a:lstStyle/>
          <a:p>
            <a:pPr algn="ctr">
              <a:lnSpc>
                <a:spcPts val="6480"/>
              </a:lnSpc>
            </a:pPr>
            <a:r>
              <a:rPr lang="en-US" sz="2000" b="1" dirty="0">
                <a:solidFill>
                  <a:srgbClr val="005088"/>
                </a:solidFill>
                <a:latin typeface="Times New Roman"/>
              </a:rPr>
              <a:t>ĐỔI MẬT KHẨU</a:t>
            </a:r>
            <a:endParaRPr sz="2000" b="1" i="0" u="none" dirty="0">
              <a:solidFill>
                <a:srgbClr val="005088"/>
              </a:solidFill>
              <a:latin typeface="Times New Roman"/>
            </a:endParaRPr>
          </a:p>
        </p:txBody>
      </p:sp>
      <p:pic>
        <p:nvPicPr>
          <p:cNvPr id="7" name="Picture 6">
            <a:extLst>
              <a:ext uri="{FF2B5EF4-FFF2-40B4-BE49-F238E27FC236}">
                <a16:creationId xmlns:a16="http://schemas.microsoft.com/office/drawing/2014/main" id="{E824972F-13D2-35CE-F314-4AF6300EA701}"/>
              </a:ext>
            </a:extLst>
          </p:cNvPr>
          <p:cNvPicPr>
            <a:picLocks noChangeAspect="1"/>
          </p:cNvPicPr>
          <p:nvPr/>
        </p:nvPicPr>
        <p:blipFill>
          <a:blip r:embed="rId3"/>
          <a:stretch>
            <a:fillRect/>
          </a:stretch>
        </p:blipFill>
        <p:spPr>
          <a:xfrm>
            <a:off x="186492" y="76520"/>
            <a:ext cx="3825572" cy="6096528"/>
          </a:xfrm>
          <a:prstGeom prst="rect">
            <a:avLst/>
          </a:prstGeom>
        </p:spPr>
      </p:pic>
      <p:sp>
        <p:nvSpPr>
          <p:cNvPr id="9" name="TextBox 8">
            <a:extLst>
              <a:ext uri="{FF2B5EF4-FFF2-40B4-BE49-F238E27FC236}">
                <a16:creationId xmlns:a16="http://schemas.microsoft.com/office/drawing/2014/main" id="{1864098E-69DB-9647-F8D1-5954F09A5743}"/>
              </a:ext>
            </a:extLst>
          </p:cNvPr>
          <p:cNvSpPr txBox="1"/>
          <p:nvPr/>
        </p:nvSpPr>
        <p:spPr>
          <a:xfrm>
            <a:off x="818531" y="5873756"/>
            <a:ext cx="2561494" cy="685252"/>
          </a:xfrm>
          <a:prstGeom prst="rect">
            <a:avLst/>
          </a:prstGeom>
          <a:noFill/>
        </p:spPr>
        <p:txBody>
          <a:bodyPr wrap="square" lIns="0" tIns="0" rIns="0" bIns="0" anchor="t">
            <a:spAutoFit/>
          </a:bodyPr>
          <a:lstStyle/>
          <a:p>
            <a:pPr algn="ctr">
              <a:lnSpc>
                <a:spcPts val="6480"/>
              </a:lnSpc>
            </a:pPr>
            <a:r>
              <a:rPr lang="en-US" sz="2000" b="1" dirty="0">
                <a:solidFill>
                  <a:srgbClr val="005088"/>
                </a:solidFill>
                <a:latin typeface="Times New Roman"/>
              </a:rPr>
              <a:t>QUÊN MẬT KHẨU</a:t>
            </a:r>
            <a:endParaRPr sz="2000" b="1" i="0" u="none" dirty="0">
              <a:solidFill>
                <a:srgbClr val="005088"/>
              </a:solidFill>
              <a:latin typeface="Times New Roman"/>
            </a:endParaRPr>
          </a:p>
        </p:txBody>
      </p:sp>
      <p:pic>
        <p:nvPicPr>
          <p:cNvPr id="11" name="Picture 10">
            <a:extLst>
              <a:ext uri="{FF2B5EF4-FFF2-40B4-BE49-F238E27FC236}">
                <a16:creationId xmlns:a16="http://schemas.microsoft.com/office/drawing/2014/main" id="{B2660D71-4825-30EE-CD15-3BA8ECFC2F4D}"/>
              </a:ext>
            </a:extLst>
          </p:cNvPr>
          <p:cNvPicPr>
            <a:picLocks noChangeAspect="1"/>
          </p:cNvPicPr>
          <p:nvPr/>
        </p:nvPicPr>
        <p:blipFill>
          <a:blip r:embed="rId4"/>
          <a:stretch>
            <a:fillRect/>
          </a:stretch>
        </p:blipFill>
        <p:spPr>
          <a:xfrm>
            <a:off x="4213697" y="82505"/>
            <a:ext cx="3795089" cy="6073666"/>
          </a:xfrm>
          <a:prstGeom prst="rect">
            <a:avLst/>
          </a:prstGeom>
        </p:spPr>
      </p:pic>
      <p:sp>
        <p:nvSpPr>
          <p:cNvPr id="13" name="TextBox 12">
            <a:extLst>
              <a:ext uri="{FF2B5EF4-FFF2-40B4-BE49-F238E27FC236}">
                <a16:creationId xmlns:a16="http://schemas.microsoft.com/office/drawing/2014/main" id="{82D068E6-6C46-6BFB-C9EC-FCDF99A6C150}"/>
              </a:ext>
            </a:extLst>
          </p:cNvPr>
          <p:cNvSpPr txBox="1"/>
          <p:nvPr/>
        </p:nvSpPr>
        <p:spPr>
          <a:xfrm>
            <a:off x="4830495" y="5873756"/>
            <a:ext cx="2561494" cy="685252"/>
          </a:xfrm>
          <a:prstGeom prst="rect">
            <a:avLst/>
          </a:prstGeom>
          <a:noFill/>
        </p:spPr>
        <p:txBody>
          <a:bodyPr wrap="square" lIns="0" tIns="0" rIns="0" bIns="0" anchor="t">
            <a:spAutoFit/>
          </a:bodyPr>
          <a:lstStyle/>
          <a:p>
            <a:pPr algn="ctr">
              <a:lnSpc>
                <a:spcPts val="6480"/>
              </a:lnSpc>
            </a:pPr>
            <a:r>
              <a:rPr lang="en-US" sz="2000" b="1" dirty="0">
                <a:solidFill>
                  <a:srgbClr val="005088"/>
                </a:solidFill>
                <a:latin typeface="Times New Roman"/>
              </a:rPr>
              <a:t>NHẬP MÃ OTP</a:t>
            </a:r>
            <a:endParaRPr sz="2000" b="1" i="0" u="none" dirty="0">
              <a:solidFill>
                <a:srgbClr val="005088"/>
              </a:solidFill>
              <a:latin typeface="Times New Roman"/>
            </a:endParaRPr>
          </a:p>
        </p:txBody>
      </p:sp>
    </p:spTree>
    <p:extLst>
      <p:ext uri="{BB962C8B-B14F-4D97-AF65-F5344CB8AC3E}">
        <p14:creationId xmlns:p14="http://schemas.microsoft.com/office/powerpoint/2010/main" val="1064355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009A3-1637-2C73-C20E-8B2379F8299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6ADA441-CD73-2380-5514-D46A7FD4F77F}"/>
              </a:ext>
            </a:extLst>
          </p:cNvPr>
          <p:cNvSpPr txBox="1"/>
          <p:nvPr/>
        </p:nvSpPr>
        <p:spPr>
          <a:xfrm>
            <a:off x="2657997" y="5855469"/>
            <a:ext cx="2561494" cy="685252"/>
          </a:xfrm>
          <a:prstGeom prst="rect">
            <a:avLst/>
          </a:prstGeom>
          <a:noFill/>
        </p:spPr>
        <p:txBody>
          <a:bodyPr wrap="square" lIns="0" tIns="0" rIns="0" bIns="0" anchor="t">
            <a:spAutoFit/>
          </a:bodyPr>
          <a:lstStyle/>
          <a:p>
            <a:pPr algn="ctr">
              <a:lnSpc>
                <a:spcPts val="6480"/>
              </a:lnSpc>
            </a:pPr>
            <a:r>
              <a:rPr lang="en-US" sz="2000" b="1" dirty="0">
                <a:solidFill>
                  <a:srgbClr val="005088"/>
                </a:solidFill>
                <a:latin typeface="Times New Roman"/>
              </a:rPr>
              <a:t>TRANG CHỦ</a:t>
            </a:r>
            <a:endParaRPr sz="2000" b="1" i="0" u="none" dirty="0">
              <a:solidFill>
                <a:srgbClr val="005088"/>
              </a:solidFill>
              <a:latin typeface="Times New Roman"/>
            </a:endParaRPr>
          </a:p>
        </p:txBody>
      </p:sp>
      <p:pic>
        <p:nvPicPr>
          <p:cNvPr id="8" name="Picture 7">
            <a:extLst>
              <a:ext uri="{FF2B5EF4-FFF2-40B4-BE49-F238E27FC236}">
                <a16:creationId xmlns:a16="http://schemas.microsoft.com/office/drawing/2014/main" id="{4171E9B5-84E6-B855-034E-24752852B66F}"/>
              </a:ext>
            </a:extLst>
          </p:cNvPr>
          <p:cNvPicPr>
            <a:picLocks noChangeAspect="1"/>
          </p:cNvPicPr>
          <p:nvPr/>
        </p:nvPicPr>
        <p:blipFill>
          <a:blip r:embed="rId2"/>
          <a:stretch>
            <a:fillRect/>
          </a:stretch>
        </p:blipFill>
        <p:spPr>
          <a:xfrm>
            <a:off x="2187740" y="135860"/>
            <a:ext cx="3756986" cy="6035563"/>
          </a:xfrm>
          <a:prstGeom prst="rect">
            <a:avLst/>
          </a:prstGeom>
        </p:spPr>
      </p:pic>
      <p:pic>
        <p:nvPicPr>
          <p:cNvPr id="17" name="Picture 16">
            <a:extLst>
              <a:ext uri="{FF2B5EF4-FFF2-40B4-BE49-F238E27FC236}">
                <a16:creationId xmlns:a16="http://schemas.microsoft.com/office/drawing/2014/main" id="{76B39B3C-C09C-9655-5317-47870E2FB81B}"/>
              </a:ext>
            </a:extLst>
          </p:cNvPr>
          <p:cNvPicPr>
            <a:picLocks noChangeAspect="1"/>
          </p:cNvPicPr>
          <p:nvPr/>
        </p:nvPicPr>
        <p:blipFill>
          <a:blip r:embed="rId3"/>
          <a:stretch>
            <a:fillRect/>
          </a:stretch>
        </p:blipFill>
        <p:spPr>
          <a:xfrm>
            <a:off x="6096000" y="105377"/>
            <a:ext cx="3787468" cy="6096528"/>
          </a:xfrm>
          <a:prstGeom prst="rect">
            <a:avLst/>
          </a:prstGeom>
        </p:spPr>
      </p:pic>
      <p:sp>
        <p:nvSpPr>
          <p:cNvPr id="19" name="TextBox 18">
            <a:extLst>
              <a:ext uri="{FF2B5EF4-FFF2-40B4-BE49-F238E27FC236}">
                <a16:creationId xmlns:a16="http://schemas.microsoft.com/office/drawing/2014/main" id="{E4F8A136-E610-AF54-FA66-ACBEF0C40D19}"/>
              </a:ext>
            </a:extLst>
          </p:cNvPr>
          <p:cNvSpPr txBox="1"/>
          <p:nvPr/>
        </p:nvSpPr>
        <p:spPr>
          <a:xfrm>
            <a:off x="6096000" y="5855469"/>
            <a:ext cx="3384192" cy="685252"/>
          </a:xfrm>
          <a:prstGeom prst="rect">
            <a:avLst/>
          </a:prstGeom>
          <a:noFill/>
        </p:spPr>
        <p:txBody>
          <a:bodyPr wrap="square" lIns="0" tIns="0" rIns="0" bIns="0" anchor="t">
            <a:spAutoFit/>
          </a:bodyPr>
          <a:lstStyle/>
          <a:p>
            <a:pPr algn="ctr">
              <a:lnSpc>
                <a:spcPts val="6480"/>
              </a:lnSpc>
            </a:pPr>
            <a:r>
              <a:rPr lang="en-US" sz="2000" b="1" dirty="0">
                <a:solidFill>
                  <a:srgbClr val="005088"/>
                </a:solidFill>
                <a:latin typeface="Times New Roman"/>
              </a:rPr>
              <a:t>DANH SÁCH HỌC PHẦN</a:t>
            </a:r>
            <a:endParaRPr sz="2000" b="1" i="0" u="none" dirty="0">
              <a:solidFill>
                <a:srgbClr val="005088"/>
              </a:solidFill>
              <a:latin typeface="Times New Roman"/>
            </a:endParaRPr>
          </a:p>
        </p:txBody>
      </p:sp>
    </p:spTree>
    <p:extLst>
      <p:ext uri="{BB962C8B-B14F-4D97-AF65-F5344CB8AC3E}">
        <p14:creationId xmlns:p14="http://schemas.microsoft.com/office/powerpoint/2010/main" val="29634525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F7E4D7-2DB2-55CE-A71F-E78523422E71}"/>
              </a:ext>
            </a:extLst>
          </p:cNvPr>
          <p:cNvSpPr txBox="1"/>
          <p:nvPr/>
        </p:nvSpPr>
        <p:spPr>
          <a:xfrm>
            <a:off x="909349" y="5987551"/>
            <a:ext cx="2561494" cy="685252"/>
          </a:xfrm>
          <a:prstGeom prst="rect">
            <a:avLst/>
          </a:prstGeom>
          <a:noFill/>
        </p:spPr>
        <p:txBody>
          <a:bodyPr wrap="square" lIns="0" tIns="0" rIns="0" bIns="0" anchor="t">
            <a:spAutoFit/>
          </a:bodyPr>
          <a:lstStyle/>
          <a:p>
            <a:pPr algn="ctr">
              <a:lnSpc>
                <a:spcPts val="6480"/>
              </a:lnSpc>
            </a:pPr>
            <a:r>
              <a:rPr lang="en-US" sz="2000" b="1" dirty="0">
                <a:solidFill>
                  <a:srgbClr val="005088"/>
                </a:solidFill>
                <a:latin typeface="Times New Roman"/>
              </a:rPr>
              <a:t>NHÓM</a:t>
            </a:r>
            <a:endParaRPr sz="2000" b="1" i="0" u="none" dirty="0">
              <a:solidFill>
                <a:srgbClr val="005088"/>
              </a:solidFill>
              <a:latin typeface="Times New Roman"/>
            </a:endParaRPr>
          </a:p>
        </p:txBody>
      </p:sp>
      <p:pic>
        <p:nvPicPr>
          <p:cNvPr id="5" name="Picture 4">
            <a:extLst>
              <a:ext uri="{FF2B5EF4-FFF2-40B4-BE49-F238E27FC236}">
                <a16:creationId xmlns:a16="http://schemas.microsoft.com/office/drawing/2014/main" id="{FC53F86E-E349-A333-11C8-E443599ED7B7}"/>
              </a:ext>
            </a:extLst>
          </p:cNvPr>
          <p:cNvPicPr>
            <a:picLocks noChangeAspect="1"/>
          </p:cNvPicPr>
          <p:nvPr/>
        </p:nvPicPr>
        <p:blipFill>
          <a:blip r:embed="rId2"/>
          <a:stretch>
            <a:fillRect/>
          </a:stretch>
        </p:blipFill>
        <p:spPr>
          <a:xfrm>
            <a:off x="184114" y="237459"/>
            <a:ext cx="3825572" cy="6119390"/>
          </a:xfrm>
          <a:prstGeom prst="rect">
            <a:avLst/>
          </a:prstGeom>
        </p:spPr>
      </p:pic>
      <p:sp>
        <p:nvSpPr>
          <p:cNvPr id="7" name="TextBox 6">
            <a:extLst>
              <a:ext uri="{FF2B5EF4-FFF2-40B4-BE49-F238E27FC236}">
                <a16:creationId xmlns:a16="http://schemas.microsoft.com/office/drawing/2014/main" id="{A85BB1BD-F292-B283-ABB1-A1B04F09E267}"/>
              </a:ext>
            </a:extLst>
          </p:cNvPr>
          <p:cNvSpPr txBox="1"/>
          <p:nvPr/>
        </p:nvSpPr>
        <p:spPr>
          <a:xfrm>
            <a:off x="8771615" y="6119852"/>
            <a:ext cx="2561494" cy="685252"/>
          </a:xfrm>
          <a:prstGeom prst="rect">
            <a:avLst/>
          </a:prstGeom>
          <a:noFill/>
        </p:spPr>
        <p:txBody>
          <a:bodyPr wrap="square" lIns="0" tIns="0" rIns="0" bIns="0" anchor="t">
            <a:spAutoFit/>
          </a:bodyPr>
          <a:lstStyle/>
          <a:p>
            <a:pPr algn="ctr">
              <a:lnSpc>
                <a:spcPts val="6480"/>
              </a:lnSpc>
            </a:pPr>
            <a:r>
              <a:rPr lang="en-US" sz="2000" b="1" dirty="0">
                <a:solidFill>
                  <a:srgbClr val="005088"/>
                </a:solidFill>
                <a:latin typeface="Times New Roman"/>
              </a:rPr>
              <a:t>CHAT</a:t>
            </a:r>
            <a:endParaRPr sz="2000" b="1" i="0" u="none" dirty="0">
              <a:solidFill>
                <a:srgbClr val="005088"/>
              </a:solidFill>
              <a:latin typeface="Times New Roman"/>
            </a:endParaRPr>
          </a:p>
        </p:txBody>
      </p:sp>
      <p:pic>
        <p:nvPicPr>
          <p:cNvPr id="9" name="Picture 8">
            <a:extLst>
              <a:ext uri="{FF2B5EF4-FFF2-40B4-BE49-F238E27FC236}">
                <a16:creationId xmlns:a16="http://schemas.microsoft.com/office/drawing/2014/main" id="{AC0907CF-6383-9F22-A7DD-2833BF61B919}"/>
              </a:ext>
            </a:extLst>
          </p:cNvPr>
          <p:cNvPicPr>
            <a:picLocks noChangeAspect="1"/>
          </p:cNvPicPr>
          <p:nvPr/>
        </p:nvPicPr>
        <p:blipFill>
          <a:blip r:embed="rId3"/>
          <a:stretch>
            <a:fillRect/>
          </a:stretch>
        </p:blipFill>
        <p:spPr>
          <a:xfrm>
            <a:off x="8182316" y="237459"/>
            <a:ext cx="3810330" cy="6073666"/>
          </a:xfrm>
          <a:prstGeom prst="rect">
            <a:avLst/>
          </a:prstGeom>
        </p:spPr>
      </p:pic>
      <p:sp>
        <p:nvSpPr>
          <p:cNvPr id="11" name="TextBox 10">
            <a:extLst>
              <a:ext uri="{FF2B5EF4-FFF2-40B4-BE49-F238E27FC236}">
                <a16:creationId xmlns:a16="http://schemas.microsoft.com/office/drawing/2014/main" id="{4E994FE3-9B3F-7903-4611-B37D5ECA6E47}"/>
              </a:ext>
            </a:extLst>
          </p:cNvPr>
          <p:cNvSpPr txBox="1"/>
          <p:nvPr/>
        </p:nvSpPr>
        <p:spPr>
          <a:xfrm>
            <a:off x="3986646" y="6119852"/>
            <a:ext cx="4168072" cy="685252"/>
          </a:xfrm>
          <a:prstGeom prst="rect">
            <a:avLst/>
          </a:prstGeom>
          <a:noFill/>
        </p:spPr>
        <p:txBody>
          <a:bodyPr wrap="square" lIns="0" tIns="0" rIns="0" bIns="0" anchor="t">
            <a:spAutoFit/>
          </a:bodyPr>
          <a:lstStyle/>
          <a:p>
            <a:pPr algn="ctr">
              <a:lnSpc>
                <a:spcPts val="6480"/>
              </a:lnSpc>
            </a:pPr>
            <a:r>
              <a:rPr lang="en-US" sz="2000" b="1" dirty="0">
                <a:solidFill>
                  <a:srgbClr val="005088"/>
                </a:solidFill>
                <a:latin typeface="Times New Roman"/>
              </a:rPr>
              <a:t>CHI TIẾT DANH SÁCH NHÓM</a:t>
            </a:r>
            <a:endParaRPr sz="2000" b="1" i="0" u="none" dirty="0">
              <a:solidFill>
                <a:srgbClr val="005088"/>
              </a:solidFill>
              <a:latin typeface="Times New Roman"/>
            </a:endParaRPr>
          </a:p>
        </p:txBody>
      </p:sp>
      <p:pic>
        <p:nvPicPr>
          <p:cNvPr id="13" name="Picture 12">
            <a:extLst>
              <a:ext uri="{FF2B5EF4-FFF2-40B4-BE49-F238E27FC236}">
                <a16:creationId xmlns:a16="http://schemas.microsoft.com/office/drawing/2014/main" id="{505BA1BA-A3B9-F8AC-FF8C-E3AF15482781}"/>
              </a:ext>
            </a:extLst>
          </p:cNvPr>
          <p:cNvPicPr>
            <a:picLocks noChangeAspect="1"/>
          </p:cNvPicPr>
          <p:nvPr/>
        </p:nvPicPr>
        <p:blipFill>
          <a:blip r:embed="rId4"/>
          <a:stretch>
            <a:fillRect/>
          </a:stretch>
        </p:blipFill>
        <p:spPr>
          <a:xfrm>
            <a:off x="4251096" y="237459"/>
            <a:ext cx="3787468" cy="6104149"/>
          </a:xfrm>
          <a:prstGeom prst="rect">
            <a:avLst/>
          </a:prstGeom>
        </p:spPr>
      </p:pic>
    </p:spTree>
    <p:extLst>
      <p:ext uri="{BB962C8B-B14F-4D97-AF65-F5344CB8AC3E}">
        <p14:creationId xmlns:p14="http://schemas.microsoft.com/office/powerpoint/2010/main" val="3764491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AE41A-253A-EF85-F02A-6143ECF340A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40F5B95-008D-8E78-03A7-A1307936E1B7}"/>
              </a:ext>
            </a:extLst>
          </p:cNvPr>
          <p:cNvSpPr txBox="1"/>
          <p:nvPr/>
        </p:nvSpPr>
        <p:spPr>
          <a:xfrm>
            <a:off x="2123283" y="6010632"/>
            <a:ext cx="2561494" cy="685252"/>
          </a:xfrm>
          <a:prstGeom prst="rect">
            <a:avLst/>
          </a:prstGeom>
          <a:noFill/>
        </p:spPr>
        <p:txBody>
          <a:bodyPr wrap="square" lIns="0" tIns="0" rIns="0" bIns="0" anchor="t">
            <a:spAutoFit/>
          </a:bodyPr>
          <a:lstStyle/>
          <a:p>
            <a:pPr algn="ctr">
              <a:lnSpc>
                <a:spcPts val="6480"/>
              </a:lnSpc>
            </a:pPr>
            <a:r>
              <a:rPr lang="en-US" sz="2000" b="1" dirty="0">
                <a:solidFill>
                  <a:srgbClr val="005088"/>
                </a:solidFill>
                <a:latin typeface="Times New Roman"/>
              </a:rPr>
              <a:t>DANH SÁCH ĐỀ TÀI</a:t>
            </a:r>
            <a:endParaRPr sz="2000" b="1" i="0" u="none" dirty="0">
              <a:solidFill>
                <a:srgbClr val="005088"/>
              </a:solidFill>
              <a:latin typeface="Times New Roman"/>
            </a:endParaRPr>
          </a:p>
        </p:txBody>
      </p:sp>
      <p:pic>
        <p:nvPicPr>
          <p:cNvPr id="8" name="Picture 7">
            <a:extLst>
              <a:ext uri="{FF2B5EF4-FFF2-40B4-BE49-F238E27FC236}">
                <a16:creationId xmlns:a16="http://schemas.microsoft.com/office/drawing/2014/main" id="{56A93623-15D4-F70F-4202-BBE8FE51F556}"/>
              </a:ext>
            </a:extLst>
          </p:cNvPr>
          <p:cNvPicPr>
            <a:picLocks noChangeAspect="1"/>
          </p:cNvPicPr>
          <p:nvPr/>
        </p:nvPicPr>
        <p:blipFill>
          <a:blip r:embed="rId3"/>
          <a:stretch>
            <a:fillRect/>
          </a:stretch>
        </p:blipFill>
        <p:spPr>
          <a:xfrm>
            <a:off x="1491244" y="128239"/>
            <a:ext cx="3825572" cy="6073666"/>
          </a:xfrm>
          <a:prstGeom prst="rect">
            <a:avLst/>
          </a:prstGeom>
        </p:spPr>
      </p:pic>
      <p:sp>
        <p:nvSpPr>
          <p:cNvPr id="3" name="TextBox 2">
            <a:extLst>
              <a:ext uri="{FF2B5EF4-FFF2-40B4-BE49-F238E27FC236}">
                <a16:creationId xmlns:a16="http://schemas.microsoft.com/office/drawing/2014/main" id="{542A260E-AD21-1D35-2A27-5AEEDD84315D}"/>
              </a:ext>
            </a:extLst>
          </p:cNvPr>
          <p:cNvSpPr txBox="1"/>
          <p:nvPr/>
        </p:nvSpPr>
        <p:spPr>
          <a:xfrm>
            <a:off x="6804205" y="5899487"/>
            <a:ext cx="2561494" cy="685252"/>
          </a:xfrm>
          <a:prstGeom prst="rect">
            <a:avLst/>
          </a:prstGeom>
          <a:noFill/>
        </p:spPr>
        <p:txBody>
          <a:bodyPr wrap="square" lIns="0" tIns="0" rIns="0" bIns="0" anchor="t">
            <a:spAutoFit/>
          </a:bodyPr>
          <a:lstStyle/>
          <a:p>
            <a:pPr algn="ctr">
              <a:lnSpc>
                <a:spcPts val="6480"/>
              </a:lnSpc>
            </a:pPr>
            <a:r>
              <a:rPr lang="en-US" sz="2000" b="1" i="0" u="none" dirty="0">
                <a:solidFill>
                  <a:srgbClr val="005088"/>
                </a:solidFill>
                <a:latin typeface="Times New Roman"/>
              </a:rPr>
              <a:t>Đ</a:t>
            </a:r>
            <a:r>
              <a:rPr lang="en-US" sz="2000" b="1" dirty="0">
                <a:solidFill>
                  <a:srgbClr val="005088"/>
                </a:solidFill>
                <a:latin typeface="Times New Roman"/>
              </a:rPr>
              <a:t>Ề XUẤT ĐỀ TÀI</a:t>
            </a:r>
            <a:endParaRPr sz="2000" b="1" i="0" u="none" dirty="0">
              <a:solidFill>
                <a:srgbClr val="005088"/>
              </a:solidFill>
              <a:latin typeface="Times New Roman"/>
            </a:endParaRPr>
          </a:p>
        </p:txBody>
      </p:sp>
      <p:pic>
        <p:nvPicPr>
          <p:cNvPr id="7" name="Picture 6">
            <a:extLst>
              <a:ext uri="{FF2B5EF4-FFF2-40B4-BE49-F238E27FC236}">
                <a16:creationId xmlns:a16="http://schemas.microsoft.com/office/drawing/2014/main" id="{BE62DA30-99C6-B550-A059-A94538BCDFF7}"/>
              </a:ext>
            </a:extLst>
          </p:cNvPr>
          <p:cNvPicPr>
            <a:picLocks noChangeAspect="1"/>
          </p:cNvPicPr>
          <p:nvPr/>
        </p:nvPicPr>
        <p:blipFill>
          <a:blip r:embed="rId4"/>
          <a:stretch>
            <a:fillRect/>
          </a:stretch>
        </p:blipFill>
        <p:spPr>
          <a:xfrm>
            <a:off x="6250766" y="143480"/>
            <a:ext cx="3817951" cy="6058425"/>
          </a:xfrm>
          <a:prstGeom prst="rect">
            <a:avLst/>
          </a:prstGeom>
        </p:spPr>
      </p:pic>
    </p:spTree>
    <p:extLst>
      <p:ext uri="{BB962C8B-B14F-4D97-AF65-F5344CB8AC3E}">
        <p14:creationId xmlns:p14="http://schemas.microsoft.com/office/powerpoint/2010/main" val="3727996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5C05E-BBB2-DB05-F02F-5129007CCB9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2DF45D9-6769-669A-6B03-3C658A452469}"/>
              </a:ext>
            </a:extLst>
          </p:cNvPr>
          <p:cNvSpPr txBox="1"/>
          <p:nvPr/>
        </p:nvSpPr>
        <p:spPr>
          <a:xfrm>
            <a:off x="2727984" y="6002957"/>
            <a:ext cx="2561494" cy="685252"/>
          </a:xfrm>
          <a:prstGeom prst="rect">
            <a:avLst/>
          </a:prstGeom>
          <a:noFill/>
        </p:spPr>
        <p:txBody>
          <a:bodyPr wrap="square" lIns="0" tIns="0" rIns="0" bIns="0" anchor="t">
            <a:spAutoFit/>
          </a:bodyPr>
          <a:lstStyle/>
          <a:p>
            <a:pPr algn="ctr">
              <a:lnSpc>
                <a:spcPts val="6480"/>
              </a:lnSpc>
            </a:pPr>
            <a:r>
              <a:rPr lang="en-US" sz="2000" b="1" i="0" u="none" dirty="0">
                <a:solidFill>
                  <a:srgbClr val="005088"/>
                </a:solidFill>
                <a:latin typeface="Times New Roman"/>
              </a:rPr>
              <a:t>C</a:t>
            </a:r>
            <a:r>
              <a:rPr lang="en-US" sz="2000" b="1" dirty="0">
                <a:solidFill>
                  <a:srgbClr val="005088"/>
                </a:solidFill>
                <a:latin typeface="Times New Roman"/>
              </a:rPr>
              <a:t>Á NHÂN</a:t>
            </a:r>
            <a:endParaRPr sz="2000" b="1" i="0" u="none" dirty="0">
              <a:solidFill>
                <a:srgbClr val="005088"/>
              </a:solidFill>
              <a:latin typeface="Times New Roman"/>
            </a:endParaRPr>
          </a:p>
        </p:txBody>
      </p:sp>
      <p:pic>
        <p:nvPicPr>
          <p:cNvPr id="4" name="Picture 3">
            <a:extLst>
              <a:ext uri="{FF2B5EF4-FFF2-40B4-BE49-F238E27FC236}">
                <a16:creationId xmlns:a16="http://schemas.microsoft.com/office/drawing/2014/main" id="{BAE01772-4E76-C7E0-D05A-050D8604D3C8}"/>
              </a:ext>
            </a:extLst>
          </p:cNvPr>
          <p:cNvPicPr>
            <a:picLocks noChangeAspect="1"/>
          </p:cNvPicPr>
          <p:nvPr/>
        </p:nvPicPr>
        <p:blipFill>
          <a:blip r:embed="rId2"/>
          <a:stretch>
            <a:fillRect/>
          </a:stretch>
        </p:blipFill>
        <p:spPr>
          <a:xfrm>
            <a:off x="1969096" y="243139"/>
            <a:ext cx="3825572" cy="6081287"/>
          </a:xfrm>
          <a:prstGeom prst="rect">
            <a:avLst/>
          </a:prstGeom>
        </p:spPr>
      </p:pic>
      <p:pic>
        <p:nvPicPr>
          <p:cNvPr id="3" name="Picture 2">
            <a:extLst>
              <a:ext uri="{FF2B5EF4-FFF2-40B4-BE49-F238E27FC236}">
                <a16:creationId xmlns:a16="http://schemas.microsoft.com/office/drawing/2014/main" id="{942B3E61-6C0A-ABB9-D03E-716D93318EAD}"/>
              </a:ext>
            </a:extLst>
          </p:cNvPr>
          <p:cNvPicPr>
            <a:picLocks noChangeAspect="1"/>
          </p:cNvPicPr>
          <p:nvPr/>
        </p:nvPicPr>
        <p:blipFill>
          <a:blip r:embed="rId3"/>
          <a:stretch>
            <a:fillRect/>
          </a:stretch>
        </p:blipFill>
        <p:spPr>
          <a:xfrm>
            <a:off x="5877470" y="246950"/>
            <a:ext cx="3825572" cy="6073666"/>
          </a:xfrm>
          <a:prstGeom prst="rect">
            <a:avLst/>
          </a:prstGeom>
        </p:spPr>
      </p:pic>
      <p:sp>
        <p:nvSpPr>
          <p:cNvPr id="7" name="TextBox 6">
            <a:extLst>
              <a:ext uri="{FF2B5EF4-FFF2-40B4-BE49-F238E27FC236}">
                <a16:creationId xmlns:a16="http://schemas.microsoft.com/office/drawing/2014/main" id="{FE3B5C26-6A4D-DD2F-984A-79EAE18D3AAC}"/>
              </a:ext>
            </a:extLst>
          </p:cNvPr>
          <p:cNvSpPr txBox="1"/>
          <p:nvPr/>
        </p:nvSpPr>
        <p:spPr>
          <a:xfrm>
            <a:off x="6634699" y="6002957"/>
            <a:ext cx="2561494" cy="685252"/>
          </a:xfrm>
          <a:prstGeom prst="rect">
            <a:avLst/>
          </a:prstGeom>
          <a:noFill/>
        </p:spPr>
        <p:txBody>
          <a:bodyPr wrap="square" lIns="0" tIns="0" rIns="0" bIns="0" anchor="t">
            <a:spAutoFit/>
          </a:bodyPr>
          <a:lstStyle/>
          <a:p>
            <a:pPr algn="ctr">
              <a:lnSpc>
                <a:spcPts val="6480"/>
              </a:lnSpc>
            </a:pPr>
            <a:r>
              <a:rPr lang="en-US" sz="2000" b="1" dirty="0">
                <a:solidFill>
                  <a:srgbClr val="005088"/>
                </a:solidFill>
                <a:latin typeface="Times New Roman"/>
              </a:rPr>
              <a:t>ĐỔI MẬT KHẨU</a:t>
            </a:r>
            <a:endParaRPr sz="2000" b="1" i="0" u="none" dirty="0">
              <a:solidFill>
                <a:srgbClr val="005088"/>
              </a:solidFill>
              <a:latin typeface="Times New Roman"/>
            </a:endParaRPr>
          </a:p>
        </p:txBody>
      </p:sp>
    </p:spTree>
    <p:extLst>
      <p:ext uri="{BB962C8B-B14F-4D97-AF65-F5344CB8AC3E}">
        <p14:creationId xmlns:p14="http://schemas.microsoft.com/office/powerpoint/2010/main" val="31880098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71500" y="3933825"/>
            <a:ext cx="11049000" cy="381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88632" y="4429125"/>
            <a:ext cx="3480435" cy="285750"/>
          </a:xfrm>
          <a:prstGeom prst="rect">
            <a:avLst/>
          </a:prstGeom>
          <a:noFill/>
        </p:spPr>
        <p:txBody>
          <a:bodyPr wrap="square" lIns="0" tIns="0" rIns="0" bIns="0" anchor="t">
            <a:spAutoFit/>
          </a:bodyPr>
          <a:lstStyle/>
          <a:p>
            <a:pPr algn="ctr"/>
            <a:r>
              <a:rPr sz="1950" b="1" i="0" u="none">
                <a:solidFill>
                  <a:srgbClr val="005088"/>
                </a:solidFill>
                <a:latin typeface="Times New Roman"/>
              </a:rPr>
              <a:t>Khởi tạo &amp; Thiết kế</a:t>
            </a:r>
          </a:p>
        </p:txBody>
      </p:sp>
      <p:sp>
        <p:nvSpPr>
          <p:cNvPr id="5" name="TextBox 4"/>
          <p:cNvSpPr txBox="1"/>
          <p:nvPr/>
        </p:nvSpPr>
        <p:spPr>
          <a:xfrm>
            <a:off x="571500" y="4810125"/>
            <a:ext cx="3314700" cy="571500"/>
          </a:xfrm>
          <a:prstGeom prst="rect">
            <a:avLst/>
          </a:prstGeom>
          <a:noFill/>
        </p:spPr>
        <p:txBody>
          <a:bodyPr wrap="square" lIns="0" tIns="0" rIns="0" bIns="0" anchor="t">
            <a:spAutoFit/>
          </a:bodyPr>
          <a:lstStyle/>
          <a:p>
            <a:pPr algn="ctr">
              <a:lnSpc>
                <a:spcPts val="2250"/>
              </a:lnSpc>
            </a:pPr>
            <a:r>
              <a:rPr sz="1500" b="0" i="0" u="none">
                <a:solidFill>
                  <a:srgbClr val="334155"/>
                </a:solidFill>
                <a:latin typeface="Times New Roman"/>
              </a:rPr>
              <a:t>Phân tích yêu cầu, thiết kế CSDL (ERD) và giao diện người dùng (UI/UX).</a:t>
            </a:r>
          </a:p>
        </p:txBody>
      </p:sp>
      <p:sp>
        <p:nvSpPr>
          <p:cNvPr id="6" name="TextBox 5"/>
          <p:cNvSpPr txBox="1"/>
          <p:nvPr/>
        </p:nvSpPr>
        <p:spPr>
          <a:xfrm>
            <a:off x="4355782" y="2762250"/>
            <a:ext cx="3480435" cy="285750"/>
          </a:xfrm>
          <a:prstGeom prst="rect">
            <a:avLst/>
          </a:prstGeom>
          <a:noFill/>
        </p:spPr>
        <p:txBody>
          <a:bodyPr wrap="square" lIns="0" tIns="0" rIns="0" bIns="0" anchor="t">
            <a:spAutoFit/>
          </a:bodyPr>
          <a:lstStyle/>
          <a:p>
            <a:pPr algn="ctr"/>
            <a:r>
              <a:rPr sz="1950" b="1" i="0" u="none">
                <a:solidFill>
                  <a:srgbClr val="005088"/>
                </a:solidFill>
                <a:latin typeface="Times New Roman"/>
              </a:rPr>
              <a:t>Lập trình cốt lõi</a:t>
            </a:r>
          </a:p>
        </p:txBody>
      </p:sp>
      <p:sp>
        <p:nvSpPr>
          <p:cNvPr id="7" name="TextBox 6"/>
          <p:cNvSpPr txBox="1"/>
          <p:nvPr/>
        </p:nvSpPr>
        <p:spPr>
          <a:xfrm>
            <a:off x="4438650" y="3143250"/>
            <a:ext cx="3314700" cy="571500"/>
          </a:xfrm>
          <a:prstGeom prst="rect">
            <a:avLst/>
          </a:prstGeom>
          <a:noFill/>
        </p:spPr>
        <p:txBody>
          <a:bodyPr wrap="square" lIns="0" tIns="0" rIns="0" bIns="0" anchor="t">
            <a:spAutoFit/>
          </a:bodyPr>
          <a:lstStyle/>
          <a:p>
            <a:pPr algn="ctr">
              <a:lnSpc>
                <a:spcPts val="2250"/>
              </a:lnSpc>
            </a:pPr>
            <a:r>
              <a:rPr sz="1500" b="0" i="0" u="none">
                <a:solidFill>
                  <a:srgbClr val="334155"/>
                </a:solidFill>
                <a:latin typeface="Times New Roman"/>
              </a:rPr>
              <a:t>Xây dựng API Backend (ASP.NET) và phát triển giao diện Mobile (Flutter).</a:t>
            </a:r>
          </a:p>
        </p:txBody>
      </p:sp>
      <p:sp>
        <p:nvSpPr>
          <p:cNvPr id="8" name="TextBox 7"/>
          <p:cNvSpPr txBox="1"/>
          <p:nvPr/>
        </p:nvSpPr>
        <p:spPr>
          <a:xfrm>
            <a:off x="8222932" y="4429125"/>
            <a:ext cx="3480435" cy="285750"/>
          </a:xfrm>
          <a:prstGeom prst="rect">
            <a:avLst/>
          </a:prstGeom>
          <a:noFill/>
        </p:spPr>
        <p:txBody>
          <a:bodyPr wrap="square" lIns="0" tIns="0" rIns="0" bIns="0" anchor="t">
            <a:spAutoFit/>
          </a:bodyPr>
          <a:lstStyle/>
          <a:p>
            <a:pPr algn="ctr"/>
            <a:r>
              <a:rPr sz="1950" b="1" i="0" u="none">
                <a:solidFill>
                  <a:srgbClr val="005088"/>
                </a:solidFill>
                <a:latin typeface="Times New Roman"/>
              </a:rPr>
              <a:t>Kiểm thử &amp; Báo cáo</a:t>
            </a:r>
          </a:p>
        </p:txBody>
      </p:sp>
      <p:sp>
        <p:nvSpPr>
          <p:cNvPr id="9" name="TextBox 8"/>
          <p:cNvSpPr txBox="1"/>
          <p:nvPr/>
        </p:nvSpPr>
        <p:spPr>
          <a:xfrm>
            <a:off x="8305800" y="4810125"/>
            <a:ext cx="3314700" cy="571500"/>
          </a:xfrm>
          <a:prstGeom prst="rect">
            <a:avLst/>
          </a:prstGeom>
          <a:noFill/>
        </p:spPr>
        <p:txBody>
          <a:bodyPr wrap="square" lIns="0" tIns="0" rIns="0" bIns="0" anchor="t">
            <a:spAutoFit/>
          </a:bodyPr>
          <a:lstStyle/>
          <a:p>
            <a:pPr algn="ctr">
              <a:lnSpc>
                <a:spcPts val="2250"/>
              </a:lnSpc>
            </a:pPr>
            <a:r>
              <a:rPr sz="1500" b="0" i="0" u="none">
                <a:solidFill>
                  <a:srgbClr val="334155"/>
                </a:solidFill>
                <a:latin typeface="Times New Roman"/>
              </a:rPr>
              <a:t>Testing, tích hợp AI, đóng gói ứng dụng (APK) và viết báo cáo thuyết minh.</a:t>
            </a:r>
          </a:p>
        </p:txBody>
      </p:sp>
      <p:sp>
        <p:nvSpPr>
          <p:cNvPr id="10" name="Rounded Rectangle 9"/>
          <p:cNvSpPr/>
          <p:nvPr/>
        </p:nvSpPr>
        <p:spPr>
          <a:xfrm>
            <a:off x="2133600" y="4048125"/>
            <a:ext cx="190500" cy="190500"/>
          </a:xfrm>
          <a:prstGeom prst="roundRect">
            <a:avLst>
              <a:gd name="adj" fmla="val 50000"/>
            </a:avLst>
          </a:prstGeom>
          <a:solidFill>
            <a:srgbClr val="005088"/>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000750" y="4048125"/>
            <a:ext cx="190500" cy="190500"/>
          </a:xfrm>
          <a:prstGeom prst="roundRect">
            <a:avLst>
              <a:gd name="adj" fmla="val 50000"/>
            </a:avLst>
          </a:prstGeom>
          <a:solidFill>
            <a:srgbClr val="005088"/>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9867900" y="4048125"/>
            <a:ext cx="190500" cy="190500"/>
          </a:xfrm>
          <a:prstGeom prst="roundRect">
            <a:avLst>
              <a:gd name="adj" fmla="val 50000"/>
            </a:avLst>
          </a:prstGeom>
          <a:solidFill>
            <a:srgbClr val="005088"/>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71500" y="571500"/>
            <a:ext cx="11601450" cy="530915"/>
          </a:xfrm>
          <a:prstGeom prst="rect">
            <a:avLst/>
          </a:prstGeom>
          <a:noFill/>
        </p:spPr>
        <p:txBody>
          <a:bodyPr wrap="square" lIns="0" tIns="0" rIns="0" bIns="0" anchor="t">
            <a:spAutoFit/>
          </a:bodyPr>
          <a:lstStyle/>
          <a:p>
            <a:pPr algn="l"/>
            <a:r>
              <a:rPr sz="3450" b="1" i="0" u="none" dirty="0">
                <a:solidFill>
                  <a:srgbClr val="1E293B"/>
                </a:solidFill>
                <a:latin typeface="Times New Roman"/>
              </a:rPr>
              <a:t>Tiến </a:t>
            </a:r>
            <a:r>
              <a:rPr sz="3450" b="1" i="0" u="none" dirty="0" err="1">
                <a:solidFill>
                  <a:srgbClr val="1E293B"/>
                </a:solidFill>
                <a:latin typeface="Times New Roman"/>
              </a:rPr>
              <a:t>độ</a:t>
            </a:r>
            <a:r>
              <a:rPr sz="3450" b="1" i="0" u="none" dirty="0">
                <a:solidFill>
                  <a:srgbClr val="1E293B"/>
                </a:solidFill>
                <a:latin typeface="Times New Roman"/>
              </a:rPr>
              <a:t> </a:t>
            </a:r>
            <a:r>
              <a:rPr lang="en-US" sz="3450" b="1" dirty="0" err="1">
                <a:solidFill>
                  <a:srgbClr val="1E293B"/>
                </a:solidFill>
                <a:latin typeface="Times New Roman"/>
              </a:rPr>
              <a:t>t</a:t>
            </a:r>
            <a:r>
              <a:rPr sz="3450" b="1" i="0" u="none" dirty="0" err="1">
                <a:solidFill>
                  <a:srgbClr val="1E293B"/>
                </a:solidFill>
                <a:latin typeface="Times New Roman"/>
              </a:rPr>
              <a:t>hực</a:t>
            </a:r>
            <a:r>
              <a:rPr sz="3450" b="1" i="0" u="none" dirty="0">
                <a:solidFill>
                  <a:srgbClr val="1E293B"/>
                </a:solidFill>
                <a:latin typeface="Times New Roman"/>
              </a:rPr>
              <a:t> </a:t>
            </a:r>
            <a:r>
              <a:rPr sz="3450" b="1" i="0" u="none" dirty="0" err="1">
                <a:solidFill>
                  <a:srgbClr val="1E293B"/>
                </a:solidFill>
                <a:latin typeface="Times New Roman"/>
              </a:rPr>
              <a:t>hiện</a:t>
            </a:r>
            <a:r>
              <a:rPr lang="en-US" sz="3450" b="1" i="0" u="none" dirty="0">
                <a:solidFill>
                  <a:srgbClr val="1E293B"/>
                </a:solidFill>
                <a:latin typeface="Times New Roman"/>
              </a:rPr>
              <a:t> </a:t>
            </a:r>
            <a:r>
              <a:rPr lang="en-US" sz="3450" b="1" i="0" u="none" dirty="0" err="1">
                <a:solidFill>
                  <a:srgbClr val="1E293B"/>
                </a:solidFill>
                <a:latin typeface="Times New Roman"/>
              </a:rPr>
              <a:t>dự</a:t>
            </a:r>
            <a:r>
              <a:rPr lang="en-US" sz="3450" b="1" i="0" u="none" dirty="0">
                <a:solidFill>
                  <a:srgbClr val="1E293B"/>
                </a:solidFill>
                <a:latin typeface="Times New Roman"/>
              </a:rPr>
              <a:t> </a:t>
            </a:r>
            <a:r>
              <a:rPr lang="en-US" sz="3450" b="1" i="0" u="none" dirty="0" err="1">
                <a:solidFill>
                  <a:srgbClr val="1E293B"/>
                </a:solidFill>
                <a:latin typeface="Times New Roman"/>
              </a:rPr>
              <a:t>kiến</a:t>
            </a:r>
            <a:endParaRPr sz="3450" b="1" i="0" u="none" dirty="0">
              <a:solidFill>
                <a:srgbClr val="1E293B"/>
              </a:solidFill>
              <a:latin typeface="Times New Roman"/>
            </a:endParaRPr>
          </a:p>
        </p:txBody>
      </p:sp>
      <p:sp>
        <p:nvSpPr>
          <p:cNvPr id="14" name="Rectangle 13"/>
          <p:cNvSpPr/>
          <p:nvPr/>
        </p:nvSpPr>
        <p:spPr>
          <a:xfrm>
            <a:off x="571500" y="1219200"/>
            <a:ext cx="11049000" cy="19050"/>
          </a:xfrm>
          <a:prstGeom prst="rect">
            <a:avLst/>
          </a:prstGeom>
          <a:solidFill>
            <a:srgbClr val="005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4610191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382D351-B4AA-AE29-67E4-C0282C236CF4}"/>
              </a:ext>
            </a:extLst>
          </p:cNvPr>
          <p:cNvGraphicFramePr>
            <a:graphicFrameLocks noGrp="1"/>
          </p:cNvGraphicFramePr>
          <p:nvPr/>
        </p:nvGraphicFramePr>
        <p:xfrm>
          <a:off x="228600" y="111033"/>
          <a:ext cx="11605845" cy="6746967"/>
        </p:xfrm>
        <a:graphic>
          <a:graphicData uri="http://schemas.openxmlformats.org/drawingml/2006/table">
            <a:tbl>
              <a:tblPr firstRow="1" firstCol="1" bandRow="1">
                <a:tableStyleId>{5C22544A-7EE6-4342-B048-85BDC9FD1C3A}</a:tableStyleId>
              </a:tblPr>
              <a:tblGrid>
                <a:gridCol w="2896565">
                  <a:extLst>
                    <a:ext uri="{9D8B030D-6E8A-4147-A177-3AD203B41FA5}">
                      <a16:colId xmlns:a16="http://schemas.microsoft.com/office/drawing/2014/main" val="3174105068"/>
                    </a:ext>
                  </a:extLst>
                </a:gridCol>
                <a:gridCol w="4433103">
                  <a:extLst>
                    <a:ext uri="{9D8B030D-6E8A-4147-A177-3AD203B41FA5}">
                      <a16:colId xmlns:a16="http://schemas.microsoft.com/office/drawing/2014/main" val="3861536467"/>
                    </a:ext>
                  </a:extLst>
                </a:gridCol>
                <a:gridCol w="4276177">
                  <a:extLst>
                    <a:ext uri="{9D8B030D-6E8A-4147-A177-3AD203B41FA5}">
                      <a16:colId xmlns:a16="http://schemas.microsoft.com/office/drawing/2014/main" val="671910443"/>
                    </a:ext>
                  </a:extLst>
                </a:gridCol>
              </a:tblGrid>
              <a:tr h="156921">
                <a:tc>
                  <a:txBody>
                    <a:bodyPr/>
                    <a:lstStyle/>
                    <a:p>
                      <a:pPr algn="ctr">
                        <a:lnSpc>
                          <a:spcPct val="100000"/>
                        </a:lnSpc>
                        <a:spcBef>
                          <a:spcPts val="0"/>
                        </a:spcBef>
                        <a:spcAft>
                          <a:spcPts val="0"/>
                        </a:spcAft>
                        <a:buNone/>
                      </a:pPr>
                      <a:r>
                        <a:rPr lang="en-US" sz="1200" kern="0" dirty="0" err="1">
                          <a:solidFill>
                            <a:schemeClr val="tx1"/>
                          </a:solidFill>
                          <a:effectLst/>
                          <a:latin typeface="Times New Roman" panose="02020603050405020304" pitchFamily="18" charset="0"/>
                          <a:cs typeface="Times New Roman" panose="02020603050405020304" pitchFamily="18" charset="0"/>
                        </a:rPr>
                        <a:t>Hạng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mục</a:t>
                      </a:r>
                      <a:r>
                        <a:rPr lang="en-US" sz="1200" kern="0" dirty="0">
                          <a:solidFill>
                            <a:schemeClr val="tx1"/>
                          </a:solidFill>
                          <a:effectLst/>
                          <a:latin typeface="Times New Roman" panose="02020603050405020304" pitchFamily="18" charset="0"/>
                          <a:cs typeface="Times New Roman" panose="02020603050405020304" pitchFamily="18" charset="0"/>
                        </a:rPr>
                        <a:t> / Giai </a:t>
                      </a:r>
                      <a:r>
                        <a:rPr lang="en-US" sz="1200" kern="0" dirty="0" err="1">
                          <a:solidFill>
                            <a:schemeClr val="tx1"/>
                          </a:solidFill>
                          <a:effectLst/>
                          <a:latin typeface="Times New Roman" panose="02020603050405020304" pitchFamily="18" charset="0"/>
                          <a:cs typeface="Times New Roman" panose="02020603050405020304" pitchFamily="18" charset="0"/>
                        </a:rPr>
                        <a:t>đoạn</a:t>
                      </a:r>
                      <a:endParaRPr lang="en-US" sz="12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5262" marR="35262" marT="23508" marB="235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0"/>
                        </a:spcBef>
                        <a:spcAft>
                          <a:spcPts val="0"/>
                        </a:spcAft>
                        <a:buNone/>
                      </a:pPr>
                      <a:r>
                        <a:rPr lang="en-US" sz="1200" kern="0">
                          <a:solidFill>
                            <a:schemeClr val="tx1"/>
                          </a:solidFill>
                          <a:effectLst/>
                          <a:latin typeface="Times New Roman" panose="02020603050405020304" pitchFamily="18" charset="0"/>
                          <a:cs typeface="Times New Roman" panose="02020603050405020304" pitchFamily="18" charset="0"/>
                        </a:rPr>
                        <a:t>Nguyễn Trọng Nguyên</a:t>
                      </a:r>
                      <a:endParaRPr lang="en-US" sz="12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5262" marR="35262" marT="23508" marB="235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0"/>
                        </a:spcBef>
                        <a:spcAft>
                          <a:spcPts val="0"/>
                        </a:spcAft>
                        <a:buNone/>
                      </a:pPr>
                      <a:r>
                        <a:rPr lang="en-US" sz="1200" kern="0">
                          <a:solidFill>
                            <a:schemeClr val="tx1"/>
                          </a:solidFill>
                          <a:effectLst/>
                          <a:latin typeface="Times New Roman" panose="02020603050405020304" pitchFamily="18" charset="0"/>
                          <a:cs typeface="Times New Roman" panose="02020603050405020304" pitchFamily="18" charset="0"/>
                        </a:rPr>
                        <a:t>Lâm Phượng Vĩ</a:t>
                      </a:r>
                      <a:endParaRPr lang="en-US" sz="12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5262" marR="35262" marT="23508" marB="235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6325299"/>
                  </a:ext>
                </a:extLst>
              </a:tr>
              <a:tr h="1383541">
                <a:tc>
                  <a:txBody>
                    <a:bodyPr/>
                    <a:lstStyle/>
                    <a:p>
                      <a:pPr algn="l">
                        <a:lnSpc>
                          <a:spcPct val="100000"/>
                        </a:lnSpc>
                        <a:spcBef>
                          <a:spcPts val="0"/>
                        </a:spcBef>
                        <a:spcAft>
                          <a:spcPts val="0"/>
                        </a:spcAft>
                        <a:buNone/>
                      </a:pPr>
                      <a:r>
                        <a:rPr lang="en-US" sz="1200" kern="0" dirty="0">
                          <a:solidFill>
                            <a:schemeClr val="tx1"/>
                          </a:solidFill>
                          <a:effectLst/>
                          <a:latin typeface="Times New Roman" panose="02020603050405020304" pitchFamily="18" charset="0"/>
                          <a:cs typeface="Times New Roman" panose="02020603050405020304" pitchFamily="18" charset="0"/>
                        </a:rPr>
                        <a:t>1. </a:t>
                      </a:r>
                      <a:r>
                        <a:rPr lang="en-US" sz="1200" kern="0" dirty="0" err="1">
                          <a:solidFill>
                            <a:schemeClr val="tx1"/>
                          </a:solidFill>
                          <a:effectLst/>
                          <a:latin typeface="Times New Roman" panose="02020603050405020304" pitchFamily="18" charset="0"/>
                          <a:cs typeface="Times New Roman" panose="02020603050405020304" pitchFamily="18" charset="0"/>
                        </a:rPr>
                        <a:t>Khảo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sát</a:t>
                      </a:r>
                      <a:r>
                        <a:rPr lang="en-US" sz="1200" kern="0" dirty="0">
                          <a:solidFill>
                            <a:schemeClr val="tx1"/>
                          </a:solidFill>
                          <a:effectLst/>
                          <a:latin typeface="Times New Roman" panose="02020603050405020304" pitchFamily="18" charset="0"/>
                          <a:cs typeface="Times New Roman" panose="02020603050405020304" pitchFamily="18" charset="0"/>
                        </a:rPr>
                        <a:t> &amp; </a:t>
                      </a:r>
                      <a:r>
                        <a:rPr lang="en-US" sz="1200" kern="0" dirty="0" err="1">
                          <a:solidFill>
                            <a:schemeClr val="tx1"/>
                          </a:solidFill>
                          <a:effectLst/>
                          <a:latin typeface="Times New Roman" panose="02020603050405020304" pitchFamily="18" charset="0"/>
                          <a:cs typeface="Times New Roman" panose="02020603050405020304" pitchFamily="18" charset="0"/>
                        </a:rPr>
                        <a:t>Phân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tích</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hệ</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thống</a:t>
                      </a:r>
                      <a:endParaRPr lang="en-US" sz="12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5262" marR="35262" marT="23508" marB="235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Bef>
                          <a:spcPts val="0"/>
                        </a:spcBef>
                        <a:spcAft>
                          <a:spcPts val="0"/>
                        </a:spcAft>
                        <a:buNone/>
                      </a:pP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Cùng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thảo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luận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đề</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tài</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xác</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định</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các</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quy</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tắc</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nghiệp</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vụ</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định</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mức</a:t>
                      </a:r>
                      <a:r>
                        <a:rPr lang="en-US" sz="1200" kern="0" dirty="0">
                          <a:solidFill>
                            <a:schemeClr val="tx1"/>
                          </a:solidFill>
                          <a:effectLst/>
                          <a:latin typeface="Times New Roman" panose="02020603050405020304" pitchFamily="18" charset="0"/>
                          <a:cs typeface="Times New Roman" panose="02020603050405020304" pitchFamily="18" charset="0"/>
                        </a:rPr>
                        <a:t> Min/Max </a:t>
                      </a:r>
                      <a:r>
                        <a:rPr lang="en-US" sz="1200" kern="0" dirty="0" err="1">
                          <a:solidFill>
                            <a:schemeClr val="tx1"/>
                          </a:solidFill>
                          <a:effectLst/>
                          <a:latin typeface="Times New Roman" panose="02020603050405020304" pitchFamily="18" charset="0"/>
                          <a:cs typeface="Times New Roman" panose="02020603050405020304" pitchFamily="18" charset="0"/>
                        </a:rPr>
                        <a:t>thành</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viên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quy</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trình</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duyệt</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đề</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tài</a:t>
                      </a:r>
                      <a:r>
                        <a:rPr lang="en-US" sz="1200" kern="0" dirty="0">
                          <a:solidFill>
                            <a:schemeClr val="tx1"/>
                          </a:solidFill>
                          <a:effectLst/>
                          <a:latin typeface="Times New Roman" panose="02020603050405020304" pitchFamily="18" charset="0"/>
                          <a:cs typeface="Times New Roman" panose="02020603050405020304" pitchFamily="18" charset="0"/>
                        </a:rPr>
                        <a:t>).</a:t>
                      </a:r>
                      <a:endParaRPr lang="en-US" sz="1200" kern="100" dirty="0">
                        <a:solidFill>
                          <a:schemeClr val="tx1"/>
                        </a:solidFill>
                        <a:effectLst/>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buNone/>
                      </a:pP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Phân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tích</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yêu</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cầu</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phân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hệ</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quản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trị</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Phòng</a:t>
                      </a:r>
                      <a:r>
                        <a:rPr lang="en-US" sz="1200" kern="0" dirty="0">
                          <a:solidFill>
                            <a:schemeClr val="tx1"/>
                          </a:solidFill>
                          <a:effectLst/>
                          <a:latin typeface="Times New Roman" panose="02020603050405020304" pitchFamily="18" charset="0"/>
                          <a:cs typeface="Times New Roman" panose="02020603050405020304" pitchFamily="18" charset="0"/>
                        </a:rPr>
                        <a:t> Đào </a:t>
                      </a:r>
                      <a:r>
                        <a:rPr lang="en-US" sz="1200" kern="0" dirty="0" err="1">
                          <a:solidFill>
                            <a:schemeClr val="tx1"/>
                          </a:solidFill>
                          <a:effectLst/>
                          <a:latin typeface="Times New Roman" panose="02020603050405020304" pitchFamily="18" charset="0"/>
                          <a:cs typeface="Times New Roman" panose="02020603050405020304" pitchFamily="18" charset="0"/>
                        </a:rPr>
                        <a:t>tạo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Giáo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vụ</a:t>
                      </a:r>
                      <a:r>
                        <a:rPr lang="en-US" sz="1200" kern="0" dirty="0">
                          <a:solidFill>
                            <a:schemeClr val="tx1"/>
                          </a:solidFill>
                          <a:effectLst/>
                          <a:latin typeface="Times New Roman" panose="02020603050405020304" pitchFamily="18" charset="0"/>
                          <a:cs typeface="Times New Roman" panose="02020603050405020304" pitchFamily="18" charset="0"/>
                        </a:rPr>
                        <a:t> Khoa).</a:t>
                      </a:r>
                      <a:endParaRPr lang="en-US" sz="12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5262" marR="35262" marT="23508" marB="235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Bef>
                          <a:spcPts val="0"/>
                        </a:spcBef>
                        <a:spcAft>
                          <a:spcPts val="0"/>
                        </a:spcAft>
                        <a:buNone/>
                      </a:pP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Cùng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khảo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sát</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thực</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tế</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xác</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định</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mục</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tiêu</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và</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phạm</a:t>
                      </a:r>
                      <a:r>
                        <a:rPr lang="en-US" sz="1200" kern="0" dirty="0">
                          <a:solidFill>
                            <a:schemeClr val="tx1"/>
                          </a:solidFill>
                          <a:effectLst/>
                          <a:latin typeface="Times New Roman" panose="02020603050405020304" pitchFamily="18" charset="0"/>
                          <a:cs typeface="Times New Roman" panose="02020603050405020304" pitchFamily="18" charset="0"/>
                        </a:rPr>
                        <a:t> vi </a:t>
                      </a:r>
                      <a:r>
                        <a:rPr lang="en-US" sz="1200" kern="0" dirty="0" err="1">
                          <a:solidFill>
                            <a:schemeClr val="tx1"/>
                          </a:solidFill>
                          <a:effectLst/>
                          <a:latin typeface="Times New Roman" panose="02020603050405020304" pitchFamily="18" charset="0"/>
                          <a:cs typeface="Times New Roman" panose="02020603050405020304" pitchFamily="18" charset="0"/>
                        </a:rPr>
                        <a:t>ứng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dụng</a:t>
                      </a:r>
                      <a:r>
                        <a:rPr lang="en-US" sz="1200" kern="0" dirty="0">
                          <a:solidFill>
                            <a:schemeClr val="tx1"/>
                          </a:solidFill>
                          <a:effectLst/>
                          <a:latin typeface="Times New Roman" panose="02020603050405020304" pitchFamily="18" charset="0"/>
                          <a:cs typeface="Times New Roman" panose="02020603050405020304" pitchFamily="18" charset="0"/>
                        </a:rPr>
                        <a:t>.</a:t>
                      </a:r>
                      <a:endParaRPr lang="en-US" sz="1200" kern="100" dirty="0">
                        <a:solidFill>
                          <a:schemeClr val="tx1"/>
                        </a:solidFill>
                        <a:effectLst/>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buNone/>
                      </a:pP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Phân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tích</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yêu</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cầu</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các</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phân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hệ</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người</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dùng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cuối</a:t>
                      </a:r>
                      <a:r>
                        <a:rPr lang="en-US" sz="1200" kern="0" dirty="0">
                          <a:solidFill>
                            <a:schemeClr val="tx1"/>
                          </a:solidFill>
                          <a:effectLst/>
                          <a:latin typeface="Times New Roman" panose="02020603050405020304" pitchFamily="18" charset="0"/>
                          <a:cs typeface="Times New Roman" panose="02020603050405020304" pitchFamily="18" charset="0"/>
                        </a:rPr>
                        <a:t> (Sinh </a:t>
                      </a:r>
                      <a:r>
                        <a:rPr lang="en-US" sz="1200" kern="0" dirty="0" err="1">
                          <a:solidFill>
                            <a:schemeClr val="tx1"/>
                          </a:solidFill>
                          <a:effectLst/>
                          <a:latin typeface="Times New Roman" panose="02020603050405020304" pitchFamily="18" charset="0"/>
                          <a:cs typeface="Times New Roman" panose="02020603050405020304" pitchFamily="18" charset="0"/>
                        </a:rPr>
                        <a:t>viên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Trưởng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nhóm</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Giảng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viên</a:t>
                      </a:r>
                      <a:r>
                        <a:rPr lang="en-US" sz="1200" kern="0" dirty="0">
                          <a:solidFill>
                            <a:schemeClr val="tx1"/>
                          </a:solidFill>
                          <a:effectLst/>
                          <a:latin typeface="Times New Roman" panose="02020603050405020304" pitchFamily="18" charset="0"/>
                          <a:cs typeface="Times New Roman" panose="02020603050405020304" pitchFamily="18" charset="0"/>
                        </a:rPr>
                        <a:t>).</a:t>
                      </a:r>
                      <a:endParaRPr lang="en-US" sz="12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5262" marR="35262" marT="23508" marB="235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4872312"/>
                  </a:ext>
                </a:extLst>
              </a:tr>
              <a:tr h="900327">
                <a:tc>
                  <a:txBody>
                    <a:bodyPr/>
                    <a:lstStyle/>
                    <a:p>
                      <a:pPr algn="l">
                        <a:lnSpc>
                          <a:spcPct val="100000"/>
                        </a:lnSpc>
                        <a:spcBef>
                          <a:spcPts val="0"/>
                        </a:spcBef>
                        <a:spcAft>
                          <a:spcPts val="0"/>
                        </a:spcAft>
                        <a:buNone/>
                      </a:pPr>
                      <a:r>
                        <a:rPr lang="en-US" sz="1200" kern="0" dirty="0">
                          <a:solidFill>
                            <a:schemeClr val="tx1"/>
                          </a:solidFill>
                          <a:effectLst/>
                          <a:latin typeface="Times New Roman" panose="02020603050405020304" pitchFamily="18" charset="0"/>
                          <a:cs typeface="Times New Roman" panose="02020603050405020304" pitchFamily="18" charset="0"/>
                        </a:rPr>
                        <a:t>2. </a:t>
                      </a:r>
                      <a:r>
                        <a:rPr lang="en-US" sz="1200" kern="0" dirty="0" err="1">
                          <a:solidFill>
                            <a:schemeClr val="tx1"/>
                          </a:solidFill>
                          <a:effectLst/>
                          <a:latin typeface="Times New Roman" panose="02020603050405020304" pitchFamily="18" charset="0"/>
                          <a:cs typeface="Times New Roman" panose="02020603050405020304" pitchFamily="18" charset="0"/>
                        </a:rPr>
                        <a:t>Thiết</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kế</a:t>
                      </a:r>
                      <a:r>
                        <a:rPr lang="en-US" sz="1200" kern="0" dirty="0">
                          <a:solidFill>
                            <a:schemeClr val="tx1"/>
                          </a:solidFill>
                          <a:effectLst/>
                          <a:latin typeface="Times New Roman" panose="02020603050405020304" pitchFamily="18" charset="0"/>
                          <a:cs typeface="Times New Roman" panose="02020603050405020304" pitchFamily="18" charset="0"/>
                        </a:rPr>
                        <a:t> CSDL (Database)</a:t>
                      </a:r>
                      <a:endParaRPr lang="en-US" sz="12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5262" marR="35262" marT="23508" marB="235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Bef>
                          <a:spcPts val="0"/>
                        </a:spcBef>
                        <a:spcAft>
                          <a:spcPts val="0"/>
                        </a:spcAft>
                        <a:buNone/>
                      </a:pP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Thiết</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kế</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cấu</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trúc</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các</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bảng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quản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lý</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hệ</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thống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cốt</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lõi</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Bảng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Người</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dùng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Phân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quyền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Phòng</a:t>
                      </a:r>
                      <a:r>
                        <a:rPr lang="en-US" sz="1200" kern="0" dirty="0">
                          <a:solidFill>
                            <a:schemeClr val="tx1"/>
                          </a:solidFill>
                          <a:effectLst/>
                          <a:latin typeface="Times New Roman" panose="02020603050405020304" pitchFamily="18" charset="0"/>
                          <a:cs typeface="Times New Roman" panose="02020603050405020304" pitchFamily="18" charset="0"/>
                        </a:rPr>
                        <a:t> Đào </a:t>
                      </a:r>
                      <a:r>
                        <a:rPr lang="en-US" sz="1200" kern="0" dirty="0" err="1">
                          <a:solidFill>
                            <a:schemeClr val="tx1"/>
                          </a:solidFill>
                          <a:effectLst/>
                          <a:latin typeface="Times New Roman" panose="02020603050405020304" pitchFamily="18" charset="0"/>
                          <a:cs typeface="Times New Roman" panose="02020603050405020304" pitchFamily="18" charset="0"/>
                        </a:rPr>
                        <a:t>tạo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Giáo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vụ</a:t>
                      </a:r>
                      <a:r>
                        <a:rPr lang="en-US" sz="1200" kern="0" dirty="0">
                          <a:solidFill>
                            <a:schemeClr val="tx1"/>
                          </a:solidFill>
                          <a:effectLst/>
                          <a:latin typeface="Times New Roman" panose="02020603050405020304" pitchFamily="18" charset="0"/>
                          <a:cs typeface="Times New Roman" panose="02020603050405020304" pitchFamily="18" charset="0"/>
                        </a:rPr>
                        <a:t> Khoa.</a:t>
                      </a:r>
                      <a:endParaRPr lang="en-US" sz="1200" kern="100" dirty="0">
                        <a:solidFill>
                          <a:schemeClr val="tx1"/>
                        </a:solidFill>
                        <a:effectLst/>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buNone/>
                      </a:pP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Thiết</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lập</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các</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khóa</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ngoại</a:t>
                      </a:r>
                      <a:r>
                        <a:rPr lang="en-US" sz="1200" kern="0" dirty="0">
                          <a:solidFill>
                            <a:schemeClr val="tx1"/>
                          </a:solidFill>
                          <a:effectLst/>
                          <a:latin typeface="Times New Roman" panose="02020603050405020304" pitchFamily="18" charset="0"/>
                          <a:cs typeface="Times New Roman" panose="02020603050405020304" pitchFamily="18" charset="0"/>
                        </a:rPr>
                        <a:t>, index </a:t>
                      </a:r>
                      <a:r>
                        <a:rPr lang="en-US" sz="1200" kern="0" dirty="0" err="1">
                          <a:solidFill>
                            <a:schemeClr val="tx1"/>
                          </a:solidFill>
                          <a:effectLst/>
                          <a:latin typeface="Times New Roman" panose="02020603050405020304" pitchFamily="18" charset="0"/>
                          <a:cs typeface="Times New Roman" panose="02020603050405020304" pitchFamily="18" charset="0"/>
                        </a:rPr>
                        <a:t>và</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ràng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buộc</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toàn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vẹn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dữ</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liệu</a:t>
                      </a:r>
                      <a:r>
                        <a:rPr lang="en-US" sz="1200" kern="0" dirty="0">
                          <a:solidFill>
                            <a:schemeClr val="tx1"/>
                          </a:solidFill>
                          <a:effectLst/>
                          <a:latin typeface="Times New Roman" panose="02020603050405020304" pitchFamily="18" charset="0"/>
                          <a:cs typeface="Times New Roman" panose="02020603050405020304" pitchFamily="18" charset="0"/>
                        </a:rPr>
                        <a:t> SQL.</a:t>
                      </a:r>
                      <a:endParaRPr lang="en-US" sz="12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5262" marR="35262" marT="23508" marB="235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Bef>
                          <a:spcPts val="0"/>
                        </a:spcBef>
                        <a:spcAft>
                          <a:spcPts val="0"/>
                        </a:spcAft>
                        <a:buNone/>
                      </a:pPr>
                      <a:r>
                        <a:rPr lang="en-US" sz="1200" kern="0">
                          <a:solidFill>
                            <a:schemeClr val="tx1"/>
                          </a:solidFill>
                          <a:effectLst/>
                          <a:latin typeface="Times New Roman" panose="02020603050405020304" pitchFamily="18" charset="0"/>
                          <a:cs typeface="Times New Roman" panose="02020603050405020304" pitchFamily="18" charset="0"/>
                        </a:rPr>
                        <a:t>- Thiết kế cấu trúc các bảng nghiệp vụ: Bảng Nhóm sinh viên, Thành viên nhóm, Đợt đăng ký, Đề tài môn học, Lịch sử Chat.</a:t>
                      </a:r>
                      <a:endParaRPr lang="en-US" sz="1200" kern="100">
                        <a:solidFill>
                          <a:schemeClr val="tx1"/>
                        </a:solidFill>
                        <a:effectLst/>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buNone/>
                      </a:pPr>
                      <a:r>
                        <a:rPr lang="en-US" sz="1200" kern="0">
                          <a:solidFill>
                            <a:schemeClr val="tx1"/>
                          </a:solidFill>
                          <a:effectLst/>
                          <a:latin typeface="Times New Roman" panose="02020603050405020304" pitchFamily="18" charset="0"/>
                          <a:cs typeface="Times New Roman" panose="02020603050405020304" pitchFamily="18" charset="0"/>
                        </a:rPr>
                        <a:t>- Phối hợp kiểm tra tính đồng bộ và tối ưu hóa truy vấn CSDL.</a:t>
                      </a:r>
                      <a:endParaRPr lang="en-US" sz="12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5262" marR="35262" marT="23508" marB="235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9803057"/>
                  </a:ext>
                </a:extLst>
              </a:tr>
              <a:tr h="900327">
                <a:tc>
                  <a:txBody>
                    <a:bodyPr/>
                    <a:lstStyle/>
                    <a:p>
                      <a:pPr algn="l">
                        <a:lnSpc>
                          <a:spcPct val="100000"/>
                        </a:lnSpc>
                        <a:spcBef>
                          <a:spcPts val="0"/>
                        </a:spcBef>
                        <a:spcAft>
                          <a:spcPts val="0"/>
                        </a:spcAft>
                        <a:buNone/>
                      </a:pPr>
                      <a:r>
                        <a:rPr lang="en-US" sz="1200" kern="0">
                          <a:solidFill>
                            <a:schemeClr val="tx1"/>
                          </a:solidFill>
                          <a:effectLst/>
                          <a:latin typeface="Times New Roman" panose="02020603050405020304" pitchFamily="18" charset="0"/>
                          <a:cs typeface="Times New Roman" panose="02020603050405020304" pitchFamily="18" charset="0"/>
                        </a:rPr>
                        <a:t>3. Lập trình Backend (ASP.NET Core API)</a:t>
                      </a:r>
                      <a:endParaRPr lang="en-US" sz="12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5262" marR="35262" marT="23508" marB="235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Bef>
                          <a:spcPts val="0"/>
                        </a:spcBef>
                        <a:spcAft>
                          <a:spcPts val="0"/>
                        </a:spcAft>
                        <a:buNone/>
                      </a:pP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Viết</a:t>
                      </a:r>
                      <a:r>
                        <a:rPr lang="en-US" sz="1200" kern="0" dirty="0">
                          <a:solidFill>
                            <a:schemeClr val="tx1"/>
                          </a:solidFill>
                          <a:effectLst/>
                          <a:latin typeface="Times New Roman" panose="02020603050405020304" pitchFamily="18" charset="0"/>
                          <a:cs typeface="Times New Roman" panose="02020603050405020304" pitchFamily="18" charset="0"/>
                        </a:rPr>
                        <a:t> API </a:t>
                      </a:r>
                      <a:r>
                        <a:rPr lang="en-US" sz="1200" kern="0" dirty="0" err="1">
                          <a:solidFill>
                            <a:schemeClr val="tx1"/>
                          </a:solidFill>
                          <a:effectLst/>
                          <a:latin typeface="Times New Roman" panose="02020603050405020304" pitchFamily="18" charset="0"/>
                          <a:cs typeface="Times New Roman" panose="02020603050405020304" pitchFamily="18" charset="0"/>
                        </a:rPr>
                        <a:t>quản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lý</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tài</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khoản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phân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quyền</a:t>
                      </a:r>
                      <a:r>
                        <a:rPr lang="en-US" sz="1200" kern="0" dirty="0">
                          <a:solidFill>
                            <a:schemeClr val="tx1"/>
                          </a:solidFill>
                          <a:effectLst/>
                          <a:latin typeface="Times New Roman" panose="02020603050405020304" pitchFamily="18" charset="0"/>
                          <a:cs typeface="Times New Roman" panose="02020603050405020304" pitchFamily="18" charset="0"/>
                        </a:rPr>
                        <a:t> (Admin, </a:t>
                      </a:r>
                      <a:r>
                        <a:rPr lang="en-US" sz="1200" kern="0" dirty="0" err="1">
                          <a:solidFill>
                            <a:schemeClr val="tx1"/>
                          </a:solidFill>
                          <a:effectLst/>
                          <a:latin typeface="Times New Roman" panose="02020603050405020304" pitchFamily="18" charset="0"/>
                          <a:cs typeface="Times New Roman" panose="02020603050405020304" pitchFamily="18" charset="0"/>
                        </a:rPr>
                        <a:t>Phòng</a:t>
                      </a:r>
                      <a:r>
                        <a:rPr lang="en-US" sz="1200" kern="0" dirty="0">
                          <a:solidFill>
                            <a:schemeClr val="tx1"/>
                          </a:solidFill>
                          <a:effectLst/>
                          <a:latin typeface="Times New Roman" panose="02020603050405020304" pitchFamily="18" charset="0"/>
                          <a:cs typeface="Times New Roman" panose="02020603050405020304" pitchFamily="18" charset="0"/>
                        </a:rPr>
                        <a:t> Đào </a:t>
                      </a:r>
                      <a:r>
                        <a:rPr lang="en-US" sz="1200" kern="0" dirty="0" err="1">
                          <a:solidFill>
                            <a:schemeClr val="tx1"/>
                          </a:solidFill>
                          <a:effectLst/>
                          <a:latin typeface="Times New Roman" panose="02020603050405020304" pitchFamily="18" charset="0"/>
                          <a:cs typeface="Times New Roman" panose="02020603050405020304" pitchFamily="18" charset="0"/>
                        </a:rPr>
                        <a:t>tạo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Giáo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vụ</a:t>
                      </a:r>
                      <a:r>
                        <a:rPr lang="en-US" sz="1200" kern="0" dirty="0">
                          <a:solidFill>
                            <a:schemeClr val="tx1"/>
                          </a:solidFill>
                          <a:effectLst/>
                          <a:latin typeface="Times New Roman" panose="02020603050405020304" pitchFamily="18" charset="0"/>
                          <a:cs typeface="Times New Roman" panose="02020603050405020304" pitchFamily="18" charset="0"/>
                        </a:rPr>
                        <a:t> Khoa, </a:t>
                      </a:r>
                      <a:r>
                        <a:rPr lang="en-US" sz="1200" kern="0" dirty="0" err="1">
                          <a:solidFill>
                            <a:schemeClr val="tx1"/>
                          </a:solidFill>
                          <a:effectLst/>
                          <a:latin typeface="Times New Roman" panose="02020603050405020304" pitchFamily="18" charset="0"/>
                          <a:cs typeface="Times New Roman" panose="02020603050405020304" pitchFamily="18" charset="0"/>
                        </a:rPr>
                        <a:t>Giảng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viên</a:t>
                      </a:r>
                      <a:r>
                        <a:rPr lang="en-US" sz="1200" kern="0" dirty="0">
                          <a:solidFill>
                            <a:schemeClr val="tx1"/>
                          </a:solidFill>
                          <a:effectLst/>
                          <a:latin typeface="Times New Roman" panose="02020603050405020304" pitchFamily="18" charset="0"/>
                          <a:cs typeface="Times New Roman" panose="02020603050405020304" pitchFamily="18" charset="0"/>
                        </a:rPr>
                        <a:t>).</a:t>
                      </a:r>
                      <a:endParaRPr lang="en-US" sz="1200" kern="100" dirty="0">
                        <a:solidFill>
                          <a:schemeClr val="tx1"/>
                        </a:solidFill>
                        <a:effectLst/>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buNone/>
                      </a:pP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Viết</a:t>
                      </a:r>
                      <a:r>
                        <a:rPr lang="en-US" sz="1200" kern="0" dirty="0">
                          <a:solidFill>
                            <a:schemeClr val="tx1"/>
                          </a:solidFill>
                          <a:effectLst/>
                          <a:latin typeface="Times New Roman" panose="02020603050405020304" pitchFamily="18" charset="0"/>
                          <a:cs typeface="Times New Roman" panose="02020603050405020304" pitchFamily="18" charset="0"/>
                        </a:rPr>
                        <a:t> API </a:t>
                      </a:r>
                      <a:r>
                        <a:rPr lang="en-US" sz="1200" kern="0" dirty="0" err="1">
                          <a:solidFill>
                            <a:schemeClr val="tx1"/>
                          </a:solidFill>
                          <a:effectLst/>
                          <a:latin typeface="Times New Roman" panose="02020603050405020304" pitchFamily="18" charset="0"/>
                          <a:cs typeface="Times New Roman" panose="02020603050405020304" pitchFamily="18" charset="0"/>
                        </a:rPr>
                        <a:t>cấu</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hình</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đợt</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đăng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ký</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thiết</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lập</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hạn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mức</a:t>
                      </a:r>
                      <a:r>
                        <a:rPr lang="en-US" sz="1200" kern="0" dirty="0">
                          <a:solidFill>
                            <a:schemeClr val="tx1"/>
                          </a:solidFill>
                          <a:effectLst/>
                          <a:latin typeface="Times New Roman" panose="02020603050405020304" pitchFamily="18" charset="0"/>
                          <a:cs typeface="Times New Roman" panose="02020603050405020304" pitchFamily="18" charset="0"/>
                        </a:rPr>
                        <a:t> Min/Max </a:t>
                      </a:r>
                      <a:r>
                        <a:rPr lang="en-US" sz="1200" kern="0" dirty="0" err="1">
                          <a:solidFill>
                            <a:schemeClr val="tx1"/>
                          </a:solidFill>
                          <a:effectLst/>
                          <a:latin typeface="Times New Roman" panose="02020603050405020304" pitchFamily="18" charset="0"/>
                          <a:cs typeface="Times New Roman" panose="02020603050405020304" pitchFamily="18" charset="0"/>
                        </a:rPr>
                        <a:t>và</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quản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lý</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danh</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mục</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đề</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tài</a:t>
                      </a:r>
                      <a:r>
                        <a:rPr lang="en-US" sz="1200" kern="0" dirty="0">
                          <a:solidFill>
                            <a:schemeClr val="tx1"/>
                          </a:solidFill>
                          <a:effectLst/>
                          <a:latin typeface="Times New Roman" panose="02020603050405020304" pitchFamily="18" charset="0"/>
                          <a:cs typeface="Times New Roman" panose="02020603050405020304" pitchFamily="18" charset="0"/>
                        </a:rPr>
                        <a:t>.</a:t>
                      </a:r>
                      <a:endParaRPr lang="en-US" sz="12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5262" marR="35262" marT="23508" marB="235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Bef>
                          <a:spcPts val="0"/>
                        </a:spcBef>
                        <a:spcAft>
                          <a:spcPts val="0"/>
                        </a:spcAft>
                        <a:buNone/>
                      </a:pPr>
                      <a:r>
                        <a:rPr lang="en-US" sz="1200" kern="0">
                          <a:solidFill>
                            <a:schemeClr val="tx1"/>
                          </a:solidFill>
                          <a:effectLst/>
                          <a:latin typeface="Times New Roman" panose="02020603050405020304" pitchFamily="18" charset="0"/>
                          <a:cs typeface="Times New Roman" panose="02020603050405020304" pitchFamily="18" charset="0"/>
                        </a:rPr>
                        <a:t>- Viết API xử lý logic nghiệp vụ thành lập nhóm, xin vào nhóm, rời nhóm.</a:t>
                      </a:r>
                      <a:endParaRPr lang="en-US" sz="1200" kern="100">
                        <a:solidFill>
                          <a:schemeClr val="tx1"/>
                        </a:solidFill>
                        <a:effectLst/>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buNone/>
                      </a:pPr>
                      <a:r>
                        <a:rPr lang="en-US" sz="1200" kern="0">
                          <a:solidFill>
                            <a:schemeClr val="tx1"/>
                          </a:solidFill>
                          <a:effectLst/>
                          <a:latin typeface="Times New Roman" panose="02020603050405020304" pitchFamily="18" charset="0"/>
                          <a:cs typeface="Times New Roman" panose="02020603050405020304" pitchFamily="18" charset="0"/>
                        </a:rPr>
                        <a:t>- Viết API quản lý trạng thái nộp đề xuất đề tài và phân công giảng viên hướng dẫn.</a:t>
                      </a:r>
                      <a:endParaRPr lang="en-US" sz="12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5262" marR="35262" marT="23508" marB="235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8615451"/>
                  </a:ext>
                </a:extLst>
              </a:tr>
              <a:tr h="1011838">
                <a:tc>
                  <a:txBody>
                    <a:bodyPr/>
                    <a:lstStyle/>
                    <a:p>
                      <a:pPr algn="l">
                        <a:lnSpc>
                          <a:spcPct val="100000"/>
                        </a:lnSpc>
                        <a:spcBef>
                          <a:spcPts val="0"/>
                        </a:spcBef>
                        <a:spcAft>
                          <a:spcPts val="0"/>
                        </a:spcAft>
                        <a:buNone/>
                      </a:pPr>
                      <a:r>
                        <a:rPr lang="en-US" sz="1200" kern="0">
                          <a:solidFill>
                            <a:schemeClr val="tx1"/>
                          </a:solidFill>
                          <a:effectLst/>
                          <a:latin typeface="Times New Roman" panose="02020603050405020304" pitchFamily="18" charset="0"/>
                          <a:cs typeface="Times New Roman" panose="02020603050405020304" pitchFamily="18" charset="0"/>
                        </a:rPr>
                        <a:t>4. Lập trình Frontend (Mobile App - Flutter)</a:t>
                      </a:r>
                      <a:endParaRPr lang="en-US" sz="12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5262" marR="35262" marT="23508" marB="235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Bef>
                          <a:spcPts val="0"/>
                        </a:spcBef>
                        <a:spcAft>
                          <a:spcPts val="0"/>
                        </a:spcAft>
                        <a:buNone/>
                      </a:pP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Xây</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dựng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giao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diện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và</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lập</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trình</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chức</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năng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cho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phân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hệ</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Phòng</a:t>
                      </a:r>
                      <a:r>
                        <a:rPr lang="en-US" sz="1200" kern="0" dirty="0">
                          <a:solidFill>
                            <a:schemeClr val="tx1"/>
                          </a:solidFill>
                          <a:effectLst/>
                          <a:latin typeface="Times New Roman" panose="02020603050405020304" pitchFamily="18" charset="0"/>
                          <a:cs typeface="Times New Roman" panose="02020603050405020304" pitchFamily="18" charset="0"/>
                        </a:rPr>
                        <a:t> Đào </a:t>
                      </a:r>
                      <a:r>
                        <a:rPr lang="en-US" sz="1200" kern="0" dirty="0" err="1">
                          <a:solidFill>
                            <a:schemeClr val="tx1"/>
                          </a:solidFill>
                          <a:effectLst/>
                          <a:latin typeface="Times New Roman" panose="02020603050405020304" pitchFamily="18" charset="0"/>
                          <a:cs typeface="Times New Roman" panose="02020603050405020304" pitchFamily="18" charset="0"/>
                        </a:rPr>
                        <a:t>tạo</a:t>
                      </a:r>
                      <a:r>
                        <a:rPr lang="en-US" sz="1200" kern="0" dirty="0">
                          <a:solidFill>
                            <a:schemeClr val="tx1"/>
                          </a:solidFill>
                          <a:effectLst/>
                          <a:latin typeface="Times New Roman" panose="02020603050405020304" pitchFamily="18" charset="0"/>
                          <a:cs typeface="Times New Roman" panose="02020603050405020304" pitchFamily="18" charset="0"/>
                        </a:rPr>
                        <a:t> &amp; </a:t>
                      </a:r>
                      <a:r>
                        <a:rPr lang="en-US" sz="1200" kern="0" dirty="0" err="1">
                          <a:solidFill>
                            <a:schemeClr val="tx1"/>
                          </a:solidFill>
                          <a:effectLst/>
                          <a:latin typeface="Times New Roman" panose="02020603050405020304" pitchFamily="18" charset="0"/>
                          <a:cs typeface="Times New Roman" panose="02020603050405020304" pitchFamily="18" charset="0"/>
                        </a:rPr>
                        <a:t>Giáo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vụ</a:t>
                      </a:r>
                      <a:r>
                        <a:rPr lang="en-US" sz="1200" kern="0" dirty="0">
                          <a:solidFill>
                            <a:schemeClr val="tx1"/>
                          </a:solidFill>
                          <a:effectLst/>
                          <a:latin typeface="Times New Roman" panose="02020603050405020304" pitchFamily="18" charset="0"/>
                          <a:cs typeface="Times New Roman" panose="02020603050405020304" pitchFamily="18" charset="0"/>
                        </a:rPr>
                        <a:t> Khoa (</a:t>
                      </a:r>
                      <a:r>
                        <a:rPr lang="en-US" sz="1200" kern="0" dirty="0" err="1">
                          <a:solidFill>
                            <a:schemeClr val="tx1"/>
                          </a:solidFill>
                          <a:effectLst/>
                          <a:latin typeface="Times New Roman" panose="02020603050405020304" pitchFamily="18" charset="0"/>
                          <a:cs typeface="Times New Roman" panose="02020603050405020304" pitchFamily="18" charset="0"/>
                        </a:rPr>
                        <a:t>Tạo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đợt</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thống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kê</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lớp</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học</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phần</a:t>
                      </a:r>
                      <a:r>
                        <a:rPr lang="en-US" sz="1200" kern="0" dirty="0">
                          <a:solidFill>
                            <a:schemeClr val="tx1"/>
                          </a:solidFill>
                          <a:effectLst/>
                          <a:latin typeface="Times New Roman" panose="02020603050405020304" pitchFamily="18" charset="0"/>
                          <a:cs typeface="Times New Roman" panose="02020603050405020304" pitchFamily="18" charset="0"/>
                        </a:rPr>
                        <a:t>).</a:t>
                      </a:r>
                      <a:endParaRPr lang="en-US" sz="1200" kern="100" dirty="0">
                        <a:solidFill>
                          <a:schemeClr val="tx1"/>
                        </a:solidFill>
                        <a:effectLst/>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buNone/>
                      </a:pP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Xây</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dựng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giao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diện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và</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lập</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trình</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phân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hệ</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Giảng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viên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Duyệt</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đề</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tài</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theo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dõi</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tiến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độ</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nhóm</a:t>
                      </a:r>
                      <a:r>
                        <a:rPr lang="en-US" sz="1200" kern="0" dirty="0">
                          <a:solidFill>
                            <a:schemeClr val="tx1"/>
                          </a:solidFill>
                          <a:effectLst/>
                          <a:latin typeface="Times New Roman" panose="02020603050405020304" pitchFamily="18" charset="0"/>
                          <a:cs typeface="Times New Roman" panose="02020603050405020304" pitchFamily="18" charset="0"/>
                        </a:rPr>
                        <a:t>).</a:t>
                      </a:r>
                      <a:endParaRPr lang="en-US" sz="12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5262" marR="35262" marT="23508" marB="235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Bef>
                          <a:spcPts val="0"/>
                        </a:spcBef>
                        <a:spcAft>
                          <a:spcPts val="0"/>
                        </a:spcAft>
                        <a:buNone/>
                      </a:pP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Xây</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dựng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giao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diện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và</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lập</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trình</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chức</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năng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cho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phân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hệ</a:t>
                      </a:r>
                      <a:r>
                        <a:rPr lang="en-US" sz="1200" kern="0" dirty="0">
                          <a:solidFill>
                            <a:schemeClr val="tx1"/>
                          </a:solidFill>
                          <a:effectLst/>
                          <a:latin typeface="Times New Roman" panose="02020603050405020304" pitchFamily="18" charset="0"/>
                          <a:cs typeface="Times New Roman" panose="02020603050405020304" pitchFamily="18" charset="0"/>
                        </a:rPr>
                        <a:t> Sinh </a:t>
                      </a:r>
                      <a:r>
                        <a:rPr lang="en-US" sz="1200" kern="0" dirty="0" err="1">
                          <a:solidFill>
                            <a:schemeClr val="tx1"/>
                          </a:solidFill>
                          <a:effectLst/>
                          <a:latin typeface="Times New Roman" panose="02020603050405020304" pitchFamily="18" charset="0"/>
                          <a:cs typeface="Times New Roman" panose="02020603050405020304" pitchFamily="18" charset="0"/>
                        </a:rPr>
                        <a:t>viên</a:t>
                      </a:r>
                      <a:r>
                        <a:rPr lang="en-US" sz="1200" kern="0" dirty="0">
                          <a:solidFill>
                            <a:schemeClr val="tx1"/>
                          </a:solidFill>
                          <a:effectLst/>
                          <a:latin typeface="Times New Roman" panose="02020603050405020304" pitchFamily="18" charset="0"/>
                          <a:cs typeface="Times New Roman" panose="02020603050405020304" pitchFamily="18" charset="0"/>
                        </a:rPr>
                        <a:t> &amp; </a:t>
                      </a:r>
                      <a:r>
                        <a:rPr lang="en-US" sz="1200" kern="0" dirty="0" err="1">
                          <a:solidFill>
                            <a:schemeClr val="tx1"/>
                          </a:solidFill>
                          <a:effectLst/>
                          <a:latin typeface="Times New Roman" panose="02020603050405020304" pitchFamily="18" charset="0"/>
                          <a:cs typeface="Times New Roman" panose="02020603050405020304" pitchFamily="18" charset="0"/>
                        </a:rPr>
                        <a:t>Trưởng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nhóm</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Tạo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nhóm</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tìm</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kiếm</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thành</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viên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gửi</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yêu</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cầu</a:t>
                      </a:r>
                      <a:r>
                        <a:rPr lang="en-US" sz="1200" kern="0" dirty="0">
                          <a:solidFill>
                            <a:schemeClr val="tx1"/>
                          </a:solidFill>
                          <a:effectLst/>
                          <a:latin typeface="Times New Roman" panose="02020603050405020304" pitchFamily="18" charset="0"/>
                          <a:cs typeface="Times New Roman" panose="02020603050405020304" pitchFamily="18" charset="0"/>
                        </a:rPr>
                        <a:t> join </a:t>
                      </a:r>
                      <a:r>
                        <a:rPr lang="en-US" sz="1200" kern="0" dirty="0" err="1">
                          <a:solidFill>
                            <a:schemeClr val="tx1"/>
                          </a:solidFill>
                          <a:effectLst/>
                          <a:latin typeface="Times New Roman" panose="02020603050405020304" pitchFamily="18" charset="0"/>
                          <a:cs typeface="Times New Roman" panose="02020603050405020304" pitchFamily="18" charset="0"/>
                        </a:rPr>
                        <a:t>nhóm</a:t>
                      </a:r>
                      <a:r>
                        <a:rPr lang="en-US" sz="1200" kern="0" dirty="0">
                          <a:solidFill>
                            <a:schemeClr val="tx1"/>
                          </a:solidFill>
                          <a:effectLst/>
                          <a:latin typeface="Times New Roman" panose="02020603050405020304" pitchFamily="18" charset="0"/>
                          <a:cs typeface="Times New Roman" panose="02020603050405020304" pitchFamily="18" charset="0"/>
                        </a:rPr>
                        <a:t>).</a:t>
                      </a:r>
                      <a:endParaRPr lang="en-US" sz="1200" kern="100" dirty="0">
                        <a:solidFill>
                          <a:schemeClr val="tx1"/>
                        </a:solidFill>
                        <a:effectLst/>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buNone/>
                      </a:pP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Lập</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trình</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màn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hình</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gửi</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bản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đề</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xuất</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đề</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tài</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và</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theo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dõi</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trạng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thái</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duyệt</a:t>
                      </a:r>
                      <a:r>
                        <a:rPr lang="en-US" sz="1200" kern="0" dirty="0">
                          <a:solidFill>
                            <a:schemeClr val="tx1"/>
                          </a:solidFill>
                          <a:effectLst/>
                          <a:latin typeface="Times New Roman" panose="02020603050405020304" pitchFamily="18" charset="0"/>
                          <a:cs typeface="Times New Roman" panose="02020603050405020304" pitchFamily="18" charset="0"/>
                        </a:rPr>
                        <a:t>.</a:t>
                      </a:r>
                      <a:endParaRPr lang="en-US" sz="12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5262" marR="35262" marT="23508" marB="235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5797214"/>
                  </a:ext>
                </a:extLst>
              </a:tr>
              <a:tr h="1011838">
                <a:tc>
                  <a:txBody>
                    <a:bodyPr/>
                    <a:lstStyle/>
                    <a:p>
                      <a:pPr algn="l">
                        <a:lnSpc>
                          <a:spcPct val="100000"/>
                        </a:lnSpc>
                        <a:spcBef>
                          <a:spcPts val="0"/>
                        </a:spcBef>
                        <a:spcAft>
                          <a:spcPts val="0"/>
                        </a:spcAft>
                        <a:buNone/>
                      </a:pPr>
                      <a:r>
                        <a:rPr lang="en-US" sz="1200" kern="0">
                          <a:solidFill>
                            <a:schemeClr val="tx1"/>
                          </a:solidFill>
                          <a:effectLst/>
                          <a:latin typeface="Times New Roman" panose="02020603050405020304" pitchFamily="18" charset="0"/>
                          <a:cs typeface="Times New Roman" panose="02020603050405020304" pitchFamily="18" charset="0"/>
                        </a:rPr>
                        <a:t>5. Tính năng nâng cao (AI &amp; Realtime)</a:t>
                      </a:r>
                      <a:endParaRPr lang="en-US" sz="12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5262" marR="35262" marT="23508" marB="235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Bef>
                          <a:spcPts val="0"/>
                        </a:spcBef>
                        <a:spcAft>
                          <a:spcPts val="0"/>
                        </a:spcAft>
                        <a:buNone/>
                      </a:pPr>
                      <a:r>
                        <a:rPr lang="en-US" sz="1200" kern="0">
                          <a:solidFill>
                            <a:schemeClr val="tx1"/>
                          </a:solidFill>
                          <a:effectLst/>
                          <a:latin typeface="Times New Roman" panose="02020603050405020304" pitchFamily="18" charset="0"/>
                          <a:cs typeface="Times New Roman" panose="02020603050405020304" pitchFamily="18" charset="0"/>
                        </a:rPr>
                        <a:t>- Đảm nhận phần tích hợp Trợ lý AI: Kết nối API LLMs, xử lý dữ liệu để gợi ý ý tưởng đề tài sát với chuyên ngành cho sinh viên.</a:t>
                      </a:r>
                      <a:endParaRPr lang="en-US" sz="1200" kern="100">
                        <a:solidFill>
                          <a:schemeClr val="tx1"/>
                        </a:solidFill>
                        <a:effectLst/>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buNone/>
                      </a:pPr>
                      <a:r>
                        <a:rPr lang="en-US" sz="1200" kern="0">
                          <a:solidFill>
                            <a:schemeClr val="tx1"/>
                          </a:solidFill>
                          <a:effectLst/>
                          <a:latin typeface="Times New Roman" panose="02020603050405020304" pitchFamily="18" charset="0"/>
                          <a:cs typeface="Times New Roman" panose="02020603050405020304" pitchFamily="18" charset="0"/>
                        </a:rPr>
                        <a:t>- Viết API chuẩn hóa cấu trúc bản đề xuất.</a:t>
                      </a:r>
                      <a:endParaRPr lang="en-US" sz="12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5262" marR="35262" marT="23508" marB="235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Bef>
                          <a:spcPts val="0"/>
                        </a:spcBef>
                        <a:spcAft>
                          <a:spcPts val="0"/>
                        </a:spcAft>
                        <a:buNone/>
                      </a:pP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Đảm</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nhận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phần</a:t>
                      </a:r>
                      <a:r>
                        <a:rPr lang="en-US" sz="1200" kern="0" dirty="0">
                          <a:solidFill>
                            <a:schemeClr val="tx1"/>
                          </a:solidFill>
                          <a:effectLst/>
                          <a:latin typeface="Times New Roman" panose="02020603050405020304" pitchFamily="18" charset="0"/>
                          <a:cs typeface="Times New Roman" panose="02020603050405020304" pitchFamily="18" charset="0"/>
                        </a:rPr>
                        <a:t> Realtime Chat &amp; Thông </a:t>
                      </a:r>
                      <a:r>
                        <a:rPr lang="en-US" sz="1200" kern="0" dirty="0" err="1">
                          <a:solidFill>
                            <a:schemeClr val="tx1"/>
                          </a:solidFill>
                          <a:effectLst/>
                          <a:latin typeface="Times New Roman" panose="02020603050405020304" pitchFamily="18" charset="0"/>
                          <a:cs typeface="Times New Roman" panose="02020603050405020304" pitchFamily="18" charset="0"/>
                        </a:rPr>
                        <a:t>báo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Tích</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hợp</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SignalR</a:t>
                      </a:r>
                      <a:r>
                        <a:rPr lang="en-US" sz="1200" kern="0" dirty="0">
                          <a:solidFill>
                            <a:schemeClr val="tx1"/>
                          </a:solidFill>
                          <a:effectLst/>
                          <a:latin typeface="Times New Roman" panose="02020603050405020304" pitchFamily="18" charset="0"/>
                          <a:cs typeface="Times New Roman" panose="02020603050405020304" pitchFamily="18" charset="0"/>
                        </a:rPr>
                        <a:t>/WebSocket </a:t>
                      </a:r>
                      <a:r>
                        <a:rPr lang="en-US" sz="1200" kern="0" dirty="0" err="1">
                          <a:solidFill>
                            <a:schemeClr val="tx1"/>
                          </a:solidFill>
                          <a:effectLst/>
                          <a:latin typeface="Times New Roman" panose="02020603050405020304" pitchFamily="18" charset="0"/>
                          <a:cs typeface="Times New Roman" panose="02020603050405020304" pitchFamily="18" charset="0"/>
                        </a:rPr>
                        <a:t>để</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làm</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tính</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năng</a:t>
                      </a:r>
                      <a:r>
                        <a:rPr lang="en-US" sz="1200" kern="0" dirty="0">
                          <a:solidFill>
                            <a:schemeClr val="tx1"/>
                          </a:solidFill>
                          <a:effectLst/>
                          <a:latin typeface="Times New Roman" panose="02020603050405020304" pitchFamily="18" charset="0"/>
                          <a:cs typeface="Times New Roman" panose="02020603050405020304" pitchFamily="18" charset="0"/>
                        </a:rPr>
                        <a:t> Mini Chat </a:t>
                      </a:r>
                      <a:r>
                        <a:rPr lang="en-US" sz="1200" kern="0" dirty="0" err="1">
                          <a:solidFill>
                            <a:schemeClr val="tx1"/>
                          </a:solidFill>
                          <a:effectLst/>
                          <a:latin typeface="Times New Roman" panose="02020603050405020304" pitchFamily="18" charset="0"/>
                          <a:cs typeface="Times New Roman" panose="02020603050405020304" pitchFamily="18" charset="0"/>
                        </a:rPr>
                        <a:t>nội</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bộ</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trong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nhóm</a:t>
                      </a:r>
                      <a:r>
                        <a:rPr lang="en-US" sz="1200" kern="0" dirty="0">
                          <a:solidFill>
                            <a:schemeClr val="tx1"/>
                          </a:solidFill>
                          <a:effectLst/>
                          <a:latin typeface="Times New Roman" panose="02020603050405020304" pitchFamily="18" charset="0"/>
                          <a:cs typeface="Times New Roman" panose="02020603050405020304" pitchFamily="18" charset="0"/>
                        </a:rPr>
                        <a:t>.</a:t>
                      </a:r>
                      <a:endParaRPr lang="en-US" sz="1200" kern="100" dirty="0">
                        <a:solidFill>
                          <a:schemeClr val="tx1"/>
                        </a:solidFill>
                        <a:effectLst/>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buNone/>
                      </a:pP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Lập</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trình</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hệ</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thống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nhận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thông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báo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tức</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thời</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khi</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có</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kết</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quả</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duyệt</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nhóm</a:t>
                      </a:r>
                      <a:r>
                        <a:rPr lang="en-US" sz="1200" kern="0" dirty="0">
                          <a:solidFill>
                            <a:schemeClr val="tx1"/>
                          </a:solidFill>
                          <a:effectLst/>
                          <a:latin typeface="Times New Roman" panose="02020603050405020304" pitchFamily="18" charset="0"/>
                          <a:cs typeface="Times New Roman" panose="02020603050405020304" pitchFamily="18" charset="0"/>
                        </a:rPr>
                        <a:t>/</a:t>
                      </a:r>
                      <a:r>
                        <a:rPr lang="en-US" sz="1200" kern="0" dirty="0" err="1">
                          <a:solidFill>
                            <a:schemeClr val="tx1"/>
                          </a:solidFill>
                          <a:effectLst/>
                          <a:latin typeface="Times New Roman" panose="02020603050405020304" pitchFamily="18" charset="0"/>
                          <a:cs typeface="Times New Roman" panose="02020603050405020304" pitchFamily="18" charset="0"/>
                        </a:rPr>
                        <a:t>đề</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tài</a:t>
                      </a:r>
                      <a:r>
                        <a:rPr lang="en-US" sz="1200" kern="0" dirty="0">
                          <a:solidFill>
                            <a:schemeClr val="tx1"/>
                          </a:solidFill>
                          <a:effectLst/>
                          <a:latin typeface="Times New Roman" panose="02020603050405020304" pitchFamily="18" charset="0"/>
                          <a:cs typeface="Times New Roman" panose="02020603050405020304" pitchFamily="18" charset="0"/>
                        </a:rPr>
                        <a:t>.</a:t>
                      </a:r>
                      <a:endParaRPr lang="en-US" sz="12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5262" marR="35262" marT="23508" marB="235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4197893"/>
                  </a:ext>
                </a:extLst>
              </a:tr>
              <a:tr h="1309200">
                <a:tc>
                  <a:txBody>
                    <a:bodyPr/>
                    <a:lstStyle/>
                    <a:p>
                      <a:pPr algn="l">
                        <a:lnSpc>
                          <a:spcPct val="100000"/>
                        </a:lnSpc>
                        <a:spcBef>
                          <a:spcPts val="0"/>
                        </a:spcBef>
                        <a:spcAft>
                          <a:spcPts val="0"/>
                        </a:spcAft>
                        <a:buNone/>
                      </a:pPr>
                      <a:r>
                        <a:rPr lang="en-US" sz="1200" kern="0">
                          <a:solidFill>
                            <a:schemeClr val="tx1"/>
                          </a:solidFill>
                          <a:effectLst/>
                          <a:latin typeface="Times New Roman" panose="02020603050405020304" pitchFamily="18" charset="0"/>
                          <a:cs typeface="Times New Roman" panose="02020603050405020304" pitchFamily="18" charset="0"/>
                        </a:rPr>
                        <a:t>6. Kiểm thử, Triển khai &amp; Báo cáo</a:t>
                      </a:r>
                      <a:endParaRPr lang="en-US" sz="12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5262" marR="35262" marT="23508" marB="235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Bef>
                          <a:spcPts val="0"/>
                        </a:spcBef>
                        <a:spcAft>
                          <a:spcPts val="0"/>
                        </a:spcAft>
                        <a:buNone/>
                      </a:pP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Viết</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kịch</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bản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kiểm</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thử</a:t>
                      </a:r>
                      <a:r>
                        <a:rPr lang="en-US" sz="1200" kern="0" dirty="0">
                          <a:solidFill>
                            <a:schemeClr val="tx1"/>
                          </a:solidFill>
                          <a:effectLst/>
                          <a:latin typeface="Times New Roman" panose="02020603050405020304" pitchFamily="18" charset="0"/>
                          <a:cs typeface="Times New Roman" panose="02020603050405020304" pitchFamily="18" charset="0"/>
                        </a:rPr>
                        <a:t> (Integration Test) </a:t>
                      </a:r>
                      <a:r>
                        <a:rPr lang="en-US" sz="1200" kern="0" dirty="0" err="1">
                          <a:solidFill>
                            <a:schemeClr val="tx1"/>
                          </a:solidFill>
                          <a:effectLst/>
                          <a:latin typeface="Times New Roman" panose="02020603050405020304" pitchFamily="18" charset="0"/>
                          <a:cs typeface="Times New Roman" panose="02020603050405020304" pitchFamily="18" charset="0"/>
                        </a:rPr>
                        <a:t>cho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luồng</a:t>
                      </a:r>
                      <a:r>
                        <a:rPr lang="en-US" sz="1200" kern="0" dirty="0">
                          <a:solidFill>
                            <a:schemeClr val="tx1"/>
                          </a:solidFill>
                          <a:effectLst/>
                          <a:latin typeface="Times New Roman" panose="02020603050405020304" pitchFamily="18" charset="0"/>
                          <a:cs typeface="Times New Roman" panose="02020603050405020304" pitchFamily="18" charset="0"/>
                        </a:rPr>
                        <a:t> Backend </a:t>
                      </a:r>
                      <a:r>
                        <a:rPr lang="en-US" sz="1200" kern="0" dirty="0" err="1">
                          <a:solidFill>
                            <a:schemeClr val="tx1"/>
                          </a:solidFill>
                          <a:effectLst/>
                          <a:latin typeface="Times New Roman" panose="02020603050405020304" pitchFamily="18" charset="0"/>
                          <a:cs typeface="Times New Roman" panose="02020603050405020304" pitchFamily="18" charset="0"/>
                        </a:rPr>
                        <a:t>và</a:t>
                      </a:r>
                      <a:r>
                        <a:rPr lang="en-US" sz="1200" kern="0" dirty="0">
                          <a:solidFill>
                            <a:schemeClr val="tx1"/>
                          </a:solidFill>
                          <a:effectLst/>
                          <a:latin typeface="Times New Roman" panose="02020603050405020304" pitchFamily="18" charset="0"/>
                          <a:cs typeface="Times New Roman" panose="02020603050405020304" pitchFamily="18" charset="0"/>
                        </a:rPr>
                        <a:t> API.</a:t>
                      </a:r>
                      <a:endParaRPr lang="en-US" sz="1200" kern="100" dirty="0">
                        <a:solidFill>
                          <a:schemeClr val="tx1"/>
                        </a:solidFill>
                        <a:effectLst/>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buNone/>
                      </a:pP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Triển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khai</a:t>
                      </a:r>
                      <a:r>
                        <a:rPr lang="en-US" sz="1200" kern="0" dirty="0">
                          <a:solidFill>
                            <a:schemeClr val="tx1"/>
                          </a:solidFill>
                          <a:effectLst/>
                          <a:latin typeface="Times New Roman" panose="02020603050405020304" pitchFamily="18" charset="0"/>
                          <a:cs typeface="Times New Roman" panose="02020603050405020304" pitchFamily="18" charset="0"/>
                        </a:rPr>
                        <a:t> (Deploy) </a:t>
                      </a:r>
                      <a:r>
                        <a:rPr lang="en-US" sz="1200" kern="0" dirty="0" err="1">
                          <a:solidFill>
                            <a:schemeClr val="tx1"/>
                          </a:solidFill>
                          <a:effectLst/>
                          <a:latin typeface="Times New Roman" panose="02020603050405020304" pitchFamily="18" charset="0"/>
                          <a:cs typeface="Times New Roman" panose="02020603050405020304" pitchFamily="18" charset="0"/>
                        </a:rPr>
                        <a:t>hệ</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thống</a:t>
                      </a:r>
                      <a:r>
                        <a:rPr lang="en-US" sz="1200" kern="0" dirty="0">
                          <a:solidFill>
                            <a:schemeClr val="tx1"/>
                          </a:solidFill>
                          <a:effectLst/>
                          <a:latin typeface="Times New Roman" panose="02020603050405020304" pitchFamily="18" charset="0"/>
                          <a:cs typeface="Times New Roman" panose="02020603050405020304" pitchFamily="18" charset="0"/>
                        </a:rPr>
                        <a:t> Backend </a:t>
                      </a:r>
                      <a:r>
                        <a:rPr lang="en-US" sz="1200" kern="0" dirty="0" err="1">
                          <a:solidFill>
                            <a:schemeClr val="tx1"/>
                          </a:solidFill>
                          <a:effectLst/>
                          <a:latin typeface="Times New Roman" panose="02020603050405020304" pitchFamily="18" charset="0"/>
                          <a:cs typeface="Times New Roman" panose="02020603050405020304" pitchFamily="18" charset="0"/>
                        </a:rPr>
                        <a:t>lên</a:t>
                      </a:r>
                      <a:r>
                        <a:rPr lang="en-US" sz="1200" kern="0" dirty="0">
                          <a:solidFill>
                            <a:schemeClr val="tx1"/>
                          </a:solidFill>
                          <a:effectLst/>
                          <a:latin typeface="Times New Roman" panose="02020603050405020304" pitchFamily="18" charset="0"/>
                          <a:cs typeface="Times New Roman" panose="02020603050405020304" pitchFamily="18" charset="0"/>
                        </a:rPr>
                        <a:t> Cloud/Server.</a:t>
                      </a:r>
                      <a:endParaRPr lang="en-US" sz="1200" kern="100" dirty="0">
                        <a:solidFill>
                          <a:schemeClr val="tx1"/>
                        </a:solidFill>
                        <a:effectLst/>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buNone/>
                      </a:pP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Viết</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một</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phần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nội</a:t>
                      </a:r>
                      <a:r>
                        <a:rPr lang="en-US" sz="1200" kern="0" dirty="0">
                          <a:solidFill>
                            <a:schemeClr val="tx1"/>
                          </a:solidFill>
                          <a:effectLst/>
                          <a:latin typeface="Times New Roman" panose="02020603050405020304" pitchFamily="18" charset="0"/>
                          <a:cs typeface="Times New Roman" panose="02020603050405020304" pitchFamily="18" charset="0"/>
                        </a:rPr>
                        <a:t> dung </a:t>
                      </a:r>
                      <a:r>
                        <a:rPr lang="en-US" sz="1200" kern="0" dirty="0" err="1">
                          <a:solidFill>
                            <a:schemeClr val="tx1"/>
                          </a:solidFill>
                          <a:effectLst/>
                          <a:latin typeface="Times New Roman" panose="02020603050405020304" pitchFamily="18" charset="0"/>
                          <a:cs typeface="Times New Roman" panose="02020603050405020304" pitchFamily="18" charset="0"/>
                        </a:rPr>
                        <a:t>báo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cáo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và</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chuẩn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bị</a:t>
                      </a:r>
                      <a:r>
                        <a:rPr lang="en-US" sz="1200" kern="0" dirty="0">
                          <a:solidFill>
                            <a:schemeClr val="tx1"/>
                          </a:solidFill>
                          <a:effectLst/>
                          <a:latin typeface="Times New Roman" panose="02020603050405020304" pitchFamily="18" charset="0"/>
                          <a:cs typeface="Times New Roman" panose="02020603050405020304" pitchFamily="18" charset="0"/>
                        </a:rPr>
                        <a:t> Slide </a:t>
                      </a:r>
                      <a:r>
                        <a:rPr lang="en-US" sz="1200" kern="0" dirty="0" err="1">
                          <a:solidFill>
                            <a:schemeClr val="tx1"/>
                          </a:solidFill>
                          <a:effectLst/>
                          <a:latin typeface="Times New Roman" panose="02020603050405020304" pitchFamily="18" charset="0"/>
                          <a:cs typeface="Times New Roman" panose="02020603050405020304" pitchFamily="18" charset="0"/>
                        </a:rPr>
                        <a:t>thuyết</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trình</a:t>
                      </a:r>
                      <a:r>
                        <a:rPr lang="en-US" sz="1200" kern="0" dirty="0">
                          <a:solidFill>
                            <a:schemeClr val="tx1"/>
                          </a:solidFill>
                          <a:effectLst/>
                          <a:latin typeface="Times New Roman" panose="02020603050405020304" pitchFamily="18" charset="0"/>
                          <a:cs typeface="Times New Roman" panose="02020603050405020304" pitchFamily="18" charset="0"/>
                        </a:rPr>
                        <a:t>.</a:t>
                      </a:r>
                      <a:endParaRPr lang="en-US" sz="12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5262" marR="35262" marT="23508" marB="235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Bef>
                          <a:spcPts val="0"/>
                        </a:spcBef>
                        <a:spcAft>
                          <a:spcPts val="0"/>
                        </a:spcAft>
                        <a:buNone/>
                      </a:pP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Thực</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hiện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kiểm</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thử</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giao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diện</a:t>
                      </a:r>
                      <a:r>
                        <a:rPr lang="en-US" sz="1200" kern="0" dirty="0">
                          <a:solidFill>
                            <a:schemeClr val="tx1"/>
                          </a:solidFill>
                          <a:effectLst/>
                          <a:latin typeface="Times New Roman" panose="02020603050405020304" pitchFamily="18" charset="0"/>
                          <a:cs typeface="Times New Roman" panose="02020603050405020304" pitchFamily="18" charset="0"/>
                        </a:rPr>
                        <a:t> (UI Testing) </a:t>
                      </a:r>
                      <a:r>
                        <a:rPr lang="en-US" sz="1200" kern="0" dirty="0" err="1">
                          <a:solidFill>
                            <a:schemeClr val="tx1"/>
                          </a:solidFill>
                          <a:effectLst/>
                          <a:latin typeface="Times New Roman" panose="02020603050405020304" pitchFamily="18" charset="0"/>
                          <a:cs typeface="Times New Roman" panose="02020603050405020304" pitchFamily="18" charset="0"/>
                        </a:rPr>
                        <a:t>trên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thiết</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bị</a:t>
                      </a:r>
                      <a:r>
                        <a:rPr lang="en-US" sz="1200" kern="0" dirty="0">
                          <a:solidFill>
                            <a:schemeClr val="tx1"/>
                          </a:solidFill>
                          <a:effectLst/>
                          <a:latin typeface="Times New Roman" panose="02020603050405020304" pitchFamily="18" charset="0"/>
                          <a:cs typeface="Times New Roman" panose="02020603050405020304" pitchFamily="18" charset="0"/>
                        </a:rPr>
                        <a:t> di </a:t>
                      </a:r>
                      <a:r>
                        <a:rPr lang="en-US" sz="1200" kern="0" dirty="0" err="1">
                          <a:solidFill>
                            <a:schemeClr val="tx1"/>
                          </a:solidFill>
                          <a:effectLst/>
                          <a:latin typeface="Times New Roman" panose="02020603050405020304" pitchFamily="18" charset="0"/>
                          <a:cs typeface="Times New Roman" panose="02020603050405020304" pitchFamily="18" charset="0"/>
                        </a:rPr>
                        <a:t>động</a:t>
                      </a:r>
                      <a:r>
                        <a:rPr lang="en-US" sz="1200" kern="0" dirty="0">
                          <a:solidFill>
                            <a:schemeClr val="tx1"/>
                          </a:solidFill>
                          <a:effectLst/>
                          <a:latin typeface="Times New Roman" panose="02020603050405020304" pitchFamily="18" charset="0"/>
                          <a:cs typeface="Times New Roman" panose="02020603050405020304" pitchFamily="18" charset="0"/>
                        </a:rPr>
                        <a:t>, build file APK.</a:t>
                      </a:r>
                      <a:endParaRPr lang="en-US" sz="1200" kern="100" dirty="0">
                        <a:solidFill>
                          <a:schemeClr val="tx1"/>
                        </a:solidFill>
                        <a:effectLst/>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buNone/>
                      </a:pP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Biên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soạn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chính</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bản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báo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cáo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thuyết</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minh</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đồ</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án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môn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học</a:t>
                      </a:r>
                      <a:r>
                        <a:rPr lang="en-US" sz="1200" kern="0" dirty="0">
                          <a:solidFill>
                            <a:schemeClr val="tx1"/>
                          </a:solidFill>
                          <a:effectLst/>
                          <a:latin typeface="Times New Roman" panose="02020603050405020304" pitchFamily="18" charset="0"/>
                          <a:cs typeface="Times New Roman" panose="02020603050405020304" pitchFamily="18" charset="0"/>
                        </a:rPr>
                        <a:t> (Word) </a:t>
                      </a:r>
                      <a:r>
                        <a:rPr lang="en-US" sz="1200" kern="0" dirty="0" err="1">
                          <a:solidFill>
                            <a:schemeClr val="tx1"/>
                          </a:solidFill>
                          <a:effectLst/>
                          <a:latin typeface="Times New Roman" panose="02020603050405020304" pitchFamily="18" charset="0"/>
                          <a:cs typeface="Times New Roman" panose="02020603050405020304" pitchFamily="18" charset="0"/>
                        </a:rPr>
                        <a:t>và</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tài</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liệu</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hướng</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dẫn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sử</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dụng</a:t>
                      </a:r>
                      <a:r>
                        <a:rPr lang="en-US" sz="1200" kern="0" dirty="0">
                          <a:solidFill>
                            <a:schemeClr val="tx1"/>
                          </a:solidFill>
                          <a:effectLst/>
                          <a:latin typeface="Times New Roman" panose="02020603050405020304" pitchFamily="18" charset="0"/>
                          <a:cs typeface="Times New Roman" panose="02020603050405020304" pitchFamily="18" charset="0"/>
                        </a:rPr>
                        <a:t>.</a:t>
                      </a:r>
                      <a:endParaRPr lang="en-US" sz="1200" kern="100" dirty="0">
                        <a:solidFill>
                          <a:schemeClr val="tx1"/>
                        </a:solidFill>
                        <a:effectLst/>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buNone/>
                      </a:pPr>
                      <a:r>
                        <a:rPr lang="en-US" sz="1200" kern="0" dirty="0">
                          <a:solidFill>
                            <a:schemeClr val="tx1"/>
                          </a:solidFill>
                          <a:effectLst/>
                          <a:latin typeface="Times New Roman" panose="02020603050405020304" pitchFamily="18" charset="0"/>
                          <a:cs typeface="Times New Roman" panose="02020603050405020304" pitchFamily="18" charset="0"/>
                        </a:rPr>
                        <a:t>- Phối </a:t>
                      </a:r>
                      <a:r>
                        <a:rPr lang="en-US" sz="1200" kern="0" dirty="0" err="1">
                          <a:solidFill>
                            <a:schemeClr val="tx1"/>
                          </a:solidFill>
                          <a:effectLst/>
                          <a:latin typeface="Times New Roman" panose="02020603050405020304" pitchFamily="18" charset="0"/>
                          <a:cs typeface="Times New Roman" panose="02020603050405020304" pitchFamily="18" charset="0"/>
                        </a:rPr>
                        <a:t>hợp</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rà</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soát</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toàn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bộ</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dự</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án</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trước</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khi</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bảo</a:t>
                      </a:r>
                      <a:r>
                        <a:rPr lang="en-US" sz="1200" kern="0" dirty="0">
                          <a:solidFill>
                            <a:schemeClr val="tx1"/>
                          </a:solidFill>
                          <a:effectLst/>
                          <a:latin typeface="Times New Roman" panose="02020603050405020304" pitchFamily="18" charset="0"/>
                          <a:cs typeface="Times New Roman" panose="02020603050405020304" pitchFamily="18" charset="0"/>
                        </a:rPr>
                        <a:t> </a:t>
                      </a:r>
                      <a:r>
                        <a:rPr lang="en-US" sz="1200" kern="0" dirty="0" err="1">
                          <a:solidFill>
                            <a:schemeClr val="tx1"/>
                          </a:solidFill>
                          <a:effectLst/>
                          <a:latin typeface="Times New Roman" panose="02020603050405020304" pitchFamily="18" charset="0"/>
                          <a:cs typeface="Times New Roman" panose="02020603050405020304" pitchFamily="18" charset="0"/>
                        </a:rPr>
                        <a:t>vệ</a:t>
                      </a:r>
                      <a:r>
                        <a:rPr lang="en-US" sz="1200" kern="0" dirty="0">
                          <a:solidFill>
                            <a:schemeClr val="tx1"/>
                          </a:solidFill>
                          <a:effectLst/>
                          <a:latin typeface="Times New Roman" panose="02020603050405020304" pitchFamily="18" charset="0"/>
                          <a:cs typeface="Times New Roman" panose="02020603050405020304" pitchFamily="18" charset="0"/>
                        </a:rPr>
                        <a:t>.</a:t>
                      </a:r>
                      <a:endParaRPr lang="en-US" sz="12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5262" marR="35262" marT="23508" marB="235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6090391"/>
                  </a:ext>
                </a:extLst>
              </a:tr>
            </a:tbl>
          </a:graphicData>
        </a:graphic>
      </p:graphicFrame>
    </p:spTree>
    <p:extLst>
      <p:ext uri="{BB962C8B-B14F-4D97-AF65-F5344CB8AC3E}">
        <p14:creationId xmlns:p14="http://schemas.microsoft.com/office/powerpoint/2010/main" val="10165779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6329310-A3B7-AD5C-ABA1-188C3F598C6A}"/>
              </a:ext>
            </a:extLst>
          </p:cNvPr>
          <p:cNvGraphicFramePr>
            <a:graphicFrameLocks noGrp="1"/>
          </p:cNvGraphicFramePr>
          <p:nvPr/>
        </p:nvGraphicFramePr>
        <p:xfrm>
          <a:off x="606669" y="468267"/>
          <a:ext cx="11060613" cy="5870776"/>
        </p:xfrm>
        <a:graphic>
          <a:graphicData uri="http://schemas.openxmlformats.org/drawingml/2006/table">
            <a:tbl>
              <a:tblPr>
                <a:tableStyleId>{5C22544A-7EE6-4342-B048-85BDC9FD1C3A}</a:tableStyleId>
              </a:tblPr>
              <a:tblGrid>
                <a:gridCol w="677008">
                  <a:extLst>
                    <a:ext uri="{9D8B030D-6E8A-4147-A177-3AD203B41FA5}">
                      <a16:colId xmlns:a16="http://schemas.microsoft.com/office/drawing/2014/main" val="4073433017"/>
                    </a:ext>
                  </a:extLst>
                </a:gridCol>
                <a:gridCol w="1652806">
                  <a:extLst>
                    <a:ext uri="{9D8B030D-6E8A-4147-A177-3AD203B41FA5}">
                      <a16:colId xmlns:a16="http://schemas.microsoft.com/office/drawing/2014/main" val="3707486975"/>
                    </a:ext>
                  </a:extLst>
                </a:gridCol>
                <a:gridCol w="1849440">
                  <a:extLst>
                    <a:ext uri="{9D8B030D-6E8A-4147-A177-3AD203B41FA5}">
                      <a16:colId xmlns:a16="http://schemas.microsoft.com/office/drawing/2014/main" val="1598561640"/>
                    </a:ext>
                  </a:extLst>
                </a:gridCol>
                <a:gridCol w="4393246">
                  <a:extLst>
                    <a:ext uri="{9D8B030D-6E8A-4147-A177-3AD203B41FA5}">
                      <a16:colId xmlns:a16="http://schemas.microsoft.com/office/drawing/2014/main" val="178374023"/>
                    </a:ext>
                  </a:extLst>
                </a:gridCol>
                <a:gridCol w="2488113">
                  <a:extLst>
                    <a:ext uri="{9D8B030D-6E8A-4147-A177-3AD203B41FA5}">
                      <a16:colId xmlns:a16="http://schemas.microsoft.com/office/drawing/2014/main" val="3028257948"/>
                    </a:ext>
                  </a:extLst>
                </a:gridCol>
              </a:tblGrid>
              <a:tr h="130832">
                <a:tc>
                  <a:txBody>
                    <a:bodyPr/>
                    <a:lstStyle/>
                    <a:p>
                      <a:pPr algn="ctr">
                        <a:spcAft>
                          <a:spcPts val="2400"/>
                        </a:spcAft>
                        <a:buNone/>
                      </a:pPr>
                      <a:r>
                        <a:rPr lang="en-US" sz="1600" b="1" dirty="0" err="1">
                          <a:effectLst/>
                          <a:latin typeface="Times New Roman" panose="02020603050405020304" pitchFamily="18" charset="0"/>
                          <a:cs typeface="Times New Roman" panose="02020603050405020304" pitchFamily="18" charset="0"/>
                        </a:rPr>
                        <a:t>Tuần</a:t>
                      </a:r>
                      <a:endParaRPr lang="en-US" sz="1600" b="1" dirty="0">
                        <a:effectLst/>
                        <a:latin typeface="Times New Roman" panose="02020603050405020304" pitchFamily="18" charset="0"/>
                        <a:cs typeface="Times New Roman" panose="02020603050405020304" pitchFamily="18" charset="0"/>
                      </a:endParaRP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2400"/>
                        </a:spcAft>
                        <a:buNone/>
                      </a:pPr>
                      <a:r>
                        <a:rPr lang="en-US" sz="1600" b="1" dirty="0" err="1">
                          <a:effectLst/>
                          <a:latin typeface="Times New Roman" panose="02020603050405020304" pitchFamily="18" charset="0"/>
                          <a:cs typeface="Times New Roman" panose="02020603050405020304" pitchFamily="18" charset="0"/>
                        </a:rPr>
                        <a:t>Nội</a:t>
                      </a:r>
                      <a:r>
                        <a:rPr lang="en-US" sz="1600" b="1" dirty="0">
                          <a:effectLst/>
                          <a:latin typeface="Times New Roman" panose="02020603050405020304" pitchFamily="18" charset="0"/>
                          <a:cs typeface="Times New Roman" panose="02020603050405020304" pitchFamily="18" charset="0"/>
                        </a:rPr>
                        <a:t> dung </a:t>
                      </a:r>
                      <a:r>
                        <a:rPr lang="en-US" sz="1600" b="1" dirty="0" err="1">
                          <a:effectLst/>
                          <a:latin typeface="Times New Roman" panose="02020603050405020304" pitchFamily="18" charset="0"/>
                          <a:cs typeface="Times New Roman" panose="02020603050405020304" pitchFamily="18" charset="0"/>
                        </a:rPr>
                        <a:t>công</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việc</a:t>
                      </a:r>
                      <a:endParaRPr lang="en-US" sz="1600" b="1" dirty="0">
                        <a:effectLst/>
                        <a:latin typeface="Times New Roman" panose="02020603050405020304" pitchFamily="18" charset="0"/>
                        <a:cs typeface="Times New Roman" panose="02020603050405020304" pitchFamily="18" charset="0"/>
                      </a:endParaRP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2400"/>
                        </a:spcAft>
                        <a:buNone/>
                      </a:pPr>
                      <a:r>
                        <a:rPr lang="en-US" sz="1600" b="1" dirty="0">
                          <a:effectLst/>
                          <a:latin typeface="Times New Roman" panose="02020603050405020304" pitchFamily="18" charset="0"/>
                          <a:cs typeface="Times New Roman" panose="02020603050405020304" pitchFamily="18" charset="0"/>
                        </a:rPr>
                        <a:t>Thành </a:t>
                      </a:r>
                      <a:r>
                        <a:rPr lang="en-US" sz="1600" b="1" dirty="0" err="1">
                          <a:effectLst/>
                          <a:latin typeface="Times New Roman" panose="02020603050405020304" pitchFamily="18" charset="0"/>
                          <a:cs typeface="Times New Roman" panose="02020603050405020304" pitchFamily="18" charset="0"/>
                        </a:rPr>
                        <a:t>viên</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phụ</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trách</a:t>
                      </a:r>
                      <a:endParaRPr lang="en-US" sz="1600" b="1" dirty="0">
                        <a:effectLst/>
                        <a:latin typeface="Times New Roman" panose="02020603050405020304" pitchFamily="18" charset="0"/>
                        <a:cs typeface="Times New Roman" panose="02020603050405020304" pitchFamily="18" charset="0"/>
                      </a:endParaRP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2400"/>
                        </a:spcAft>
                        <a:buNone/>
                      </a:pPr>
                      <a:r>
                        <a:rPr lang="en-US" sz="1600" b="1" dirty="0" err="1">
                          <a:effectLst/>
                          <a:latin typeface="Times New Roman" panose="02020603050405020304" pitchFamily="18" charset="0"/>
                          <a:cs typeface="Times New Roman" panose="02020603050405020304" pitchFamily="18" charset="0"/>
                        </a:rPr>
                        <a:t>Cách</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thực</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hiện</a:t>
                      </a:r>
                      <a:endParaRPr lang="en-US" sz="1600" b="1" dirty="0">
                        <a:effectLst/>
                        <a:latin typeface="Times New Roman" panose="02020603050405020304" pitchFamily="18" charset="0"/>
                        <a:cs typeface="Times New Roman" panose="02020603050405020304" pitchFamily="18" charset="0"/>
                      </a:endParaRP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2400"/>
                        </a:spcAft>
                        <a:buNone/>
                      </a:pPr>
                      <a:r>
                        <a:rPr lang="en-US" sz="1600" b="1" dirty="0" err="1">
                          <a:effectLst/>
                          <a:latin typeface="Times New Roman" panose="02020603050405020304" pitchFamily="18" charset="0"/>
                          <a:cs typeface="Times New Roman" panose="02020603050405020304" pitchFamily="18" charset="0"/>
                        </a:rPr>
                        <a:t>Kết</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quả</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đạt</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được</a:t>
                      </a:r>
                      <a:endParaRPr lang="en-US" sz="1600" b="1" dirty="0">
                        <a:effectLst/>
                        <a:latin typeface="Times New Roman" panose="02020603050405020304" pitchFamily="18" charset="0"/>
                        <a:cs typeface="Times New Roman" panose="02020603050405020304" pitchFamily="18" charset="0"/>
                      </a:endParaRP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6890972"/>
                  </a:ext>
                </a:extLst>
              </a:tr>
              <a:tr h="1213166">
                <a:tc>
                  <a:txBody>
                    <a:bodyPr/>
                    <a:lstStyle/>
                    <a:p>
                      <a:pPr>
                        <a:spcAft>
                          <a:spcPts val="2400"/>
                        </a:spcAft>
                        <a:buNone/>
                      </a:pPr>
                      <a:r>
                        <a:rPr lang="en-US" sz="1600" b="1" dirty="0" err="1">
                          <a:effectLst/>
                          <a:latin typeface="Times New Roman" panose="02020603050405020304" pitchFamily="18" charset="0"/>
                          <a:cs typeface="Times New Roman" panose="02020603050405020304" pitchFamily="18" charset="0"/>
                        </a:rPr>
                        <a:t>Tuần</a:t>
                      </a:r>
                      <a:r>
                        <a:rPr lang="en-US" sz="1600" b="1" dirty="0">
                          <a:effectLst/>
                          <a:latin typeface="Times New Roman" panose="02020603050405020304" pitchFamily="18" charset="0"/>
                          <a:cs typeface="Times New Roman" panose="02020603050405020304" pitchFamily="18" charset="0"/>
                        </a:rPr>
                        <a:t> 1</a:t>
                      </a: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Aft>
                          <a:spcPts val="2400"/>
                        </a:spcAft>
                        <a:buNone/>
                      </a:pPr>
                      <a:r>
                        <a:rPr lang="en-US" sz="1600" dirty="0" err="1">
                          <a:effectLst/>
                          <a:latin typeface="Times New Roman" panose="02020603050405020304" pitchFamily="18" charset="0"/>
                          <a:cs typeface="Times New Roman" panose="02020603050405020304" pitchFamily="18" charset="0"/>
                        </a:rPr>
                        <a:t>Thống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nhất</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đề</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tài</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và</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mục</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tiêu</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hệ</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thống</a:t>
                      </a:r>
                      <a:endParaRPr lang="en-US" sz="1600" dirty="0">
                        <a:effectLst/>
                        <a:latin typeface="Times New Roman" panose="02020603050405020304" pitchFamily="18" charset="0"/>
                        <a:cs typeface="Times New Roman" panose="02020603050405020304" pitchFamily="18" charset="0"/>
                      </a:endParaRP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Aft>
                          <a:spcPts val="2400"/>
                        </a:spcAft>
                        <a:buNone/>
                      </a:pPr>
                      <a:r>
                        <a:rPr lang="en-US" sz="1600" dirty="0">
                          <a:effectLst/>
                          <a:latin typeface="Times New Roman" panose="02020603050405020304" pitchFamily="18" charset="0"/>
                          <a:cs typeface="Times New Roman" panose="02020603050405020304" pitchFamily="18" charset="0"/>
                        </a:rPr>
                        <a:t>- Nguyễn Trọng Nguyên</a:t>
                      </a:r>
                    </a:p>
                    <a:p>
                      <a:pPr>
                        <a:spcAft>
                          <a:spcPts val="2400"/>
                        </a:spcAft>
                        <a:buNone/>
                      </a:pPr>
                      <a:r>
                        <a:rPr lang="en-US" sz="1600" dirty="0">
                          <a:effectLst/>
                          <a:latin typeface="Times New Roman" panose="02020603050405020304" pitchFamily="18" charset="0"/>
                          <a:cs typeface="Times New Roman" panose="02020603050405020304" pitchFamily="18" charset="0"/>
                        </a:rPr>
                        <a:t>- Lâm Phượng </a:t>
                      </a:r>
                      <a:r>
                        <a:rPr lang="en-US" sz="1600" dirty="0" err="1">
                          <a:effectLst/>
                          <a:latin typeface="Times New Roman" panose="02020603050405020304" pitchFamily="18" charset="0"/>
                          <a:cs typeface="Times New Roman" panose="02020603050405020304" pitchFamily="18" charset="0"/>
                        </a:rPr>
                        <a:t>Vĩ</a:t>
                      </a:r>
                      <a:endParaRPr lang="en-US" sz="1600" dirty="0">
                        <a:effectLst/>
                        <a:latin typeface="Times New Roman" panose="02020603050405020304" pitchFamily="18" charset="0"/>
                        <a:cs typeface="Times New Roman" panose="02020603050405020304" pitchFamily="18" charset="0"/>
                      </a:endParaRP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lgn="just">
                        <a:spcAft>
                          <a:spcPts val="2400"/>
                        </a:spcAft>
                        <a:buFontTx/>
                        <a:buChar char="-"/>
                      </a:pPr>
                      <a:r>
                        <a:rPr lang="en-US" sz="1600" b="1" dirty="0">
                          <a:effectLst/>
                          <a:latin typeface="Times New Roman" panose="02020603050405020304" pitchFamily="18" charset="0"/>
                          <a:cs typeface="Times New Roman" panose="02020603050405020304" pitchFamily="18" charset="0"/>
                        </a:rPr>
                        <a:t>Nguyên:</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Khảo</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sát</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các</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bất</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cập</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thực</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tế</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trong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quản</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lý</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đồ</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án</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tín</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chỉ</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đề</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xuất</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giải</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pháp</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tích</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hợp</a:t>
                      </a:r>
                      <a:r>
                        <a:rPr lang="en-US" sz="1600" dirty="0">
                          <a:effectLst/>
                          <a:latin typeface="Times New Roman" panose="02020603050405020304" pitchFamily="18" charset="0"/>
                          <a:cs typeface="Times New Roman" panose="02020603050405020304" pitchFamily="18" charset="0"/>
                        </a:rPr>
                        <a:t> AI </a:t>
                      </a:r>
                      <a:r>
                        <a:rPr lang="en-US" sz="1600" dirty="0" err="1">
                          <a:effectLst/>
                          <a:latin typeface="Times New Roman" panose="02020603050405020304" pitchFamily="18" charset="0"/>
                          <a:cs typeface="Times New Roman" panose="02020603050405020304" pitchFamily="18" charset="0"/>
                        </a:rPr>
                        <a:t>và</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xây</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dựng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mục</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tiêu</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kỹ</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thuật</a:t>
                      </a:r>
                      <a:r>
                        <a:rPr lang="en-US" sz="1600" dirty="0">
                          <a:effectLst/>
                          <a:latin typeface="Times New Roman" panose="02020603050405020304" pitchFamily="18" charset="0"/>
                          <a:cs typeface="Times New Roman" panose="02020603050405020304" pitchFamily="18" charset="0"/>
                        </a:rPr>
                        <a:t>.</a:t>
                      </a:r>
                    </a:p>
                    <a:p>
                      <a:pPr marL="285750" indent="-285750" algn="just">
                        <a:spcAft>
                          <a:spcPts val="2400"/>
                        </a:spcAft>
                        <a:buFontTx/>
                        <a:buChar char="-"/>
                      </a:pP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Vĩ</a:t>
                      </a:r>
                      <a:r>
                        <a:rPr lang="en-US" sz="1600" b="1" dirty="0">
                          <a:effectLst/>
                          <a:latin typeface="Times New Roman" panose="02020603050405020304" pitchFamily="18" charset="0"/>
                          <a:cs typeface="Times New Roman" panose="02020603050405020304" pitchFamily="18" charset="0"/>
                        </a:rPr>
                        <a:t>:</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Khảo</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sát</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nhu</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cầu</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người</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dùng</a:t>
                      </a:r>
                      <a:r>
                        <a:rPr lang="en-US" sz="1600" dirty="0">
                          <a:effectLst/>
                          <a:latin typeface="Times New Roman" panose="02020603050405020304" pitchFamily="18" charset="0"/>
                          <a:cs typeface="Times New Roman" panose="02020603050405020304" pitchFamily="18" charset="0"/>
                        </a:rPr>
                        <a:t> (Sinh </a:t>
                      </a:r>
                      <a:r>
                        <a:rPr lang="en-US" sz="1600" dirty="0" err="1">
                          <a:effectLst/>
                          <a:latin typeface="Times New Roman" panose="02020603050405020304" pitchFamily="18" charset="0"/>
                          <a:cs typeface="Times New Roman" panose="02020603050405020304" pitchFamily="18" charset="0"/>
                        </a:rPr>
                        <a:t>viên</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Giảng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viên</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định</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hình</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phạm</a:t>
                      </a:r>
                      <a:r>
                        <a:rPr lang="en-US" sz="1600" dirty="0">
                          <a:effectLst/>
                          <a:latin typeface="Times New Roman" panose="02020603050405020304" pitchFamily="18" charset="0"/>
                          <a:cs typeface="Times New Roman" panose="02020603050405020304" pitchFamily="18" charset="0"/>
                        </a:rPr>
                        <a:t> vi </a:t>
                      </a:r>
                      <a:r>
                        <a:rPr lang="en-US" sz="1600" dirty="0" err="1">
                          <a:effectLst/>
                          <a:latin typeface="Times New Roman" panose="02020603050405020304" pitchFamily="18" charset="0"/>
                          <a:cs typeface="Times New Roman" panose="02020603050405020304" pitchFamily="18" charset="0"/>
                        </a:rPr>
                        <a:t>chức</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năng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cốt</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lõi</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và</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tên</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gọi</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đề</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tài</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ProGroup</a:t>
                      </a:r>
                      <a:r>
                        <a:rPr lang="en-US" sz="1600" dirty="0">
                          <a:effectLst/>
                          <a:latin typeface="Times New Roman" panose="02020603050405020304" pitchFamily="18" charset="0"/>
                          <a:cs typeface="Times New Roman" panose="02020603050405020304" pitchFamily="18" charset="0"/>
                        </a:rPr>
                        <a:t> AI).</a:t>
                      </a: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2400"/>
                        </a:spcAft>
                        <a:buNone/>
                      </a:pPr>
                      <a:r>
                        <a:rPr lang="en-US" sz="1600" dirty="0" err="1">
                          <a:effectLst/>
                          <a:latin typeface="Times New Roman" panose="02020603050405020304" pitchFamily="18" charset="0"/>
                          <a:cs typeface="Times New Roman" panose="02020603050405020304" pitchFamily="18" charset="0"/>
                        </a:rPr>
                        <a:t>Xác</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định</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được</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đề</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tài</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mục</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tiêu</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đối</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tượng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người</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dùng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và</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hướng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xây</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dựng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ứng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dụng</a:t>
                      </a:r>
                      <a:endParaRPr lang="en-US" sz="1600" dirty="0">
                        <a:effectLst/>
                        <a:latin typeface="Times New Roman" panose="02020603050405020304" pitchFamily="18" charset="0"/>
                        <a:cs typeface="Times New Roman" panose="02020603050405020304" pitchFamily="18" charset="0"/>
                      </a:endParaRP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4259036"/>
                  </a:ext>
                </a:extLst>
              </a:tr>
              <a:tr h="1373732">
                <a:tc>
                  <a:txBody>
                    <a:bodyPr/>
                    <a:lstStyle/>
                    <a:p>
                      <a:pPr>
                        <a:spcAft>
                          <a:spcPts val="2400"/>
                        </a:spcAft>
                        <a:buNone/>
                      </a:pPr>
                      <a:r>
                        <a:rPr lang="en-US" sz="1600" b="1" dirty="0" err="1">
                          <a:effectLst/>
                          <a:latin typeface="Times New Roman" panose="02020603050405020304" pitchFamily="18" charset="0"/>
                          <a:cs typeface="Times New Roman" panose="02020603050405020304" pitchFamily="18" charset="0"/>
                        </a:rPr>
                        <a:t>Tuần</a:t>
                      </a:r>
                      <a:r>
                        <a:rPr lang="en-US" sz="1600" b="1" dirty="0">
                          <a:effectLst/>
                          <a:latin typeface="Times New Roman" panose="02020603050405020304" pitchFamily="18" charset="0"/>
                          <a:cs typeface="Times New Roman" panose="02020603050405020304" pitchFamily="18" charset="0"/>
                        </a:rPr>
                        <a:t> 2</a:t>
                      </a: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Aft>
                          <a:spcPts val="2400"/>
                        </a:spcAft>
                        <a:buNone/>
                      </a:pPr>
                      <a:r>
                        <a:rPr lang="en-US" sz="1600" dirty="0" err="1">
                          <a:effectLst/>
                          <a:latin typeface="Times New Roman" panose="02020603050405020304" pitchFamily="18" charset="0"/>
                          <a:cs typeface="Times New Roman" panose="02020603050405020304" pitchFamily="18" charset="0"/>
                        </a:rPr>
                        <a:t>Phân</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tích</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yêu</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cầu</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và</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phân</a:t>
                      </a:r>
                      <a:r>
                        <a:rPr lang="en-US" sz="1600" dirty="0">
                          <a:effectLst/>
                          <a:latin typeface="Times New Roman" panose="02020603050405020304" pitchFamily="18" charset="0"/>
                          <a:cs typeface="Times New Roman" panose="02020603050405020304" pitchFamily="18" charset="0"/>
                        </a:rPr>
                        <a:t> chia </a:t>
                      </a:r>
                      <a:r>
                        <a:rPr lang="en-US" sz="1600" dirty="0" err="1">
                          <a:effectLst/>
                          <a:latin typeface="Times New Roman" panose="02020603050405020304" pitchFamily="18" charset="0"/>
                          <a:cs typeface="Times New Roman" panose="02020603050405020304" pitchFamily="18" charset="0"/>
                        </a:rPr>
                        <a:t>công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việc</a:t>
                      </a:r>
                      <a:endParaRPr lang="en-US" sz="1600" dirty="0">
                        <a:effectLst/>
                        <a:latin typeface="Times New Roman" panose="02020603050405020304" pitchFamily="18" charset="0"/>
                        <a:cs typeface="Times New Roman" panose="02020603050405020304" pitchFamily="18" charset="0"/>
                      </a:endParaRP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Aft>
                          <a:spcPts val="2400"/>
                        </a:spcAft>
                        <a:buNone/>
                      </a:pPr>
                      <a:r>
                        <a:rPr lang="en-US" sz="1600" dirty="0">
                          <a:effectLst/>
                          <a:latin typeface="Times New Roman" panose="02020603050405020304" pitchFamily="18" charset="0"/>
                          <a:cs typeface="Times New Roman" panose="02020603050405020304" pitchFamily="18" charset="0"/>
                        </a:rPr>
                        <a:t>- Nguyễn Trọng Nguyên</a:t>
                      </a:r>
                    </a:p>
                    <a:p>
                      <a:pPr>
                        <a:spcAft>
                          <a:spcPts val="2400"/>
                        </a:spcAft>
                        <a:buNone/>
                      </a:pPr>
                      <a:r>
                        <a:rPr lang="en-US" sz="1600" dirty="0">
                          <a:effectLst/>
                          <a:latin typeface="Times New Roman" panose="02020603050405020304" pitchFamily="18" charset="0"/>
                          <a:cs typeface="Times New Roman" panose="02020603050405020304" pitchFamily="18" charset="0"/>
                        </a:rPr>
                        <a:t>- Lâm Phượng </a:t>
                      </a:r>
                      <a:r>
                        <a:rPr lang="en-US" sz="1600" dirty="0" err="1">
                          <a:effectLst/>
                          <a:latin typeface="Times New Roman" panose="02020603050405020304" pitchFamily="18" charset="0"/>
                          <a:cs typeface="Times New Roman" panose="02020603050405020304" pitchFamily="18" charset="0"/>
                        </a:rPr>
                        <a:t>Vĩ</a:t>
                      </a:r>
                      <a:endParaRPr lang="en-US" sz="1600" dirty="0">
                        <a:effectLst/>
                        <a:latin typeface="Times New Roman" panose="02020603050405020304" pitchFamily="18" charset="0"/>
                        <a:cs typeface="Times New Roman" panose="02020603050405020304" pitchFamily="18" charset="0"/>
                      </a:endParaRP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2400"/>
                        </a:spcAft>
                        <a:buNone/>
                      </a:pPr>
                      <a:r>
                        <a:rPr lang="en-US" sz="1600" dirty="0">
                          <a:effectLst/>
                          <a:latin typeface="Times New Roman" panose="02020603050405020304" pitchFamily="18" charset="0"/>
                          <a:cs typeface="Times New Roman" panose="02020603050405020304" pitchFamily="18" charset="0"/>
                        </a:rPr>
                        <a:t>-</a:t>
                      </a:r>
                      <a:r>
                        <a:rPr lang="en-US" sz="1600" b="1" dirty="0">
                          <a:effectLst/>
                          <a:latin typeface="Times New Roman" panose="02020603050405020304" pitchFamily="18" charset="0"/>
                          <a:cs typeface="Times New Roman" panose="02020603050405020304" pitchFamily="18" charset="0"/>
                        </a:rPr>
                        <a:t> Nguyên: </a:t>
                      </a:r>
                      <a:r>
                        <a:rPr lang="en-US" sz="1600" dirty="0" err="1">
                          <a:effectLst/>
                          <a:latin typeface="Times New Roman" panose="02020603050405020304" pitchFamily="18" charset="0"/>
                          <a:cs typeface="Times New Roman" panose="02020603050405020304" pitchFamily="18" charset="0"/>
                        </a:rPr>
                        <a:t>Phân</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tích</a:t>
                      </a:r>
                      <a:r>
                        <a:rPr lang="en-US" sz="1600" dirty="0">
                          <a:effectLst/>
                          <a:latin typeface="Times New Roman" panose="02020603050405020304" pitchFamily="18" charset="0"/>
                          <a:cs typeface="Times New Roman" panose="02020603050405020304" pitchFamily="18" charset="0"/>
                        </a:rPr>
                        <a:t> chi </a:t>
                      </a:r>
                      <a:r>
                        <a:rPr lang="en-US" sz="1600" dirty="0" err="1">
                          <a:effectLst/>
                          <a:latin typeface="Times New Roman" panose="02020603050405020304" pitchFamily="18" charset="0"/>
                          <a:cs typeface="Times New Roman" panose="02020603050405020304" pitchFamily="18" charset="0"/>
                        </a:rPr>
                        <a:t>tiết</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yêu</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cầu</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hệ</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thống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cho</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phân</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hệ</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quản</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lý</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Phòng</a:t>
                      </a:r>
                      <a:r>
                        <a:rPr lang="en-US" sz="1600" dirty="0">
                          <a:effectLst/>
                          <a:latin typeface="Times New Roman" panose="02020603050405020304" pitchFamily="18" charset="0"/>
                          <a:cs typeface="Times New Roman" panose="02020603050405020304" pitchFamily="18" charset="0"/>
                        </a:rPr>
                        <a:t> Đào </a:t>
                      </a:r>
                      <a:r>
                        <a:rPr lang="en-US" sz="1600" dirty="0" err="1">
                          <a:effectLst/>
                          <a:latin typeface="Times New Roman" panose="02020603050405020304" pitchFamily="18" charset="0"/>
                          <a:cs typeface="Times New Roman" panose="02020603050405020304" pitchFamily="18" charset="0"/>
                        </a:rPr>
                        <a:t>tạo</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Giáo</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vụ</a:t>
                      </a:r>
                      <a:r>
                        <a:rPr lang="en-US" sz="1600" dirty="0">
                          <a:effectLst/>
                          <a:latin typeface="Times New Roman" panose="02020603050405020304" pitchFamily="18" charset="0"/>
                          <a:cs typeface="Times New Roman" panose="02020603050405020304" pitchFamily="18" charset="0"/>
                        </a:rPr>
                        <a:t> Khoa, Admin); </a:t>
                      </a:r>
                      <a:r>
                        <a:rPr lang="en-US" sz="1600" dirty="0" err="1">
                          <a:effectLst/>
                          <a:latin typeface="Times New Roman" panose="02020603050405020304" pitchFamily="18" charset="0"/>
                          <a:cs typeface="Times New Roman" panose="02020603050405020304" pitchFamily="18" charset="0"/>
                        </a:rPr>
                        <a:t>phân</a:t>
                      </a:r>
                      <a:r>
                        <a:rPr lang="en-US" sz="1600" dirty="0">
                          <a:effectLst/>
                          <a:latin typeface="Times New Roman" panose="02020603050405020304" pitchFamily="18" charset="0"/>
                          <a:cs typeface="Times New Roman" panose="02020603050405020304" pitchFamily="18" charset="0"/>
                        </a:rPr>
                        <a:t> chia </a:t>
                      </a:r>
                      <a:r>
                        <a:rPr lang="en-US" sz="1600" dirty="0" err="1">
                          <a:effectLst/>
                          <a:latin typeface="Times New Roman" panose="02020603050405020304" pitchFamily="18" charset="0"/>
                          <a:cs typeface="Times New Roman" panose="02020603050405020304" pitchFamily="18" charset="0"/>
                        </a:rPr>
                        <a:t>công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việc</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phần</a:t>
                      </a:r>
                      <a:r>
                        <a:rPr lang="en-US" sz="1600" dirty="0">
                          <a:effectLst/>
                          <a:latin typeface="Times New Roman" panose="02020603050405020304" pitchFamily="18" charset="0"/>
                          <a:cs typeface="Times New Roman" panose="02020603050405020304" pitchFamily="18" charset="0"/>
                        </a:rPr>
                        <a:t> Backend.</a:t>
                      </a:r>
                    </a:p>
                    <a:p>
                      <a:pPr algn="just">
                        <a:spcAft>
                          <a:spcPts val="2400"/>
                        </a:spcAft>
                        <a:buNone/>
                      </a:pP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Vĩ</a:t>
                      </a:r>
                      <a:r>
                        <a:rPr lang="en-US" sz="1600" b="1"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Phân</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tích</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yêu</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cầu</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luồng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nghiệp</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vụ</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cho</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người</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dùng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cuối</a:t>
                      </a:r>
                      <a:r>
                        <a:rPr lang="en-US" sz="1600" dirty="0">
                          <a:effectLst/>
                          <a:latin typeface="Times New Roman" panose="02020603050405020304" pitchFamily="18" charset="0"/>
                          <a:cs typeface="Times New Roman" panose="02020603050405020304" pitchFamily="18" charset="0"/>
                        </a:rPr>
                        <a:t> (Sinh </a:t>
                      </a:r>
                      <a:r>
                        <a:rPr lang="en-US" sz="1600" dirty="0" err="1">
                          <a:effectLst/>
                          <a:latin typeface="Times New Roman" panose="02020603050405020304" pitchFamily="18" charset="0"/>
                          <a:cs typeface="Times New Roman" panose="02020603050405020304" pitchFamily="18" charset="0"/>
                        </a:rPr>
                        <a:t>viên</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Trưởng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nhóm</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Giảng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viên</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phân</a:t>
                      </a:r>
                      <a:r>
                        <a:rPr lang="en-US" sz="1600" dirty="0">
                          <a:effectLst/>
                          <a:latin typeface="Times New Roman" panose="02020603050405020304" pitchFamily="18" charset="0"/>
                          <a:cs typeface="Times New Roman" panose="02020603050405020304" pitchFamily="18" charset="0"/>
                        </a:rPr>
                        <a:t> chia </a:t>
                      </a:r>
                      <a:r>
                        <a:rPr lang="en-US" sz="1600" dirty="0" err="1">
                          <a:effectLst/>
                          <a:latin typeface="Times New Roman" panose="02020603050405020304" pitchFamily="18" charset="0"/>
                          <a:cs typeface="Times New Roman" panose="02020603050405020304" pitchFamily="18" charset="0"/>
                        </a:rPr>
                        <a:t>công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việc</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phần</a:t>
                      </a:r>
                      <a:r>
                        <a:rPr lang="en-US" sz="1600" dirty="0">
                          <a:effectLst/>
                          <a:latin typeface="Times New Roman" panose="02020603050405020304" pitchFamily="18" charset="0"/>
                          <a:cs typeface="Times New Roman" panose="02020603050405020304" pitchFamily="18" charset="0"/>
                        </a:rPr>
                        <a:t> Frontend/Mobile.</a:t>
                      </a: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2400"/>
                        </a:spcAft>
                        <a:buNone/>
                      </a:pPr>
                      <a:r>
                        <a:rPr lang="en-US" sz="1600">
                          <a:effectLst/>
                          <a:latin typeface="Times New Roman" panose="02020603050405020304" pitchFamily="18" charset="0"/>
                          <a:cs typeface="Times New Roman" panose="02020603050405020304" pitchFamily="18" charset="0"/>
                        </a:rPr>
                        <a:t>Công việc được chia rõ ràng, mỗi thành viên nắm được phần việc cần thực hiện</a:t>
                      </a: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6310931"/>
                  </a:ext>
                </a:extLst>
              </a:tr>
              <a:tr h="1320210">
                <a:tc>
                  <a:txBody>
                    <a:bodyPr/>
                    <a:lstStyle/>
                    <a:p>
                      <a:pPr>
                        <a:spcAft>
                          <a:spcPts val="2400"/>
                        </a:spcAft>
                        <a:buNone/>
                      </a:pPr>
                      <a:r>
                        <a:rPr lang="en-US" sz="1600" b="1" dirty="0" err="1">
                          <a:effectLst/>
                          <a:latin typeface="Times New Roman" panose="02020603050405020304" pitchFamily="18" charset="0"/>
                          <a:cs typeface="Times New Roman" panose="02020603050405020304" pitchFamily="18" charset="0"/>
                        </a:rPr>
                        <a:t>Tuần</a:t>
                      </a:r>
                      <a:r>
                        <a:rPr lang="en-US" sz="1600" b="1" dirty="0">
                          <a:effectLst/>
                          <a:latin typeface="Times New Roman" panose="02020603050405020304" pitchFamily="18" charset="0"/>
                          <a:cs typeface="Times New Roman" panose="02020603050405020304" pitchFamily="18" charset="0"/>
                        </a:rPr>
                        <a:t> 3</a:t>
                      </a: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Aft>
                          <a:spcPts val="2400"/>
                        </a:spcAft>
                        <a:buNone/>
                      </a:pPr>
                      <a:r>
                        <a:rPr lang="en-US" sz="1600">
                          <a:effectLst/>
                          <a:latin typeface="Times New Roman" panose="02020603050405020304" pitchFamily="18" charset="0"/>
                          <a:cs typeface="Times New Roman" panose="02020603050405020304" pitchFamily="18" charset="0"/>
                        </a:rPr>
                        <a:t>Thiết kế cơ sở dữ liệu</a:t>
                      </a: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Aft>
                          <a:spcPts val="2400"/>
                        </a:spcAft>
                        <a:buNone/>
                      </a:pPr>
                      <a:r>
                        <a:rPr lang="en-US" sz="1600" dirty="0">
                          <a:effectLst/>
                          <a:latin typeface="Times New Roman" panose="02020603050405020304" pitchFamily="18" charset="0"/>
                          <a:cs typeface="Times New Roman" panose="02020603050405020304" pitchFamily="18" charset="0"/>
                        </a:rPr>
                        <a:t>- Nguyễn Trọng Nguyên</a:t>
                      </a:r>
                    </a:p>
                    <a:p>
                      <a:pPr>
                        <a:spcAft>
                          <a:spcPts val="2400"/>
                        </a:spcAft>
                        <a:buNone/>
                      </a:pPr>
                      <a:r>
                        <a:rPr lang="en-US" sz="1600" dirty="0">
                          <a:effectLst/>
                          <a:latin typeface="Times New Roman" panose="02020603050405020304" pitchFamily="18" charset="0"/>
                          <a:cs typeface="Times New Roman" panose="02020603050405020304" pitchFamily="18" charset="0"/>
                        </a:rPr>
                        <a:t>- Lâm Phượng </a:t>
                      </a:r>
                      <a:r>
                        <a:rPr lang="en-US" sz="1600" dirty="0" err="1">
                          <a:effectLst/>
                          <a:latin typeface="Times New Roman" panose="02020603050405020304" pitchFamily="18" charset="0"/>
                          <a:cs typeface="Times New Roman" panose="02020603050405020304" pitchFamily="18" charset="0"/>
                        </a:rPr>
                        <a:t>Vĩ</a:t>
                      </a:r>
                      <a:endParaRPr lang="en-US" sz="1600" dirty="0">
                        <a:effectLst/>
                        <a:latin typeface="Times New Roman" panose="02020603050405020304" pitchFamily="18" charset="0"/>
                        <a:cs typeface="Times New Roman" panose="02020603050405020304" pitchFamily="18" charset="0"/>
                      </a:endParaRP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2400"/>
                        </a:spcAft>
                        <a:buNone/>
                      </a:pPr>
                      <a:r>
                        <a:rPr lang="en-US" sz="1600" dirty="0">
                          <a:effectLst/>
                          <a:latin typeface="Times New Roman" panose="02020603050405020304" pitchFamily="18" charset="0"/>
                          <a:cs typeface="Times New Roman" panose="02020603050405020304" pitchFamily="18" charset="0"/>
                        </a:rPr>
                        <a:t>- </a:t>
                      </a:r>
                      <a:r>
                        <a:rPr lang="en-US" sz="1600" b="1" dirty="0">
                          <a:effectLst/>
                          <a:latin typeface="Times New Roman" panose="02020603050405020304" pitchFamily="18" charset="0"/>
                          <a:cs typeface="Times New Roman" panose="02020603050405020304" pitchFamily="18" charset="0"/>
                        </a:rPr>
                        <a:t>Nguyên: </a:t>
                      </a:r>
                      <a:r>
                        <a:rPr lang="en-US" sz="1600" dirty="0" err="1">
                          <a:effectLst/>
                          <a:latin typeface="Times New Roman" panose="02020603050405020304" pitchFamily="18" charset="0"/>
                          <a:cs typeface="Times New Roman" panose="02020603050405020304" pitchFamily="18" charset="0"/>
                        </a:rPr>
                        <a:t>Thiết</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kế</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cấu</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trúc</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bảng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khóa</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chính</a:t>
                      </a:r>
                      <a:r>
                        <a:rPr lang="en-US" sz="1600" dirty="0">
                          <a:effectLst/>
                          <a:latin typeface="Times New Roman" panose="02020603050405020304" pitchFamily="18" charset="0"/>
                          <a:cs typeface="Times New Roman" panose="02020603050405020304" pitchFamily="18" charset="0"/>
                        </a:rPr>
                        <a:t>/</a:t>
                      </a:r>
                      <a:r>
                        <a:rPr lang="en-US" sz="1600" dirty="0" err="1">
                          <a:effectLst/>
                          <a:latin typeface="Times New Roman" panose="02020603050405020304" pitchFamily="18" charset="0"/>
                          <a:cs typeface="Times New Roman" panose="02020603050405020304" pitchFamily="18" charset="0"/>
                        </a:rPr>
                        <a:t>ngoại</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và</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viết</a:t>
                      </a:r>
                      <a:r>
                        <a:rPr lang="en-US" sz="1600" dirty="0">
                          <a:effectLst/>
                          <a:latin typeface="Times New Roman" panose="02020603050405020304" pitchFamily="18" charset="0"/>
                          <a:cs typeface="Times New Roman" panose="02020603050405020304" pitchFamily="18" charset="0"/>
                        </a:rPr>
                        <a:t> script SQL </a:t>
                      </a:r>
                      <a:r>
                        <a:rPr lang="en-US" sz="1600" dirty="0" err="1">
                          <a:effectLst/>
                          <a:latin typeface="Times New Roman" panose="02020603050405020304" pitchFamily="18" charset="0"/>
                          <a:cs typeface="Times New Roman" panose="02020603050405020304" pitchFamily="18" charset="0"/>
                        </a:rPr>
                        <a:t>cho</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các</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bảng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hệ</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thống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phân</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quyền</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Phòng</a:t>
                      </a:r>
                      <a:r>
                        <a:rPr lang="en-US" sz="1600" dirty="0">
                          <a:effectLst/>
                          <a:latin typeface="Times New Roman" panose="02020603050405020304" pitchFamily="18" charset="0"/>
                          <a:cs typeface="Times New Roman" panose="02020603050405020304" pitchFamily="18" charset="0"/>
                        </a:rPr>
                        <a:t> Đào </a:t>
                      </a:r>
                      <a:r>
                        <a:rPr lang="en-US" sz="1600" dirty="0" err="1">
                          <a:effectLst/>
                          <a:latin typeface="Times New Roman" panose="02020603050405020304" pitchFamily="18" charset="0"/>
                          <a:cs typeface="Times New Roman" panose="02020603050405020304" pitchFamily="18" charset="0"/>
                        </a:rPr>
                        <a:t>tạo</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Giáo</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vụ</a:t>
                      </a:r>
                      <a:r>
                        <a:rPr lang="en-US" sz="1600" dirty="0">
                          <a:effectLst/>
                          <a:latin typeface="Times New Roman" panose="02020603050405020304" pitchFamily="18" charset="0"/>
                          <a:cs typeface="Times New Roman" panose="02020603050405020304" pitchFamily="18" charset="0"/>
                        </a:rPr>
                        <a:t> Khoa.</a:t>
                      </a:r>
                    </a:p>
                    <a:p>
                      <a:pPr algn="just">
                        <a:spcAft>
                          <a:spcPts val="2400"/>
                        </a:spcAft>
                        <a:buNone/>
                      </a:pP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Vĩ</a:t>
                      </a:r>
                      <a:r>
                        <a:rPr lang="en-US" sz="1600" b="1"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Thiết</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kế</a:t>
                      </a:r>
                      <a:r>
                        <a:rPr lang="en-US" sz="1600" dirty="0">
                          <a:effectLst/>
                          <a:latin typeface="Times New Roman" panose="02020603050405020304" pitchFamily="18" charset="0"/>
                          <a:cs typeface="Times New Roman" panose="02020603050405020304" pitchFamily="18" charset="0"/>
                        </a:rPr>
                        <a:t> script SQL </a:t>
                      </a:r>
                      <a:r>
                        <a:rPr lang="en-US" sz="1600" dirty="0" err="1">
                          <a:effectLst/>
                          <a:latin typeface="Times New Roman" panose="02020603050405020304" pitchFamily="18" charset="0"/>
                          <a:cs typeface="Times New Roman" panose="02020603050405020304" pitchFamily="18" charset="0"/>
                        </a:rPr>
                        <a:t>cho</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các</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bảng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nghiệp</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vụ</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nhóm</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sinh</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viên</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thành</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viên</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đợt</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đăng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ký</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đề</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tài</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và</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phối</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hợp</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kiểm</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tra</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ràng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buộc</a:t>
                      </a:r>
                      <a:r>
                        <a:rPr lang="en-US" sz="1600" dirty="0">
                          <a:effectLst/>
                          <a:latin typeface="Times New Roman" panose="02020603050405020304" pitchFamily="18" charset="0"/>
                          <a:cs typeface="Times New Roman" panose="02020603050405020304" pitchFamily="18" charset="0"/>
                        </a:rPr>
                        <a:t>.</a:t>
                      </a: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2400"/>
                        </a:spcAft>
                        <a:buNone/>
                      </a:pPr>
                      <a:r>
                        <a:rPr lang="en-US" sz="1600" dirty="0">
                          <a:effectLst/>
                          <a:latin typeface="Times New Roman" panose="02020603050405020304" pitchFamily="18" charset="0"/>
                          <a:cs typeface="Times New Roman" panose="02020603050405020304" pitchFamily="18" charset="0"/>
                        </a:rPr>
                        <a:t>Hoàn </a:t>
                      </a:r>
                      <a:r>
                        <a:rPr lang="en-US" sz="1600" dirty="0" err="1">
                          <a:effectLst/>
                          <a:latin typeface="Times New Roman" panose="02020603050405020304" pitchFamily="18" charset="0"/>
                          <a:cs typeface="Times New Roman" panose="02020603050405020304" pitchFamily="18" charset="0"/>
                        </a:rPr>
                        <a:t>thiện</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cấu</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trúc</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cơ</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sở</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dữ</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liệu</a:t>
                      </a:r>
                      <a:r>
                        <a:rPr lang="en-US" sz="1600" dirty="0">
                          <a:effectLst/>
                          <a:latin typeface="Times New Roman" panose="02020603050405020304" pitchFamily="18" charset="0"/>
                          <a:cs typeface="Times New Roman" panose="02020603050405020304" pitchFamily="18" charset="0"/>
                        </a:rPr>
                        <a:t> SQL </a:t>
                      </a:r>
                      <a:r>
                        <a:rPr lang="en-US" sz="1600" dirty="0" err="1">
                          <a:effectLst/>
                          <a:latin typeface="Times New Roman" panose="02020603050405020304" pitchFamily="18" charset="0"/>
                          <a:cs typeface="Times New Roman" panose="02020603050405020304" pitchFamily="18" charset="0"/>
                        </a:rPr>
                        <a:t>và</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các</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ràng</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buộc</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toàn</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vẹn</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dữ</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liệu</a:t>
                      </a:r>
                      <a:endParaRPr lang="en-US" sz="1600" dirty="0">
                        <a:effectLst/>
                        <a:latin typeface="Times New Roman" panose="02020603050405020304" pitchFamily="18" charset="0"/>
                        <a:cs typeface="Times New Roman" panose="02020603050405020304" pitchFamily="18" charset="0"/>
                      </a:endParaRP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2429259"/>
                  </a:ext>
                </a:extLst>
              </a:tr>
            </a:tbl>
          </a:graphicData>
        </a:graphic>
      </p:graphicFrame>
    </p:spTree>
    <p:extLst>
      <p:ext uri="{BB962C8B-B14F-4D97-AF65-F5344CB8AC3E}">
        <p14:creationId xmlns:p14="http://schemas.microsoft.com/office/powerpoint/2010/main" val="39349661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919F837A-2613-5C9E-BF10-3731FD148A1F}"/>
              </a:ext>
            </a:extLst>
          </p:cNvPr>
          <p:cNvGraphicFramePr>
            <a:graphicFrameLocks noGrp="1"/>
          </p:cNvGraphicFramePr>
          <p:nvPr>
            <p:extLst>
              <p:ext uri="{D42A27DB-BD31-4B8C-83A1-F6EECF244321}">
                <p14:modId xmlns:p14="http://schemas.microsoft.com/office/powerpoint/2010/main" val="3369240151"/>
              </p:ext>
            </p:extLst>
          </p:nvPr>
        </p:nvGraphicFramePr>
        <p:xfrm>
          <a:off x="487680" y="848147"/>
          <a:ext cx="11369040" cy="5415493"/>
        </p:xfrm>
        <a:graphic>
          <a:graphicData uri="http://schemas.openxmlformats.org/drawingml/2006/table">
            <a:tbl>
              <a:tblPr/>
              <a:tblGrid>
                <a:gridCol w="792737">
                  <a:extLst>
                    <a:ext uri="{9D8B030D-6E8A-4147-A177-3AD203B41FA5}">
                      <a16:colId xmlns:a16="http://schemas.microsoft.com/office/drawing/2014/main" val="405656788"/>
                    </a:ext>
                  </a:extLst>
                </a:gridCol>
                <a:gridCol w="1682155">
                  <a:extLst>
                    <a:ext uri="{9D8B030D-6E8A-4147-A177-3AD203B41FA5}">
                      <a16:colId xmlns:a16="http://schemas.microsoft.com/office/drawing/2014/main" val="3535008965"/>
                    </a:ext>
                  </a:extLst>
                </a:gridCol>
                <a:gridCol w="1740160">
                  <a:extLst>
                    <a:ext uri="{9D8B030D-6E8A-4147-A177-3AD203B41FA5}">
                      <a16:colId xmlns:a16="http://schemas.microsoft.com/office/drawing/2014/main" val="2860685962"/>
                    </a:ext>
                  </a:extLst>
                </a:gridCol>
                <a:gridCol w="4563085">
                  <a:extLst>
                    <a:ext uri="{9D8B030D-6E8A-4147-A177-3AD203B41FA5}">
                      <a16:colId xmlns:a16="http://schemas.microsoft.com/office/drawing/2014/main" val="2719338757"/>
                    </a:ext>
                  </a:extLst>
                </a:gridCol>
                <a:gridCol w="2590903">
                  <a:extLst>
                    <a:ext uri="{9D8B030D-6E8A-4147-A177-3AD203B41FA5}">
                      <a16:colId xmlns:a16="http://schemas.microsoft.com/office/drawing/2014/main" val="17893540"/>
                    </a:ext>
                  </a:extLst>
                </a:gridCol>
              </a:tblGrid>
              <a:tr h="2740971">
                <a:tc>
                  <a:txBody>
                    <a:bodyPr/>
                    <a:lstStyle/>
                    <a:p>
                      <a:pPr algn="ctr" rtl="0" fontAlgn="ctr">
                        <a:spcBef>
                          <a:spcPts val="600"/>
                        </a:spcBef>
                        <a:buNone/>
                      </a:pPr>
                      <a:r>
                        <a:rPr lang="en-US" sz="1600" b="1" i="0" u="none" strike="noStrike" dirty="0" err="1">
                          <a:solidFill>
                            <a:srgbClr val="000000"/>
                          </a:solidFill>
                          <a:effectLst/>
                          <a:latin typeface="Times New Roman" panose="02020603050405020304" pitchFamily="18" charset="0"/>
                          <a:cs typeface="Times New Roman" panose="02020603050405020304" pitchFamily="18" charset="0"/>
                        </a:rPr>
                        <a:t>Tuần</a:t>
                      </a:r>
                      <a:r>
                        <a:rPr lang="en-US" sz="1600" b="1" i="0" u="none" strike="noStrike" dirty="0">
                          <a:solidFill>
                            <a:srgbClr val="000000"/>
                          </a:solidFill>
                          <a:effectLst/>
                          <a:latin typeface="Times New Roman" panose="02020603050405020304" pitchFamily="18" charset="0"/>
                          <a:cs typeface="Times New Roman" panose="02020603050405020304" pitchFamily="18" charset="0"/>
                        </a:rPr>
                        <a:t> 4</a:t>
                      </a:r>
                      <a:endParaRPr lang="en-US" sz="1600" b="1" dirty="0">
                        <a:effectLst/>
                        <a:latin typeface="Times New Roman" panose="02020603050405020304" pitchFamily="18" charset="0"/>
                        <a:cs typeface="Times New Roman" panose="02020603050405020304" pitchFamily="18" charset="0"/>
                      </a:endParaRPr>
                    </a:p>
                  </a:txBody>
                  <a:tcPr marL="6942" marR="6942" marT="6942" marB="69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6355" marR="45720" algn="just" rtl="0" fontAlgn="ctr">
                        <a:spcBef>
                          <a:spcPts val="600"/>
                        </a:spcBef>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Xây dựng giao diện ứng dụng </a:t>
                      </a:r>
                      <a:endParaRPr lang="en-US" sz="1600">
                        <a:effectLst/>
                        <a:latin typeface="Times New Roman" panose="02020603050405020304" pitchFamily="18" charset="0"/>
                        <a:cs typeface="Times New Roman" panose="02020603050405020304" pitchFamily="18" charset="0"/>
                      </a:endParaRPr>
                    </a:p>
                  </a:txBody>
                  <a:tcPr marL="6942" marR="6942" marT="6942" marB="69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73660" marR="45720" algn="just" rtl="0" fontAlgn="ctr">
                        <a:spcBef>
                          <a:spcPts val="600"/>
                        </a:spcBef>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Nguyễn Trọng Nguyên, Lâm Phượng Vĩ</a:t>
                      </a:r>
                      <a:endParaRPr lang="en-US" sz="1600">
                        <a:effectLst/>
                        <a:latin typeface="Times New Roman" panose="02020603050405020304" pitchFamily="18" charset="0"/>
                        <a:cs typeface="Times New Roman" panose="02020603050405020304" pitchFamily="18" charset="0"/>
                      </a:endParaRPr>
                    </a:p>
                  </a:txBody>
                  <a:tcPr marL="6942" marR="6942" marT="6942" marB="69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80645" marR="102870" algn="just" rtl="0" fontAlgn="ctr">
                        <a:spcBef>
                          <a:spcPts val="600"/>
                        </a:spcBef>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Phác thảo và chia nhỏ lập trình giao diện (UI) phân hệ Sinh viên:</a:t>
                      </a:r>
                      <a:endParaRPr lang="en-US" sz="1600">
                        <a:effectLst/>
                        <a:latin typeface="Times New Roman" panose="02020603050405020304" pitchFamily="18" charset="0"/>
                        <a:cs typeface="Times New Roman" panose="02020603050405020304" pitchFamily="18" charset="0"/>
                      </a:endParaRPr>
                    </a:p>
                    <a:p>
                      <a:pPr marL="80645" marR="102870" algn="just" rtl="0" fontAlgn="ctr">
                        <a:spcBef>
                          <a:spcPts val="600"/>
                        </a:spcBef>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 Lâm Phượng Vĩ: Thiết kế UI giao diện tìm kiếm và xem danh sách đề tài đồ án, giao diện đăng ký đồ án môn học.</a:t>
                      </a:r>
                      <a:endParaRPr lang="en-US" sz="1600">
                        <a:effectLst/>
                        <a:latin typeface="Times New Roman" panose="02020603050405020304" pitchFamily="18" charset="0"/>
                        <a:cs typeface="Times New Roman" panose="02020603050405020304" pitchFamily="18" charset="0"/>
                      </a:endParaRPr>
                    </a:p>
                    <a:p>
                      <a:pPr marL="80645" marR="102870" algn="just" rtl="0" fontAlgn="ctr">
                        <a:spcBef>
                          <a:spcPts val="600"/>
                        </a:spcBef>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 Nguyễn Trọng Nguyên: Thiết kế UI giao diện tạo nhóm, quản lý danh sách thành viên và chức năng tìm/mời thành viên vào nhóm</a:t>
                      </a:r>
                      <a:endParaRPr lang="en-US" sz="1600">
                        <a:effectLst/>
                        <a:latin typeface="Times New Roman" panose="02020603050405020304" pitchFamily="18" charset="0"/>
                        <a:cs typeface="Times New Roman" panose="02020603050405020304" pitchFamily="18" charset="0"/>
                      </a:endParaRPr>
                    </a:p>
                  </a:txBody>
                  <a:tcPr marL="6942" marR="6942" marT="6942" marB="69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1115" marR="107950" algn="just" rtl="0" fontAlgn="ctr">
                        <a:spcBef>
                          <a:spcPts val="600"/>
                        </a:spcBef>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Hoàn thành giao diện cơ bản (UI Layout) của ứng dụng; các màn hình hiển thị trực quan, thân thiện với người dùng.</a:t>
                      </a:r>
                      <a:endParaRPr lang="en-US" sz="1600">
                        <a:effectLst/>
                        <a:latin typeface="Times New Roman" panose="02020603050405020304" pitchFamily="18" charset="0"/>
                        <a:cs typeface="Times New Roman" panose="02020603050405020304" pitchFamily="18" charset="0"/>
                      </a:endParaRPr>
                    </a:p>
                  </a:txBody>
                  <a:tcPr marL="6942" marR="6942" marT="6942" marB="69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6506004"/>
                  </a:ext>
                </a:extLst>
              </a:tr>
              <a:tr h="2674522">
                <a:tc>
                  <a:txBody>
                    <a:bodyPr/>
                    <a:lstStyle/>
                    <a:p>
                      <a:pPr algn="ctr" rtl="0" fontAlgn="ctr">
                        <a:spcBef>
                          <a:spcPts val="600"/>
                        </a:spcBef>
                        <a:buNone/>
                      </a:pPr>
                      <a:r>
                        <a:rPr lang="en-US" sz="1600" b="1" i="0" u="none" strike="noStrike" dirty="0" err="1">
                          <a:solidFill>
                            <a:srgbClr val="000000"/>
                          </a:solidFill>
                          <a:effectLst/>
                          <a:latin typeface="Times New Roman" panose="02020603050405020304" pitchFamily="18" charset="0"/>
                          <a:cs typeface="Times New Roman" panose="02020603050405020304" pitchFamily="18" charset="0"/>
                        </a:rPr>
                        <a:t>Tuần</a:t>
                      </a:r>
                      <a:r>
                        <a:rPr lang="en-US" sz="1600" b="1" i="0" u="none" strike="noStrike" dirty="0">
                          <a:solidFill>
                            <a:srgbClr val="000000"/>
                          </a:solidFill>
                          <a:effectLst/>
                          <a:latin typeface="Times New Roman" panose="02020603050405020304" pitchFamily="18" charset="0"/>
                          <a:cs typeface="Times New Roman" panose="02020603050405020304" pitchFamily="18" charset="0"/>
                        </a:rPr>
                        <a:t> 5</a:t>
                      </a:r>
                      <a:endParaRPr lang="en-US" sz="1600" b="1" dirty="0">
                        <a:effectLst/>
                        <a:latin typeface="Times New Roman" panose="02020603050405020304" pitchFamily="18" charset="0"/>
                        <a:cs typeface="Times New Roman" panose="02020603050405020304" pitchFamily="18" charset="0"/>
                      </a:endParaRPr>
                    </a:p>
                  </a:txBody>
                  <a:tcPr marL="6942" marR="6942" marT="6942" marB="69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6355" marR="45720" algn="just" rtl="0" fontAlgn="ctr">
                        <a:spcBef>
                          <a:spcPts val="600"/>
                        </a:spcBef>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Xây dựng giao diện Giáo vụ / Giảng viên và Kết nối CSDL</a:t>
                      </a:r>
                      <a:endParaRPr lang="en-US" sz="1600">
                        <a:effectLst/>
                        <a:latin typeface="Times New Roman" panose="02020603050405020304" pitchFamily="18" charset="0"/>
                        <a:cs typeface="Times New Roman" panose="02020603050405020304" pitchFamily="18" charset="0"/>
                      </a:endParaRPr>
                    </a:p>
                  </a:txBody>
                  <a:tcPr marL="6942" marR="6942" marT="6942" marB="69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73660" marR="45720" algn="just" rtl="0" fontAlgn="ctr">
                        <a:spcBef>
                          <a:spcPts val="600"/>
                        </a:spcBef>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Nguyễn Trọng Nguyên, Lâm Phượng Vĩ</a:t>
                      </a:r>
                      <a:endParaRPr lang="en-US" sz="1600">
                        <a:effectLst/>
                        <a:latin typeface="Times New Roman" panose="02020603050405020304" pitchFamily="18" charset="0"/>
                        <a:cs typeface="Times New Roman" panose="02020603050405020304" pitchFamily="18" charset="0"/>
                      </a:endParaRPr>
                    </a:p>
                  </a:txBody>
                  <a:tcPr marL="6942" marR="6942" marT="6942" marB="69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80645" marR="102870" algn="just" rtl="0" fontAlgn="ctr">
                        <a:spcBef>
                          <a:spcPts val="600"/>
                        </a:spcBef>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 Nguyễn Trọng Nguyên: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Thiết</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kế</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UI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màn</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hình</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Đăng</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nhập</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Phân</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quyền</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&amp;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phân</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hệ</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Giáo</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vụ</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Khoa /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Phòng</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Đào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tạo</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quản</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lý</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môn</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học</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đợt</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đăng</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ký</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đồ</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án</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phân</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công</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giảng</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viên</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cs typeface="Times New Roman" panose="02020603050405020304" pitchFamily="18" charset="0"/>
                      </a:endParaRPr>
                    </a:p>
                    <a:p>
                      <a:pPr marL="80645" marR="102870" algn="just" rtl="0" fontAlgn="ctr">
                        <a:spcBef>
                          <a:spcPts val="600"/>
                        </a:spcBef>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 Lâm Phượng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Vĩ</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Thiết</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kế</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UI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phân</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hệ</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Giảng</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viên</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duyệt</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nhóm</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đề</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tài</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và</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bắt</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đầu</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tích</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hợp</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kết</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nối</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CSDL SQL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cho</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các</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chức</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năng</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chính</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cs typeface="Times New Roman" panose="02020603050405020304" pitchFamily="18" charset="0"/>
                      </a:endParaRPr>
                    </a:p>
                  </a:txBody>
                  <a:tcPr marL="6942" marR="6942" marT="6942" marB="69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buNone/>
                      </a:pPr>
                      <a:br>
                        <a:rPr lang="en-US" sz="1600" dirty="0">
                          <a:effectLst/>
                          <a:latin typeface="Times New Roman" panose="02020603050405020304" pitchFamily="18" charset="0"/>
                          <a:cs typeface="Times New Roman" panose="02020603050405020304" pitchFamily="18" charset="0"/>
                        </a:rPr>
                      </a:br>
                      <a:endParaRPr lang="en-US" sz="1600" dirty="0">
                        <a:effectLst/>
                        <a:latin typeface="Times New Roman" panose="02020603050405020304" pitchFamily="18" charset="0"/>
                        <a:cs typeface="Times New Roman" panose="02020603050405020304" pitchFamily="18" charset="0"/>
                      </a:endParaRPr>
                    </a:p>
                  </a:txBody>
                  <a:tcPr marL="6942" marR="6942" marT="6942" marB="69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26688"/>
                  </a:ext>
                </a:extLst>
              </a:tr>
            </a:tbl>
          </a:graphicData>
        </a:graphic>
      </p:graphicFrame>
      <p:graphicFrame>
        <p:nvGraphicFramePr>
          <p:cNvPr id="7" name="Table 6">
            <a:extLst>
              <a:ext uri="{FF2B5EF4-FFF2-40B4-BE49-F238E27FC236}">
                <a16:creationId xmlns:a16="http://schemas.microsoft.com/office/drawing/2014/main" id="{3874E381-D121-15CE-E81E-625C577FE868}"/>
              </a:ext>
            </a:extLst>
          </p:cNvPr>
          <p:cNvGraphicFramePr>
            <a:graphicFrameLocks noGrp="1"/>
          </p:cNvGraphicFramePr>
          <p:nvPr>
            <p:extLst>
              <p:ext uri="{D42A27DB-BD31-4B8C-83A1-F6EECF244321}">
                <p14:modId xmlns:p14="http://schemas.microsoft.com/office/powerpoint/2010/main" val="1417629426"/>
              </p:ext>
            </p:extLst>
          </p:nvPr>
        </p:nvGraphicFramePr>
        <p:xfrm>
          <a:off x="487680" y="340573"/>
          <a:ext cx="11369041" cy="507574"/>
        </p:xfrm>
        <a:graphic>
          <a:graphicData uri="http://schemas.openxmlformats.org/drawingml/2006/table">
            <a:tbl>
              <a:tblPr>
                <a:tableStyleId>{5C22544A-7EE6-4342-B048-85BDC9FD1C3A}</a:tableStyleId>
              </a:tblPr>
              <a:tblGrid>
                <a:gridCol w="769620">
                  <a:extLst>
                    <a:ext uri="{9D8B030D-6E8A-4147-A177-3AD203B41FA5}">
                      <a16:colId xmlns:a16="http://schemas.microsoft.com/office/drawing/2014/main" val="1169842933"/>
                    </a:ext>
                  </a:extLst>
                </a:gridCol>
                <a:gridCol w="1688123">
                  <a:extLst>
                    <a:ext uri="{9D8B030D-6E8A-4147-A177-3AD203B41FA5}">
                      <a16:colId xmlns:a16="http://schemas.microsoft.com/office/drawing/2014/main" val="2017414999"/>
                    </a:ext>
                  </a:extLst>
                </a:gridCol>
                <a:gridCol w="1758462">
                  <a:extLst>
                    <a:ext uri="{9D8B030D-6E8A-4147-A177-3AD203B41FA5}">
                      <a16:colId xmlns:a16="http://schemas.microsoft.com/office/drawing/2014/main" val="3732606054"/>
                    </a:ext>
                  </a:extLst>
                </a:gridCol>
                <a:gridCol w="4572000">
                  <a:extLst>
                    <a:ext uri="{9D8B030D-6E8A-4147-A177-3AD203B41FA5}">
                      <a16:colId xmlns:a16="http://schemas.microsoft.com/office/drawing/2014/main" val="803656988"/>
                    </a:ext>
                  </a:extLst>
                </a:gridCol>
                <a:gridCol w="2580836">
                  <a:extLst>
                    <a:ext uri="{9D8B030D-6E8A-4147-A177-3AD203B41FA5}">
                      <a16:colId xmlns:a16="http://schemas.microsoft.com/office/drawing/2014/main" val="465065413"/>
                    </a:ext>
                  </a:extLst>
                </a:gridCol>
              </a:tblGrid>
              <a:tr h="130832">
                <a:tc>
                  <a:txBody>
                    <a:bodyPr/>
                    <a:lstStyle/>
                    <a:p>
                      <a:pPr algn="ctr">
                        <a:spcAft>
                          <a:spcPts val="2400"/>
                        </a:spcAft>
                        <a:buNone/>
                      </a:pPr>
                      <a:r>
                        <a:rPr lang="en-US" sz="1600" b="1" dirty="0" err="1">
                          <a:effectLst/>
                          <a:latin typeface="Times New Roman" panose="02020603050405020304" pitchFamily="18" charset="0"/>
                          <a:cs typeface="Times New Roman" panose="02020603050405020304" pitchFamily="18" charset="0"/>
                        </a:rPr>
                        <a:t>Tuần</a:t>
                      </a:r>
                      <a:endParaRPr lang="en-US" sz="1600" b="1" dirty="0">
                        <a:effectLst/>
                        <a:latin typeface="Times New Roman" panose="02020603050405020304" pitchFamily="18" charset="0"/>
                        <a:cs typeface="Times New Roman" panose="02020603050405020304" pitchFamily="18" charset="0"/>
                      </a:endParaRP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2400"/>
                        </a:spcAft>
                        <a:buNone/>
                      </a:pPr>
                      <a:r>
                        <a:rPr lang="en-US" sz="1600" b="1" dirty="0" err="1">
                          <a:effectLst/>
                          <a:latin typeface="Times New Roman" panose="02020603050405020304" pitchFamily="18" charset="0"/>
                          <a:cs typeface="Times New Roman" panose="02020603050405020304" pitchFamily="18" charset="0"/>
                        </a:rPr>
                        <a:t>Nội</a:t>
                      </a:r>
                      <a:r>
                        <a:rPr lang="en-US" sz="1600" b="1" dirty="0">
                          <a:effectLst/>
                          <a:latin typeface="Times New Roman" panose="02020603050405020304" pitchFamily="18" charset="0"/>
                          <a:cs typeface="Times New Roman" panose="02020603050405020304" pitchFamily="18" charset="0"/>
                        </a:rPr>
                        <a:t> dung </a:t>
                      </a:r>
                      <a:r>
                        <a:rPr lang="en-US" sz="1600" b="1" dirty="0" err="1">
                          <a:effectLst/>
                          <a:latin typeface="Times New Roman" panose="02020603050405020304" pitchFamily="18" charset="0"/>
                          <a:cs typeface="Times New Roman" panose="02020603050405020304" pitchFamily="18" charset="0"/>
                        </a:rPr>
                        <a:t>công</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việc</a:t>
                      </a:r>
                      <a:endParaRPr lang="en-US" sz="1600" b="1" dirty="0">
                        <a:effectLst/>
                        <a:latin typeface="Times New Roman" panose="02020603050405020304" pitchFamily="18" charset="0"/>
                        <a:cs typeface="Times New Roman" panose="02020603050405020304" pitchFamily="18" charset="0"/>
                      </a:endParaRP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2400"/>
                        </a:spcAft>
                        <a:buNone/>
                      </a:pPr>
                      <a:r>
                        <a:rPr lang="en-US" sz="1600" b="1" dirty="0">
                          <a:effectLst/>
                          <a:latin typeface="Times New Roman" panose="02020603050405020304" pitchFamily="18" charset="0"/>
                          <a:cs typeface="Times New Roman" panose="02020603050405020304" pitchFamily="18" charset="0"/>
                        </a:rPr>
                        <a:t>Thành </a:t>
                      </a:r>
                      <a:r>
                        <a:rPr lang="en-US" sz="1600" b="1" dirty="0" err="1">
                          <a:effectLst/>
                          <a:latin typeface="Times New Roman" panose="02020603050405020304" pitchFamily="18" charset="0"/>
                          <a:cs typeface="Times New Roman" panose="02020603050405020304" pitchFamily="18" charset="0"/>
                        </a:rPr>
                        <a:t>viên</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phụ</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trách</a:t>
                      </a:r>
                      <a:endParaRPr lang="en-US" sz="1600" b="1" dirty="0">
                        <a:effectLst/>
                        <a:latin typeface="Times New Roman" panose="02020603050405020304" pitchFamily="18" charset="0"/>
                        <a:cs typeface="Times New Roman" panose="02020603050405020304" pitchFamily="18" charset="0"/>
                      </a:endParaRP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2400"/>
                        </a:spcAft>
                        <a:buNone/>
                      </a:pPr>
                      <a:r>
                        <a:rPr lang="en-US" sz="1600" b="1" dirty="0" err="1">
                          <a:effectLst/>
                          <a:latin typeface="Times New Roman" panose="02020603050405020304" pitchFamily="18" charset="0"/>
                          <a:cs typeface="Times New Roman" panose="02020603050405020304" pitchFamily="18" charset="0"/>
                        </a:rPr>
                        <a:t>Cách</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thực</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hiện</a:t>
                      </a:r>
                      <a:endParaRPr lang="en-US" sz="1600" b="1" dirty="0">
                        <a:effectLst/>
                        <a:latin typeface="Times New Roman" panose="02020603050405020304" pitchFamily="18" charset="0"/>
                        <a:cs typeface="Times New Roman" panose="02020603050405020304" pitchFamily="18" charset="0"/>
                      </a:endParaRP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2400"/>
                        </a:spcAft>
                        <a:buNone/>
                      </a:pPr>
                      <a:r>
                        <a:rPr lang="en-US" sz="1600" b="1" dirty="0" err="1">
                          <a:effectLst/>
                          <a:latin typeface="Times New Roman" panose="02020603050405020304" pitchFamily="18" charset="0"/>
                          <a:cs typeface="Times New Roman" panose="02020603050405020304" pitchFamily="18" charset="0"/>
                        </a:rPr>
                        <a:t>Kết</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quả</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đạt</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được</a:t>
                      </a:r>
                      <a:endParaRPr lang="en-US" sz="1600" b="1" dirty="0">
                        <a:effectLst/>
                        <a:latin typeface="Times New Roman" panose="02020603050405020304" pitchFamily="18" charset="0"/>
                        <a:cs typeface="Times New Roman" panose="02020603050405020304" pitchFamily="18" charset="0"/>
                      </a:endParaRPr>
                    </a:p>
                  </a:txBody>
                  <a:tcPr marL="14921" marR="14921" marT="9947" marB="9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2895450"/>
                  </a:ext>
                </a:extLst>
              </a:tr>
            </a:tbl>
          </a:graphicData>
        </a:graphic>
      </p:graphicFrame>
    </p:spTree>
    <p:extLst>
      <p:ext uri="{BB962C8B-B14F-4D97-AF65-F5344CB8AC3E}">
        <p14:creationId xmlns:p14="http://schemas.microsoft.com/office/powerpoint/2010/main" val="38504940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980E303-DE20-27B9-93C7-E29591FC0DFB}"/>
              </a:ext>
            </a:extLst>
          </p:cNvPr>
          <p:cNvGraphicFramePr>
            <a:graphicFrameLocks noGrp="1"/>
          </p:cNvGraphicFramePr>
          <p:nvPr>
            <p:extLst>
              <p:ext uri="{D42A27DB-BD31-4B8C-83A1-F6EECF244321}">
                <p14:modId xmlns:p14="http://schemas.microsoft.com/office/powerpoint/2010/main" val="4225323099"/>
              </p:ext>
            </p:extLst>
          </p:nvPr>
        </p:nvGraphicFramePr>
        <p:xfrm>
          <a:off x="219920" y="231494"/>
          <a:ext cx="11771448" cy="5716638"/>
        </p:xfrm>
        <a:graphic>
          <a:graphicData uri="http://schemas.openxmlformats.org/drawingml/2006/table">
            <a:tbl>
              <a:tblPr/>
              <a:tblGrid>
                <a:gridCol w="389680">
                  <a:extLst>
                    <a:ext uri="{9D8B030D-6E8A-4147-A177-3AD203B41FA5}">
                      <a16:colId xmlns:a16="http://schemas.microsoft.com/office/drawing/2014/main" val="3465235742"/>
                    </a:ext>
                  </a:extLst>
                </a:gridCol>
                <a:gridCol w="1391920">
                  <a:extLst>
                    <a:ext uri="{9D8B030D-6E8A-4147-A177-3AD203B41FA5}">
                      <a16:colId xmlns:a16="http://schemas.microsoft.com/office/drawing/2014/main" val="129340232"/>
                    </a:ext>
                  </a:extLst>
                </a:gridCol>
                <a:gridCol w="1727200">
                  <a:extLst>
                    <a:ext uri="{9D8B030D-6E8A-4147-A177-3AD203B41FA5}">
                      <a16:colId xmlns:a16="http://schemas.microsoft.com/office/drawing/2014/main" val="2183927132"/>
                    </a:ext>
                  </a:extLst>
                </a:gridCol>
                <a:gridCol w="4229344">
                  <a:extLst>
                    <a:ext uri="{9D8B030D-6E8A-4147-A177-3AD203B41FA5}">
                      <a16:colId xmlns:a16="http://schemas.microsoft.com/office/drawing/2014/main" val="723541620"/>
                    </a:ext>
                  </a:extLst>
                </a:gridCol>
                <a:gridCol w="771523">
                  <a:extLst>
                    <a:ext uri="{9D8B030D-6E8A-4147-A177-3AD203B41FA5}">
                      <a16:colId xmlns:a16="http://schemas.microsoft.com/office/drawing/2014/main" val="556318815"/>
                    </a:ext>
                  </a:extLst>
                </a:gridCol>
                <a:gridCol w="771523">
                  <a:extLst>
                    <a:ext uri="{9D8B030D-6E8A-4147-A177-3AD203B41FA5}">
                      <a16:colId xmlns:a16="http://schemas.microsoft.com/office/drawing/2014/main" val="1794711086"/>
                    </a:ext>
                  </a:extLst>
                </a:gridCol>
                <a:gridCol w="506490">
                  <a:extLst>
                    <a:ext uri="{9D8B030D-6E8A-4147-A177-3AD203B41FA5}">
                      <a16:colId xmlns:a16="http://schemas.microsoft.com/office/drawing/2014/main" val="2812673313"/>
                    </a:ext>
                  </a:extLst>
                </a:gridCol>
                <a:gridCol w="497840">
                  <a:extLst>
                    <a:ext uri="{9D8B030D-6E8A-4147-A177-3AD203B41FA5}">
                      <a16:colId xmlns:a16="http://schemas.microsoft.com/office/drawing/2014/main" val="4223061522"/>
                    </a:ext>
                  </a:extLst>
                </a:gridCol>
                <a:gridCol w="454687">
                  <a:extLst>
                    <a:ext uri="{9D8B030D-6E8A-4147-A177-3AD203B41FA5}">
                      <a16:colId xmlns:a16="http://schemas.microsoft.com/office/drawing/2014/main" val="2588624131"/>
                    </a:ext>
                  </a:extLst>
                </a:gridCol>
                <a:gridCol w="343747">
                  <a:extLst>
                    <a:ext uri="{9D8B030D-6E8A-4147-A177-3AD203B41FA5}">
                      <a16:colId xmlns:a16="http://schemas.microsoft.com/office/drawing/2014/main" val="594721893"/>
                    </a:ext>
                  </a:extLst>
                </a:gridCol>
                <a:gridCol w="343747">
                  <a:extLst>
                    <a:ext uri="{9D8B030D-6E8A-4147-A177-3AD203B41FA5}">
                      <a16:colId xmlns:a16="http://schemas.microsoft.com/office/drawing/2014/main" val="3102395291"/>
                    </a:ext>
                  </a:extLst>
                </a:gridCol>
                <a:gridCol w="343747">
                  <a:extLst>
                    <a:ext uri="{9D8B030D-6E8A-4147-A177-3AD203B41FA5}">
                      <a16:colId xmlns:a16="http://schemas.microsoft.com/office/drawing/2014/main" val="939455229"/>
                    </a:ext>
                  </a:extLst>
                </a:gridCol>
              </a:tblGrid>
              <a:tr h="266346">
                <a:tc gridSpan="12">
                  <a:txBody>
                    <a:bodyPr/>
                    <a:lstStyle/>
                    <a:p>
                      <a:pPr algn="ctr" rtl="0" fontAlgn="b">
                        <a:buNone/>
                      </a:pPr>
                      <a:r>
                        <a:rPr lang="en-US" sz="1600" b="1" dirty="0">
                          <a:solidFill>
                            <a:srgbClr val="0D6EFD"/>
                          </a:solidFill>
                          <a:effectLst/>
                          <a:latin typeface="Times New Roman" panose="02020603050405020304" pitchFamily="18" charset="0"/>
                          <a:cs typeface="Times New Roman" panose="02020603050405020304" pitchFamily="18" charset="0"/>
                        </a:rPr>
                        <a:t>SƠ ĐỒ GANTT TỔNG QUAN DỰ ÁN</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rtl="0" fontAlgn="b">
                        <a:buNone/>
                      </a:pPr>
                      <a:endParaRPr lang="en-US" sz="800" dirty="0">
                        <a:effectLst/>
                        <a:latin typeface="Calibri" panose="020F0502020204030204" pitchFamily="34" charset="0"/>
                      </a:endParaRPr>
                    </a:p>
                  </a:txBody>
                  <a:tcPr marL="15715" marR="15715" marT="0" marB="0"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pPr rtl="0" fontAlgn="b">
                        <a:buNone/>
                      </a:pPr>
                      <a:endParaRPr lang="en-US" sz="800" dirty="0">
                        <a:effectLst/>
                        <a:latin typeface="Calibri" panose="020F0502020204030204" pitchFamily="34" charset="0"/>
                      </a:endParaRPr>
                    </a:p>
                  </a:txBody>
                  <a:tcPr marL="15715" marR="15715" marT="0" marB="0"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pPr rtl="0" fontAlgn="b">
                        <a:buNone/>
                      </a:pPr>
                      <a:endParaRPr lang="en-US" sz="800" dirty="0">
                        <a:effectLst/>
                        <a:latin typeface="Calibri" panose="020F0502020204030204" pitchFamily="34" charset="0"/>
                      </a:endParaRPr>
                    </a:p>
                  </a:txBody>
                  <a:tcPr marL="15715" marR="15715" marT="0" marB="0"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pPr rtl="0" fontAlgn="b">
                        <a:buNone/>
                      </a:pPr>
                      <a:endParaRPr lang="en-US" sz="800">
                        <a:effectLst/>
                        <a:latin typeface="Calibri" panose="020F0502020204030204" pitchFamily="34" charset="0"/>
                      </a:endParaRPr>
                    </a:p>
                  </a:txBody>
                  <a:tcPr marL="15715" marR="15715" marT="0" marB="0"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pPr rtl="0" fontAlgn="b">
                        <a:buNone/>
                      </a:pPr>
                      <a:endParaRPr lang="en-US" sz="800" dirty="0">
                        <a:effectLst/>
                        <a:latin typeface="Calibri" panose="020F0502020204030204" pitchFamily="34" charset="0"/>
                      </a:endParaRPr>
                    </a:p>
                  </a:txBody>
                  <a:tcPr marL="15715" marR="15715" marT="0" marB="0"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pPr rtl="0" fontAlgn="b">
                        <a:buNone/>
                      </a:pPr>
                      <a:endParaRPr lang="en-US" sz="800" dirty="0">
                        <a:effectLst/>
                        <a:latin typeface="Calibri" panose="020F0502020204030204" pitchFamily="34" charset="0"/>
                      </a:endParaRPr>
                    </a:p>
                  </a:txBody>
                  <a:tcPr marL="15715" marR="15715" marT="0" marB="0"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pPr rtl="0" fontAlgn="b">
                        <a:buNone/>
                      </a:pPr>
                      <a:endParaRPr lang="en-US" sz="800">
                        <a:effectLst/>
                        <a:latin typeface="Calibri" panose="020F0502020204030204" pitchFamily="34" charset="0"/>
                      </a:endParaRPr>
                    </a:p>
                  </a:txBody>
                  <a:tcPr marL="15715" marR="15715" marT="0" marB="0"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pPr rtl="0" fontAlgn="b">
                        <a:buNone/>
                      </a:pPr>
                      <a:endParaRPr lang="en-US" sz="800" dirty="0">
                        <a:effectLst/>
                        <a:latin typeface="Calibri" panose="020F0502020204030204" pitchFamily="34" charset="0"/>
                      </a:endParaRPr>
                    </a:p>
                  </a:txBody>
                  <a:tcPr marL="15715" marR="15715" marT="0" marB="0"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pPr rtl="0" fontAlgn="b">
                        <a:buNone/>
                      </a:pPr>
                      <a:endParaRPr lang="en-US" sz="800" dirty="0">
                        <a:effectLst/>
                        <a:latin typeface="Calibri" panose="020F0502020204030204" pitchFamily="34" charset="0"/>
                      </a:endParaRPr>
                    </a:p>
                  </a:txBody>
                  <a:tcPr marL="15715" marR="15715" marT="0" marB="0"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pPr rtl="0" fontAlgn="b">
                        <a:buNone/>
                      </a:pPr>
                      <a:endParaRPr lang="en-US" sz="800" dirty="0">
                        <a:effectLst/>
                        <a:latin typeface="Calibri" panose="020F0502020204030204" pitchFamily="34" charset="0"/>
                      </a:endParaRPr>
                    </a:p>
                  </a:txBody>
                  <a:tcPr marL="15715" marR="15715" marT="0" marB="0"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pPr rtl="0" fontAlgn="b">
                        <a:buNone/>
                      </a:pPr>
                      <a:endParaRPr lang="en-US" sz="800" dirty="0">
                        <a:effectLst/>
                        <a:latin typeface="Calibri" panose="020F0502020204030204" pitchFamily="34" charset="0"/>
                      </a:endParaRPr>
                    </a:p>
                  </a:txBody>
                  <a:tcPr marL="15715" marR="15715" marT="0" marB="0"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927086892"/>
                  </a:ext>
                </a:extLst>
              </a:tr>
              <a:tr h="151197">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en-US" sz="1200">
                          <a:effectLst/>
                          <a:latin typeface="Times New Roman" panose="02020603050405020304" pitchFamily="18" charset="0"/>
                          <a:cs typeface="Times New Roman" panose="02020603050405020304" pitchFamily="18" charset="0"/>
                        </a:rPr>
                        <a:t>Ngày Min</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200">
                          <a:effectLst/>
                          <a:latin typeface="Times New Roman" panose="02020603050405020304" pitchFamily="18" charset="0"/>
                          <a:cs typeface="Times New Roman" panose="02020603050405020304" pitchFamily="18" charset="0"/>
                        </a:rPr>
                        <a:t>8/22/2026</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1119118"/>
                  </a:ext>
                </a:extLst>
              </a:tr>
              <a:tr h="151197">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en-US" sz="1200">
                          <a:effectLst/>
                          <a:latin typeface="Times New Roman" panose="02020603050405020304" pitchFamily="18" charset="0"/>
                          <a:cs typeface="Times New Roman" panose="02020603050405020304" pitchFamily="18" charset="0"/>
                        </a:rPr>
                        <a:t>Ngày Max</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200">
                          <a:effectLst/>
                          <a:latin typeface="Times New Roman" panose="02020603050405020304" pitchFamily="18" charset="0"/>
                          <a:cs typeface="Times New Roman" panose="02020603050405020304" pitchFamily="18" charset="0"/>
                        </a:rPr>
                        <a:t>30/10/2026</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6073322"/>
                  </a:ext>
                </a:extLst>
              </a:tr>
              <a:tr h="151197">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7727734"/>
                  </a:ext>
                </a:extLst>
              </a:tr>
              <a:tr h="302393">
                <a:tc>
                  <a:txBody>
                    <a:bodyPr/>
                    <a:lstStyle/>
                    <a:p>
                      <a:pPr algn="ctr" rtl="0" fontAlgn="b">
                        <a:buNone/>
                      </a:pPr>
                      <a:r>
                        <a:rPr lang="en-US" sz="1200" b="1">
                          <a:solidFill>
                            <a:srgbClr val="FFFFFF"/>
                          </a:solidFill>
                          <a:effectLst/>
                          <a:latin typeface="Times New Roman" panose="02020603050405020304" pitchFamily="18" charset="0"/>
                          <a:cs typeface="Times New Roman" panose="02020603050405020304" pitchFamily="18" charset="0"/>
                        </a:rPr>
                        <a:t>STT</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D69F4"/>
                    </a:solidFill>
                  </a:tcPr>
                </a:tc>
                <a:tc>
                  <a:txBody>
                    <a:bodyPr/>
                    <a:lstStyle/>
                    <a:p>
                      <a:pPr algn="ctr" rtl="0" fontAlgn="b">
                        <a:buNone/>
                      </a:pPr>
                      <a:r>
                        <a:rPr lang="en-US" sz="1200" b="1">
                          <a:solidFill>
                            <a:srgbClr val="FFFFFF"/>
                          </a:solidFill>
                          <a:effectLst/>
                          <a:latin typeface="Times New Roman" panose="02020603050405020304" pitchFamily="18" charset="0"/>
                          <a:cs typeface="Times New Roman" panose="02020603050405020304" pitchFamily="18" charset="0"/>
                        </a:rPr>
                        <a:t>Nội dung công việc</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D69F4"/>
                    </a:solidFill>
                  </a:tcPr>
                </a:tc>
                <a:tc>
                  <a:txBody>
                    <a:bodyPr/>
                    <a:lstStyle/>
                    <a:p>
                      <a:pPr algn="ctr" rtl="0" fontAlgn="b">
                        <a:buNone/>
                      </a:pPr>
                      <a:r>
                        <a:rPr lang="en-US" sz="1200" b="1">
                          <a:solidFill>
                            <a:srgbClr val="FFFFFF"/>
                          </a:solidFill>
                          <a:effectLst/>
                          <a:latin typeface="Times New Roman" panose="02020603050405020304" pitchFamily="18" charset="0"/>
                          <a:cs typeface="Times New Roman" panose="02020603050405020304" pitchFamily="18" charset="0"/>
                        </a:rPr>
                        <a:t>Người phụtrách</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D69F4"/>
                    </a:solidFill>
                  </a:tcPr>
                </a:tc>
                <a:tc>
                  <a:txBody>
                    <a:bodyPr/>
                    <a:lstStyle/>
                    <a:p>
                      <a:pPr algn="ctr" rtl="0" fontAlgn="b">
                        <a:buNone/>
                      </a:pPr>
                      <a:r>
                        <a:rPr lang="en-US" sz="1200" b="1">
                          <a:solidFill>
                            <a:srgbClr val="FFFFFF"/>
                          </a:solidFill>
                          <a:effectLst/>
                          <a:latin typeface="Times New Roman" panose="02020603050405020304" pitchFamily="18" charset="0"/>
                          <a:cs typeface="Times New Roman" panose="02020603050405020304" pitchFamily="18" charset="0"/>
                        </a:rPr>
                        <a:t>Công việc cụ thể</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D69F4"/>
                    </a:solidFill>
                  </a:tcPr>
                </a:tc>
                <a:tc>
                  <a:txBody>
                    <a:bodyPr/>
                    <a:lstStyle/>
                    <a:p>
                      <a:pPr algn="ctr" rtl="0" fontAlgn="b">
                        <a:buNone/>
                      </a:pPr>
                      <a:r>
                        <a:rPr lang="en-US" sz="1200" b="1">
                          <a:solidFill>
                            <a:srgbClr val="FFFFFF"/>
                          </a:solidFill>
                          <a:effectLst/>
                          <a:latin typeface="Times New Roman" panose="02020603050405020304" pitchFamily="18" charset="0"/>
                          <a:cs typeface="Times New Roman" panose="02020603050405020304" pitchFamily="18" charset="0"/>
                        </a:rPr>
                        <a:t>Ngày bắt đầu</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D69F4"/>
                    </a:solidFill>
                  </a:tcPr>
                </a:tc>
                <a:tc>
                  <a:txBody>
                    <a:bodyPr/>
                    <a:lstStyle/>
                    <a:p>
                      <a:pPr algn="ctr" rtl="0" fontAlgn="b">
                        <a:buNone/>
                      </a:pPr>
                      <a:r>
                        <a:rPr lang="en-US" sz="1200" b="1">
                          <a:solidFill>
                            <a:srgbClr val="FFFFFF"/>
                          </a:solidFill>
                          <a:effectLst/>
                          <a:latin typeface="Times New Roman" panose="02020603050405020304" pitchFamily="18" charset="0"/>
                          <a:cs typeface="Times New Roman" panose="02020603050405020304" pitchFamily="18" charset="0"/>
                        </a:rPr>
                        <a:t>Ngày kết thúc</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D69F4"/>
                    </a:solidFill>
                  </a:tcPr>
                </a:tc>
                <a:tc>
                  <a:txBody>
                    <a:bodyPr/>
                    <a:lstStyle/>
                    <a:p>
                      <a:pPr algn="ctr" rtl="0" fontAlgn="b">
                        <a:buNone/>
                      </a:pPr>
                      <a:r>
                        <a:rPr lang="en-US" sz="1200" b="1">
                          <a:solidFill>
                            <a:srgbClr val="FFFFFF"/>
                          </a:solidFill>
                          <a:effectLst/>
                          <a:latin typeface="Times New Roman" panose="02020603050405020304" pitchFamily="18" charset="0"/>
                          <a:cs typeface="Times New Roman" panose="02020603050405020304" pitchFamily="18" charset="0"/>
                        </a:rPr>
                        <a:t>Số ngày</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D69F4"/>
                    </a:solidFill>
                  </a:tcPr>
                </a:tc>
                <a:tc>
                  <a:txBody>
                    <a:bodyPr/>
                    <a:lstStyle/>
                    <a:p>
                      <a:pPr algn="ctr" rtl="0" fontAlgn="b">
                        <a:buNone/>
                      </a:pPr>
                      <a:r>
                        <a:rPr lang="en-US" sz="1200" b="1">
                          <a:solidFill>
                            <a:srgbClr val="FFFFFF"/>
                          </a:solidFill>
                          <a:effectLst/>
                          <a:latin typeface="Times New Roman" panose="02020603050405020304" pitchFamily="18" charset="0"/>
                          <a:cs typeface="Times New Roman" panose="02020603050405020304" pitchFamily="18" charset="0"/>
                        </a:rPr>
                        <a:t>Tuần 1</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98754"/>
                    </a:solidFill>
                  </a:tcPr>
                </a:tc>
                <a:tc>
                  <a:txBody>
                    <a:bodyPr/>
                    <a:lstStyle/>
                    <a:p>
                      <a:pPr algn="ctr" rtl="0" fontAlgn="b">
                        <a:buNone/>
                      </a:pPr>
                      <a:r>
                        <a:rPr lang="en-US" sz="1200" b="1">
                          <a:solidFill>
                            <a:srgbClr val="FFFFFF"/>
                          </a:solidFill>
                          <a:effectLst/>
                          <a:latin typeface="Times New Roman" panose="02020603050405020304" pitchFamily="18" charset="0"/>
                          <a:cs typeface="Times New Roman" panose="02020603050405020304" pitchFamily="18" charset="0"/>
                        </a:rPr>
                        <a:t>Tuần 2</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98754"/>
                    </a:solidFill>
                  </a:tcPr>
                </a:tc>
                <a:tc>
                  <a:txBody>
                    <a:bodyPr/>
                    <a:lstStyle/>
                    <a:p>
                      <a:pPr algn="ctr" rtl="0" fontAlgn="b">
                        <a:buNone/>
                      </a:pPr>
                      <a:r>
                        <a:rPr lang="en-US" sz="1200" b="1">
                          <a:solidFill>
                            <a:srgbClr val="FFFFFF"/>
                          </a:solidFill>
                          <a:effectLst/>
                          <a:latin typeface="Times New Roman" panose="02020603050405020304" pitchFamily="18" charset="0"/>
                          <a:cs typeface="Times New Roman" panose="02020603050405020304" pitchFamily="18" charset="0"/>
                        </a:rPr>
                        <a:t>Tuần 3</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98754"/>
                    </a:solidFill>
                  </a:tcPr>
                </a:tc>
                <a:tc>
                  <a:txBody>
                    <a:bodyPr/>
                    <a:lstStyle/>
                    <a:p>
                      <a:pPr algn="ctr" rtl="0" fontAlgn="b">
                        <a:buNone/>
                      </a:pPr>
                      <a:r>
                        <a:rPr lang="en-US" sz="1200" b="1">
                          <a:solidFill>
                            <a:srgbClr val="FFFFFF"/>
                          </a:solidFill>
                          <a:effectLst/>
                          <a:latin typeface="Times New Roman" panose="02020603050405020304" pitchFamily="18" charset="0"/>
                          <a:cs typeface="Times New Roman" panose="02020603050405020304" pitchFamily="18" charset="0"/>
                        </a:rPr>
                        <a:t>Tuần 4</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98754"/>
                    </a:solidFill>
                  </a:tcPr>
                </a:tc>
                <a:tc>
                  <a:txBody>
                    <a:bodyPr/>
                    <a:lstStyle/>
                    <a:p>
                      <a:pPr algn="ctr" rtl="0" fontAlgn="b">
                        <a:buNone/>
                      </a:pPr>
                      <a:r>
                        <a:rPr lang="en-US" sz="1200" b="1">
                          <a:solidFill>
                            <a:srgbClr val="FFFFFF"/>
                          </a:solidFill>
                          <a:effectLst/>
                          <a:latin typeface="Times New Roman" panose="02020603050405020304" pitchFamily="18" charset="0"/>
                          <a:cs typeface="Times New Roman" panose="02020603050405020304" pitchFamily="18" charset="0"/>
                        </a:rPr>
                        <a:t>Tuần 5</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98754"/>
                    </a:solidFill>
                  </a:tcPr>
                </a:tc>
                <a:extLst>
                  <a:ext uri="{0D108BD9-81ED-4DB2-BD59-A6C34878D82A}">
                    <a16:rowId xmlns:a16="http://schemas.microsoft.com/office/drawing/2014/main" val="399517024"/>
                  </a:ext>
                </a:extLst>
              </a:tr>
              <a:tr h="604785">
                <a:tc>
                  <a:txBody>
                    <a:bodyPr/>
                    <a:lstStyle/>
                    <a:p>
                      <a:pPr algn="ctr" rtl="0" fontAlgn="b">
                        <a:buNone/>
                      </a:pPr>
                      <a:r>
                        <a:rPr lang="en-US" sz="1200">
                          <a:effectLst/>
                          <a:latin typeface="Times New Roman" panose="02020603050405020304" pitchFamily="18" charset="0"/>
                          <a:cs typeface="Times New Roman" panose="02020603050405020304" pitchFamily="18" charset="0"/>
                        </a:rPr>
                        <a:t>1</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en-US" sz="1200">
                          <a:effectLst/>
                          <a:latin typeface="Times New Roman" panose="02020603050405020304" pitchFamily="18" charset="0"/>
                          <a:cs typeface="Times New Roman" panose="02020603050405020304" pitchFamily="18" charset="0"/>
                        </a:rPr>
                        <a:t>Thống nhất đề tài </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en-US" sz="1200">
                          <a:effectLst/>
                          <a:latin typeface="Times New Roman" panose="02020603050405020304" pitchFamily="18" charset="0"/>
                          <a:cs typeface="Times New Roman" panose="02020603050405020304" pitchFamily="18" charset="0"/>
                        </a:rPr>
                        <a:t>Cả nhóm</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en-US" sz="1200">
                          <a:effectLst/>
                          <a:latin typeface="Times New Roman" panose="02020603050405020304" pitchFamily="18" charset="0"/>
                          <a:cs typeface="Times New Roman" panose="02020603050405020304" pitchFamily="18" charset="0"/>
                        </a:rPr>
                        <a:t>Nhóm trao đổi, lựa chọn đề tài “Xây dựng ứng dụng hỗ trợ đăng ký nhóm và đồ án môn học”, xác định đối tượng sử dụng và phạm vi chức năng</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200">
                          <a:effectLst/>
                          <a:latin typeface="Times New Roman" panose="02020603050405020304" pitchFamily="18" charset="0"/>
                          <a:cs typeface="Times New Roman" panose="02020603050405020304" pitchFamily="18" charset="0"/>
                        </a:rPr>
                        <a:t>8/22/2026</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200">
                          <a:effectLst/>
                          <a:latin typeface="Times New Roman" panose="02020603050405020304" pitchFamily="18" charset="0"/>
                          <a:cs typeface="Times New Roman" panose="02020603050405020304" pitchFamily="18" charset="0"/>
                        </a:rPr>
                        <a:t>8/28/2026</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200">
                          <a:effectLst/>
                          <a:latin typeface="Times New Roman" panose="02020603050405020304" pitchFamily="18" charset="0"/>
                          <a:cs typeface="Times New Roman" panose="02020603050405020304" pitchFamily="18" charset="0"/>
                        </a:rPr>
                        <a:t>7</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DCAF0"/>
                    </a:solid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3564687"/>
                  </a:ext>
                </a:extLst>
              </a:tr>
              <a:tr h="604785">
                <a:tc>
                  <a:txBody>
                    <a:bodyPr/>
                    <a:lstStyle/>
                    <a:p>
                      <a:pPr algn="ctr" rtl="0" fontAlgn="b">
                        <a:buNone/>
                      </a:pPr>
                      <a:r>
                        <a:rPr lang="en-US" sz="1200">
                          <a:effectLst/>
                          <a:latin typeface="Times New Roman" panose="02020603050405020304" pitchFamily="18" charset="0"/>
                          <a:cs typeface="Times New Roman" panose="02020603050405020304" pitchFamily="18" charset="0"/>
                        </a:rPr>
                        <a:t>2</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en-US" sz="1200">
                          <a:effectLst/>
                          <a:latin typeface="Times New Roman" panose="02020603050405020304" pitchFamily="18" charset="0"/>
                          <a:cs typeface="Times New Roman" panose="02020603050405020304" pitchFamily="18" charset="0"/>
                        </a:rPr>
                        <a:t>Phân tích yêu cầu &amp; Phân công công việc</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en-US" sz="1200">
                          <a:effectLst/>
                          <a:latin typeface="Times New Roman" panose="02020603050405020304" pitchFamily="18" charset="0"/>
                          <a:cs typeface="Times New Roman" panose="02020603050405020304" pitchFamily="18" charset="0"/>
                        </a:rPr>
                        <a:t>Cả nhóm</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en-US" sz="1200" b="0">
                          <a:effectLst/>
                          <a:latin typeface="Times New Roman" panose="02020603050405020304" pitchFamily="18" charset="0"/>
                          <a:cs typeface="Times New Roman" panose="02020603050405020304" pitchFamily="18" charset="0"/>
                        </a:rPr>
                        <a:t>Liệt kê các chức năng chính của ứng dụng; phân chia nhiệm vụ cho từng thành viên theo giao diện, chức năng, nghiệp vụ, thống kê và cơ sở dữ liệu</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200">
                          <a:effectLst/>
                          <a:latin typeface="Times New Roman" panose="02020603050405020304" pitchFamily="18" charset="0"/>
                          <a:cs typeface="Times New Roman" panose="02020603050405020304" pitchFamily="18" charset="0"/>
                        </a:rPr>
                        <a:t>8/29/2026</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200">
                          <a:effectLst/>
                          <a:latin typeface="Times New Roman" panose="02020603050405020304" pitchFamily="18" charset="0"/>
                          <a:cs typeface="Times New Roman" panose="02020603050405020304" pitchFamily="18" charset="0"/>
                        </a:rPr>
                        <a:t>9/5/2026</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200">
                          <a:effectLst/>
                          <a:latin typeface="Times New Roman" panose="02020603050405020304" pitchFamily="18" charset="0"/>
                          <a:cs typeface="Times New Roman" panose="02020603050405020304" pitchFamily="18" charset="0"/>
                        </a:rPr>
                        <a:t>8</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DCAF0"/>
                    </a:solid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9429189"/>
                  </a:ext>
                </a:extLst>
              </a:tr>
              <a:tr h="907179">
                <a:tc>
                  <a:txBody>
                    <a:bodyPr/>
                    <a:lstStyle/>
                    <a:p>
                      <a:pPr algn="ctr" rtl="0" fontAlgn="b">
                        <a:buNone/>
                      </a:pPr>
                      <a:r>
                        <a:rPr lang="en-US" sz="1200">
                          <a:effectLst/>
                          <a:latin typeface="Times New Roman" panose="02020603050405020304" pitchFamily="18" charset="0"/>
                          <a:cs typeface="Times New Roman" panose="02020603050405020304" pitchFamily="18" charset="0"/>
                        </a:rPr>
                        <a:t>3</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en-US" sz="1200">
                          <a:effectLst/>
                          <a:latin typeface="Times New Roman" panose="02020603050405020304" pitchFamily="18" charset="0"/>
                          <a:cs typeface="Times New Roman" panose="02020603050405020304" pitchFamily="18" charset="0"/>
                        </a:rPr>
                        <a:t>Thiết kế CSDL (Giáo vụ, GV, SV, Phòng Đào Tạo)</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en-US" sz="1200">
                          <a:effectLst/>
                          <a:latin typeface="Times New Roman" panose="02020603050405020304" pitchFamily="18" charset="0"/>
                          <a:cs typeface="Times New Roman" panose="02020603050405020304" pitchFamily="18" charset="0"/>
                        </a:rPr>
                        <a:t>Nguyễn Trọng Nguyên, Lâm Phượng Vĩ</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en-US" sz="1200">
                          <a:effectLst/>
                          <a:latin typeface="Times New Roman" panose="02020603050405020304" pitchFamily="18" charset="0"/>
                          <a:cs typeface="Times New Roman" panose="02020603050405020304" pitchFamily="18" charset="0"/>
                        </a:rPr>
                        <a:t>-Nguyễn Trọng Nguyên: Phụ trách thiết kế các bảng và quan hệ liên quan đến nghiệp vụ Giáo vụ Khoa và Phòng Đào tạo.</a:t>
                      </a:r>
                      <a:br>
                        <a:rPr lang="en-US" sz="1200">
                          <a:effectLst/>
                          <a:latin typeface="Times New Roman" panose="02020603050405020304" pitchFamily="18" charset="0"/>
                          <a:cs typeface="Times New Roman" panose="02020603050405020304" pitchFamily="18" charset="0"/>
                        </a:rPr>
                      </a:br>
                      <a:r>
                        <a:rPr lang="en-US" sz="1200">
                          <a:effectLst/>
                          <a:latin typeface="Times New Roman" panose="02020603050405020304" pitchFamily="18" charset="0"/>
                          <a:cs typeface="Times New Roman" panose="02020603050405020304" pitchFamily="18" charset="0"/>
                        </a:rPr>
                        <a:t>-Lâm Phượng Vĩ: Phụ trách thiết kế các bảng liên quan đến Giảng viên, Sinh viên, Trưởng nhóm và Quản lý nhóm.</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200">
                          <a:effectLst/>
                          <a:latin typeface="Times New Roman" panose="02020603050405020304" pitchFamily="18" charset="0"/>
                          <a:cs typeface="Times New Roman" panose="02020603050405020304" pitchFamily="18" charset="0"/>
                        </a:rPr>
                        <a:t>9/5/2026</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200">
                          <a:effectLst/>
                          <a:latin typeface="Times New Roman" panose="02020603050405020304" pitchFamily="18" charset="0"/>
                          <a:cs typeface="Times New Roman" panose="02020603050405020304" pitchFamily="18" charset="0"/>
                        </a:rPr>
                        <a:t>9/11/2026</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200">
                          <a:effectLst/>
                          <a:latin typeface="Times New Roman" panose="02020603050405020304" pitchFamily="18" charset="0"/>
                          <a:cs typeface="Times New Roman" panose="02020603050405020304" pitchFamily="18" charset="0"/>
                        </a:rPr>
                        <a:t>7</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DCAF0"/>
                    </a:solid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2333317"/>
                  </a:ext>
                </a:extLst>
              </a:tr>
              <a:tr h="1058375">
                <a:tc>
                  <a:txBody>
                    <a:bodyPr/>
                    <a:lstStyle/>
                    <a:p>
                      <a:pPr algn="ctr" rtl="0" fontAlgn="b">
                        <a:buNone/>
                      </a:pPr>
                      <a:r>
                        <a:rPr lang="en-US" sz="1200">
                          <a:effectLst/>
                          <a:latin typeface="Times New Roman" panose="02020603050405020304" pitchFamily="18" charset="0"/>
                          <a:cs typeface="Times New Roman" panose="02020603050405020304" pitchFamily="18" charset="0"/>
                        </a:rPr>
                        <a:t>4</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en-US" sz="1200">
                          <a:effectLst/>
                          <a:latin typeface="Times New Roman" panose="02020603050405020304" pitchFamily="18" charset="0"/>
                          <a:cs typeface="Times New Roman" panose="02020603050405020304" pitchFamily="18" charset="0"/>
                        </a:rPr>
                        <a:t>Lập trình UI phân hệ Sinh viên</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en-US" sz="1200">
                          <a:effectLst/>
                          <a:latin typeface="Times New Roman" panose="02020603050405020304" pitchFamily="18" charset="0"/>
                          <a:cs typeface="Times New Roman" panose="02020603050405020304" pitchFamily="18" charset="0"/>
                        </a:rPr>
                        <a:t>Nguyễn Trọng Nguyên, Lâm Phượng Vĩ</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en-US" sz="1200">
                          <a:effectLst/>
                          <a:latin typeface="Times New Roman" panose="02020603050405020304" pitchFamily="18" charset="0"/>
                          <a:cs typeface="Times New Roman" panose="02020603050405020304" pitchFamily="18" charset="0"/>
                        </a:rPr>
                        <a:t>- Lâm Phượng Vĩ: Thiết kế UI giao diện tìm kiếm và xem danh sách đề tài đồ án, giao diện đăng ký đồ án môn học. </a:t>
                      </a:r>
                      <a:br>
                        <a:rPr lang="en-US" sz="1200">
                          <a:effectLst/>
                          <a:latin typeface="Times New Roman" panose="02020603050405020304" pitchFamily="18" charset="0"/>
                          <a:cs typeface="Times New Roman" panose="02020603050405020304" pitchFamily="18" charset="0"/>
                        </a:rPr>
                      </a:br>
                      <a:r>
                        <a:rPr lang="en-US" sz="1200">
                          <a:effectLst/>
                          <a:latin typeface="Times New Roman" panose="02020603050405020304" pitchFamily="18" charset="0"/>
                          <a:cs typeface="Times New Roman" panose="02020603050405020304" pitchFamily="18" charset="0"/>
                        </a:rPr>
                        <a:t>- Nguyễn Trọng Nguyên: Thiết kế UI giao diện tạo nhóm, quản lý danh sách thành viên và chức năng tìm/mời thành viên vào nhóm</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200">
                          <a:effectLst/>
                          <a:latin typeface="Times New Roman" panose="02020603050405020304" pitchFamily="18" charset="0"/>
                          <a:cs typeface="Times New Roman" panose="02020603050405020304" pitchFamily="18" charset="0"/>
                        </a:rPr>
                        <a:t>9/12/2026</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200">
                          <a:effectLst/>
                          <a:latin typeface="Times New Roman" panose="02020603050405020304" pitchFamily="18" charset="0"/>
                          <a:cs typeface="Times New Roman" panose="02020603050405020304" pitchFamily="18" charset="0"/>
                        </a:rPr>
                        <a:t>9/17/2026</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200">
                          <a:effectLst/>
                          <a:latin typeface="Times New Roman" panose="02020603050405020304" pitchFamily="18" charset="0"/>
                          <a:cs typeface="Times New Roman" panose="02020603050405020304" pitchFamily="18" charset="0"/>
                        </a:rPr>
                        <a:t>6</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DCAF0"/>
                    </a:solid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841303"/>
                  </a:ext>
                </a:extLst>
              </a:tr>
              <a:tr h="1360768">
                <a:tc>
                  <a:txBody>
                    <a:bodyPr/>
                    <a:lstStyle/>
                    <a:p>
                      <a:pPr algn="ctr" rtl="0" fontAlgn="b">
                        <a:buNone/>
                      </a:pPr>
                      <a:r>
                        <a:rPr lang="en-US" sz="1200">
                          <a:effectLst/>
                          <a:latin typeface="Times New Roman" panose="02020603050405020304" pitchFamily="18" charset="0"/>
                          <a:cs typeface="Times New Roman" panose="02020603050405020304" pitchFamily="18" charset="0"/>
                        </a:rPr>
                        <a:t>5</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en-US" sz="1200">
                          <a:effectLst/>
                          <a:latin typeface="Times New Roman" panose="02020603050405020304" pitchFamily="18" charset="0"/>
                          <a:cs typeface="Times New Roman" panose="02020603050405020304" pitchFamily="18" charset="0"/>
                        </a:rPr>
                        <a:t>Lập trình UI Giáo vụ/GV &amp; Kết nối CSDL</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en-US" sz="1200">
                          <a:effectLst/>
                          <a:latin typeface="Times New Roman" panose="02020603050405020304" pitchFamily="18" charset="0"/>
                          <a:cs typeface="Times New Roman" panose="02020603050405020304" pitchFamily="18" charset="0"/>
                        </a:rPr>
                        <a:t>Nguyễn Trọng Nguyên, Lâm Phượng Vĩ</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en-US" sz="1200">
                          <a:effectLst/>
                          <a:latin typeface="Times New Roman" panose="02020603050405020304" pitchFamily="18" charset="0"/>
                          <a:cs typeface="Times New Roman" panose="02020603050405020304" pitchFamily="18" charset="0"/>
                        </a:rPr>
                        <a:t>-Nguyễn Trọng Nguyên: Thiết kế UI màn hình Đăng nhập/Phân quyền &amp; phân hệ Giáo vụ Khoa / Phòng Đào tạo (quản lý môn học, đợt đăng ký đồ án, phân công giảng viên).</a:t>
                      </a:r>
                      <a:br>
                        <a:rPr lang="en-US" sz="1200">
                          <a:effectLst/>
                          <a:latin typeface="Times New Roman" panose="02020603050405020304" pitchFamily="18" charset="0"/>
                          <a:cs typeface="Times New Roman" panose="02020603050405020304" pitchFamily="18" charset="0"/>
                        </a:rPr>
                      </a:br>
                      <a:r>
                        <a:rPr lang="en-US" sz="1200">
                          <a:effectLst/>
                          <a:latin typeface="Times New Roman" panose="02020603050405020304" pitchFamily="18" charset="0"/>
                          <a:cs typeface="Times New Roman" panose="02020603050405020304" pitchFamily="18" charset="0"/>
                        </a:rPr>
                        <a:t>- Lâm Phượng Vĩ: Thiết kế UI phân hệ Giảng viên (duyệt nhóm/đề tài) và bắt đầu tích hợp kết nối CSDL SQL cho các chức năng chính.</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200">
                          <a:effectLst/>
                          <a:latin typeface="Times New Roman" panose="02020603050405020304" pitchFamily="18" charset="0"/>
                          <a:cs typeface="Times New Roman" panose="02020603050405020304" pitchFamily="18" charset="0"/>
                        </a:rPr>
                        <a:t>9/18/2026</a:t>
                      </a: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dirty="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endParaRPr lang="en-US" sz="1200" dirty="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endParaRPr lang="en-US" sz="1200" dirty="0">
                        <a:effectLst/>
                        <a:latin typeface="Times New Roman" panose="02020603050405020304" pitchFamily="18" charset="0"/>
                        <a:cs typeface="Times New Roman" panose="02020603050405020304" pitchFamily="18" charset="0"/>
                      </a:endParaRPr>
                    </a:p>
                  </a:txBody>
                  <a:tcPr marL="15715" marR="1571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DCAF0"/>
                    </a:solidFill>
                  </a:tcPr>
                </a:tc>
                <a:extLst>
                  <a:ext uri="{0D108BD9-81ED-4DB2-BD59-A6C34878D82A}">
                    <a16:rowId xmlns:a16="http://schemas.microsoft.com/office/drawing/2014/main" val="3652846405"/>
                  </a:ext>
                </a:extLst>
              </a:tr>
            </a:tbl>
          </a:graphicData>
        </a:graphic>
      </p:graphicFrame>
    </p:spTree>
    <p:extLst>
      <p:ext uri="{BB962C8B-B14F-4D97-AF65-F5344CB8AC3E}">
        <p14:creationId xmlns:p14="http://schemas.microsoft.com/office/powerpoint/2010/main" val="1389465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315913" y="2628900"/>
            <a:ext cx="9560172" cy="1846659"/>
          </a:xfrm>
          <a:prstGeom prst="rect">
            <a:avLst/>
          </a:prstGeom>
          <a:noFill/>
        </p:spPr>
        <p:txBody>
          <a:bodyPr wrap="square" lIns="0" tIns="0" rIns="0" bIns="0" anchor="t">
            <a:spAutoFit/>
          </a:bodyPr>
          <a:lstStyle/>
          <a:p>
            <a:pPr algn="ctr"/>
            <a:r>
              <a:rPr lang="en-US" sz="6000" b="1" i="0" u="none" dirty="0" err="1">
                <a:solidFill>
                  <a:srgbClr val="005088"/>
                </a:solidFill>
                <a:latin typeface="Times New Roman"/>
              </a:rPr>
              <a:t>Cảm</a:t>
            </a:r>
            <a:r>
              <a:rPr lang="en-US" sz="6000" b="1" i="0" u="none" dirty="0">
                <a:solidFill>
                  <a:srgbClr val="005088"/>
                </a:solidFill>
                <a:latin typeface="Times New Roman"/>
              </a:rPr>
              <a:t> </a:t>
            </a:r>
            <a:r>
              <a:rPr lang="en-US" sz="6000" b="1" i="0" u="none" dirty="0" err="1">
                <a:solidFill>
                  <a:srgbClr val="005088"/>
                </a:solidFill>
                <a:latin typeface="Times New Roman"/>
              </a:rPr>
              <a:t>ơn</a:t>
            </a:r>
            <a:r>
              <a:rPr lang="en-US" sz="6000" b="1" i="0" u="none" dirty="0">
                <a:solidFill>
                  <a:srgbClr val="005088"/>
                </a:solidFill>
                <a:latin typeface="Times New Roman"/>
              </a:rPr>
              <a:t> </a:t>
            </a:r>
            <a:r>
              <a:rPr lang="en-US" sz="6000" b="1" i="0" u="none" dirty="0" err="1">
                <a:solidFill>
                  <a:srgbClr val="005088"/>
                </a:solidFill>
                <a:latin typeface="Times New Roman"/>
              </a:rPr>
              <a:t>thầy</a:t>
            </a:r>
            <a:r>
              <a:rPr lang="en-US" sz="6000" b="1" i="0" u="none" dirty="0">
                <a:solidFill>
                  <a:srgbClr val="005088"/>
                </a:solidFill>
                <a:latin typeface="Times New Roman"/>
              </a:rPr>
              <a:t> </a:t>
            </a:r>
            <a:r>
              <a:rPr lang="en-US" sz="6000" b="1" i="0" u="none" dirty="0" err="1">
                <a:solidFill>
                  <a:srgbClr val="005088"/>
                </a:solidFill>
                <a:latin typeface="Times New Roman"/>
              </a:rPr>
              <a:t>đã</a:t>
            </a:r>
            <a:r>
              <a:rPr lang="en-US" sz="6000" b="1" i="0" u="none" dirty="0">
                <a:solidFill>
                  <a:srgbClr val="005088"/>
                </a:solidFill>
                <a:latin typeface="Times New Roman"/>
              </a:rPr>
              <a:t> </a:t>
            </a:r>
            <a:r>
              <a:rPr lang="en-US" sz="6000" b="1" i="0" u="none" dirty="0" err="1">
                <a:solidFill>
                  <a:srgbClr val="005088"/>
                </a:solidFill>
                <a:latin typeface="Times New Roman"/>
              </a:rPr>
              <a:t>lắng</a:t>
            </a:r>
            <a:r>
              <a:rPr lang="en-US" sz="6000" b="1" i="0" u="none" dirty="0">
                <a:solidFill>
                  <a:srgbClr val="005088"/>
                </a:solidFill>
                <a:latin typeface="Times New Roman"/>
              </a:rPr>
              <a:t> </a:t>
            </a:r>
            <a:r>
              <a:rPr lang="en-US" sz="6000" b="1" i="0" u="none" dirty="0" err="1">
                <a:solidFill>
                  <a:srgbClr val="005088"/>
                </a:solidFill>
                <a:latin typeface="Times New Roman"/>
              </a:rPr>
              <a:t>nghe</a:t>
            </a:r>
            <a:r>
              <a:rPr lang="en-US" sz="6000" b="1" i="0" u="none" dirty="0">
                <a:solidFill>
                  <a:srgbClr val="005088"/>
                </a:solidFill>
                <a:latin typeface="Times New Roman"/>
              </a:rPr>
              <a:t> </a:t>
            </a:r>
            <a:r>
              <a:rPr lang="en-US" sz="6000" b="1" i="0" u="none" dirty="0" err="1">
                <a:solidFill>
                  <a:srgbClr val="005088"/>
                </a:solidFill>
                <a:latin typeface="Times New Roman"/>
              </a:rPr>
              <a:t>phần</a:t>
            </a:r>
            <a:r>
              <a:rPr lang="en-US" sz="6000" b="1" i="0" u="none" dirty="0">
                <a:solidFill>
                  <a:srgbClr val="005088"/>
                </a:solidFill>
                <a:latin typeface="Times New Roman"/>
              </a:rPr>
              <a:t> </a:t>
            </a:r>
            <a:r>
              <a:rPr lang="en-US" sz="6000" b="1" i="0" u="none" dirty="0" err="1">
                <a:solidFill>
                  <a:srgbClr val="005088"/>
                </a:solidFill>
                <a:latin typeface="Times New Roman"/>
              </a:rPr>
              <a:t>trình</a:t>
            </a:r>
            <a:r>
              <a:rPr lang="en-US" sz="6000" b="1" i="0" u="none" dirty="0">
                <a:solidFill>
                  <a:srgbClr val="005088"/>
                </a:solidFill>
                <a:latin typeface="Times New Roman"/>
              </a:rPr>
              <a:t> </a:t>
            </a:r>
            <a:r>
              <a:rPr lang="en-US" sz="6000" b="1" i="0" u="none" dirty="0" err="1">
                <a:solidFill>
                  <a:srgbClr val="005088"/>
                </a:solidFill>
                <a:latin typeface="Times New Roman"/>
              </a:rPr>
              <a:t>bày</a:t>
            </a:r>
            <a:r>
              <a:rPr lang="en-US" sz="6000" b="1" i="0" u="none" dirty="0">
                <a:solidFill>
                  <a:srgbClr val="005088"/>
                </a:solidFill>
                <a:latin typeface="Times New Roman"/>
              </a:rPr>
              <a:t> </a:t>
            </a:r>
            <a:r>
              <a:rPr lang="en-US" sz="6000" b="1" i="0" u="none" dirty="0" err="1">
                <a:solidFill>
                  <a:srgbClr val="005088"/>
                </a:solidFill>
                <a:latin typeface="Times New Roman"/>
              </a:rPr>
              <a:t>của</a:t>
            </a:r>
            <a:r>
              <a:rPr lang="en-US" sz="6000" b="1" i="0" u="none" dirty="0">
                <a:solidFill>
                  <a:srgbClr val="005088"/>
                </a:solidFill>
                <a:latin typeface="Times New Roman"/>
              </a:rPr>
              <a:t> </a:t>
            </a:r>
            <a:r>
              <a:rPr lang="en-US" sz="6000" b="1" i="0" u="none" dirty="0" err="1">
                <a:solidFill>
                  <a:srgbClr val="005088"/>
                </a:solidFill>
                <a:latin typeface="Times New Roman"/>
              </a:rPr>
              <a:t>nhóm</a:t>
            </a:r>
            <a:r>
              <a:rPr lang="en-US" sz="6000" b="1" i="0" u="none" dirty="0">
                <a:solidFill>
                  <a:srgbClr val="005088"/>
                </a:solidFill>
                <a:latin typeface="Times New Roman"/>
              </a:rPr>
              <a:t> 02</a:t>
            </a:r>
            <a:r>
              <a:rPr sz="6000" b="1" i="0" u="none" dirty="0">
                <a:solidFill>
                  <a:srgbClr val="005088"/>
                </a:solidFill>
                <a:latin typeface="Times New Roman"/>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284</TotalTime>
  <Words>2385</Words>
  <Application>Microsoft Office PowerPoint</Application>
  <PresentationFormat>Widescreen</PresentationFormat>
  <Paragraphs>216</Paragraphs>
  <Slides>23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TRỌNG NGUYÊN</cp:lastModifiedBy>
  <cp:revision>31</cp:revision>
  <dcterms:created xsi:type="dcterms:W3CDTF">2013-01-27T09:14:16Z</dcterms:created>
  <dcterms:modified xsi:type="dcterms:W3CDTF">2026-09-19T03:57:04Z</dcterms:modified>
  <cp:category/>
</cp:coreProperties>
</file>